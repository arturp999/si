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</p:sldMasterIdLst>
  <p:notesMasterIdLst>
    <p:notesMasterId r:id="rId55"/>
  </p:notesMasterIdLst>
  <p:sldIdLst>
    <p:sldId id="288" r:id="rId4"/>
    <p:sldId id="392" r:id="rId5"/>
    <p:sldId id="393" r:id="rId6"/>
    <p:sldId id="394" r:id="rId7"/>
    <p:sldId id="395" r:id="rId8"/>
    <p:sldId id="405" r:id="rId9"/>
    <p:sldId id="407" r:id="rId10"/>
    <p:sldId id="408" r:id="rId11"/>
    <p:sldId id="409" r:id="rId12"/>
    <p:sldId id="410" r:id="rId13"/>
    <p:sldId id="412" r:id="rId14"/>
    <p:sldId id="413" r:id="rId15"/>
    <p:sldId id="414" r:id="rId16"/>
    <p:sldId id="384" r:id="rId17"/>
    <p:sldId id="385" r:id="rId18"/>
    <p:sldId id="386" r:id="rId19"/>
    <p:sldId id="387" r:id="rId20"/>
    <p:sldId id="418" r:id="rId21"/>
    <p:sldId id="419" r:id="rId22"/>
    <p:sldId id="420" r:id="rId23"/>
    <p:sldId id="422" r:id="rId24"/>
    <p:sldId id="423" r:id="rId25"/>
    <p:sldId id="424" r:id="rId26"/>
    <p:sldId id="425" r:id="rId27"/>
    <p:sldId id="426" r:id="rId28"/>
    <p:sldId id="427" r:id="rId29"/>
    <p:sldId id="428" r:id="rId30"/>
    <p:sldId id="429" r:id="rId31"/>
    <p:sldId id="430" r:id="rId32"/>
    <p:sldId id="431" r:id="rId33"/>
    <p:sldId id="432" r:id="rId34"/>
    <p:sldId id="433" r:id="rId35"/>
    <p:sldId id="434" r:id="rId36"/>
    <p:sldId id="435" r:id="rId37"/>
    <p:sldId id="436" r:id="rId38"/>
    <p:sldId id="437" r:id="rId39"/>
    <p:sldId id="352" r:id="rId40"/>
    <p:sldId id="351" r:id="rId41"/>
    <p:sldId id="353" r:id="rId42"/>
    <p:sldId id="356" r:id="rId43"/>
    <p:sldId id="355" r:id="rId44"/>
    <p:sldId id="354" r:id="rId45"/>
    <p:sldId id="357" r:id="rId46"/>
    <p:sldId id="359" r:id="rId47"/>
    <p:sldId id="360" r:id="rId48"/>
    <p:sldId id="361" r:id="rId49"/>
    <p:sldId id="364" r:id="rId50"/>
    <p:sldId id="362" r:id="rId51"/>
    <p:sldId id="363" r:id="rId52"/>
    <p:sldId id="286" r:id="rId53"/>
    <p:sldId id="289" r:id="rId54"/>
  </p:sldIdLst>
  <p:sldSz cx="9144000" cy="5143500" type="screen16x9"/>
  <p:notesSz cx="6858000" cy="9144000"/>
  <p:defaultTextStyle>
    <a:defPPr>
      <a:defRPr lang="pt-P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4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>
      <p:cViewPr varScale="1">
        <p:scale>
          <a:sx n="95" d="100"/>
          <a:sy n="95" d="100"/>
        </p:scale>
        <p:origin x="453" y="45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theme" Target="theme/theme1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viewProps" Target="view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B759D-A50D-45EA-A2E1-CFE97077A116}" type="datetimeFigureOut">
              <a:rPr lang="pt-PT" smtClean="0"/>
              <a:t>25/11/2018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65229B-2441-4A1F-B51A-A7FEE15411D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25686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2.1.1.2 Edge Router Security Approaches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93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2.1.1.3 Three Areas of Router Security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954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2.1.1.4 Secure Administrative Access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455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2.1.1.5 Secure Local and Remote Access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222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2.1.1.5 Secure Local and Remote Access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89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2.1.2.1 Strong Passwords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367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2.1.2.2 Increasing Access Security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083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2.1.2.3 Secret Password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944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2.1.2.4 Securing Line Access</a:t>
            </a:r>
          </a:p>
          <a:p>
            <a:r>
              <a:rPr lang="en-US" dirty="0"/>
              <a:t>Syntax Checker: Secure Administrative Access on R2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207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2.1.3.1 Enhancing the Login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058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2.1.3.2 Configuring Login Enhancement Features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6184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2.1.3.3 Enable Login Enhancements</a:t>
            </a:r>
          </a:p>
          <a:p>
            <a:r>
              <a:rPr lang="en-US" dirty="0"/>
              <a:t>Syntax Checker: Configure Enhanced Login Security on R2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064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2.1.3.4 Logging Failed Attempts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2424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2.1.4.1 Steps for Configuring SSH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430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2.1.4.2 Modifying the SSH Configuration</a:t>
            </a:r>
          </a:p>
          <a:p>
            <a:r>
              <a:rPr lang="en-US" dirty="0"/>
              <a:t>Syntax Checker: Enable SSH on R2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1222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2.1.4.3 Connecting to an SSH-Enabled Router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2868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2.2.1.1 Limiting Command Availability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278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2.2.1.2 Configuring</a:t>
            </a:r>
            <a:r>
              <a:rPr lang="en-US" baseline="0" dirty="0"/>
              <a:t> and Assigning Privilege Levels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66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2.2.1.3 Limitations of Privilege</a:t>
            </a:r>
            <a:r>
              <a:rPr lang="en-US" baseline="0" dirty="0"/>
              <a:t> Levels</a:t>
            </a:r>
          </a:p>
          <a:p>
            <a:r>
              <a:rPr lang="en-US" baseline="0" dirty="0"/>
              <a:t>Syntax Checker: Configure Privilege Levels on R2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8797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2.2.2.1 Role-Based CLI Access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751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2.2.2.2 Role-Based Views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1393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2.2.2.3 Configuring Role-Based Views</a:t>
            </a:r>
          </a:p>
          <a:p>
            <a:r>
              <a:rPr lang="en-US" dirty="0"/>
              <a:t>Syntax Checker: Configure Views on R2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1499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2.2.2.4 Configuring Role-Based CLI </a:t>
            </a:r>
            <a:r>
              <a:rPr lang="en-US" dirty="0" err="1"/>
              <a:t>Superviews</a:t>
            </a:r>
            <a:endParaRPr lang="en-US" dirty="0"/>
          </a:p>
          <a:p>
            <a:r>
              <a:rPr lang="en-US" dirty="0"/>
              <a:t>Syntax Checker: Configure </a:t>
            </a:r>
            <a:r>
              <a:rPr lang="en-US" dirty="0" err="1"/>
              <a:t>Superviews</a:t>
            </a:r>
            <a:r>
              <a:rPr lang="en-US" baseline="0" dirty="0"/>
              <a:t> on R2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898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2.2.2.5 Verify Role-Based CLI Views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783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2.3.1.1 Cisco</a:t>
            </a:r>
            <a:r>
              <a:rPr lang="en-US" baseline="0" dirty="0"/>
              <a:t> IOS Resilient Configuration Feature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354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2.3.1.2 Enabling the IOS Image Resilience Feature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6015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2.3.1.3 The Primary </a:t>
            </a:r>
            <a:r>
              <a:rPr lang="en-US" dirty="0" err="1"/>
              <a:t>Bootset</a:t>
            </a:r>
            <a:r>
              <a:rPr lang="en-US" dirty="0"/>
              <a:t> 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2746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2.3.1.4 Configuring Secure Copy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4926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2.3.1.5 Recovering a</a:t>
            </a:r>
            <a:r>
              <a:rPr lang="en-US" baseline="0" dirty="0"/>
              <a:t> Router Password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423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2.3.1.6 Password Recovery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2796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2.3.2.1 Determining the Type of Management Access</a:t>
            </a:r>
          </a:p>
          <a:p>
            <a:r>
              <a:rPr lang="en-US" dirty="0"/>
              <a:t>2.3.2.2 Out-of-Band and In-Band Access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6922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2.3.3.1 Introduction to Syslog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4358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2.3.3.2 Syslog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1902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2.3.3.3 Syslog Message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0124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2.3.3.3 Syslog Message</a:t>
            </a:r>
          </a:p>
          <a:p>
            <a:r>
              <a:rPr lang="en-US" dirty="0"/>
              <a:t>2.3.3.4 Activity - Parts 1-3 : Interpret Syslog Output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532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2.3.3.5 Syslog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4528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2.3.3.6 Configuring System Logging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1842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2.3.4.1 Introduction to SNMP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6053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2.3.4.2 Management Information 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52958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2.3.4.3 SNMP Versions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92957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2.3.4.4 SNMP Vulnerabilities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7267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2.3.4.5 SNMPv3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85279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2.3.4.6 Configuring SNMPv3 Security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4703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2.3.4.7 Secure SNMPv3 Configuration Example</a:t>
            </a:r>
          </a:p>
          <a:p>
            <a:r>
              <a:rPr lang="en-US" dirty="0"/>
              <a:t>Syntax Checker: Configure SNMPv3 Authentication Using</a:t>
            </a:r>
            <a:r>
              <a:rPr lang="en-US" baseline="0" dirty="0"/>
              <a:t> an ACL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49985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2.3.4.8 Verifying the</a:t>
            </a:r>
            <a:r>
              <a:rPr lang="en-US" baseline="0" dirty="0"/>
              <a:t> SNMPv3 Configuration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86981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2.3.5.1</a:t>
            </a:r>
            <a:r>
              <a:rPr lang="en-US" baseline="0" dirty="0"/>
              <a:t> Network Time Protocol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54602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2.3.5.2 NTP Server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73849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2.3.5.3 NTP Authentication</a:t>
            </a:r>
          </a:p>
          <a:p>
            <a:r>
              <a:rPr lang="en-US" dirty="0"/>
              <a:t>Syntax Checker: Configure NTP Authentication on R1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31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25/11/2018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25/11/2018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25/11/2018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25/11/2018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25/11/2018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25/11/2018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25/11/2018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25/11/2018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25/11/2018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25/11/2018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25/11/2018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3" y="324161"/>
            <a:ext cx="8588861" cy="62865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1008126"/>
            <a:ext cx="8577072" cy="3723894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0270317"/>
      </p:ext>
    </p:extLst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9393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6919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9157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8001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51835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52681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66170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51146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76131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35009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62402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21684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38227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46008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17153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86742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44935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28873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3011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10965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51206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6490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2E76D-59F5-4847-9801-37181729402E}" type="datetimeFigureOut">
              <a:rPr lang="pt-PT" smtClean="0"/>
              <a:pPr/>
              <a:t>25/11/2018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88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1783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9386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7400" y="2417117"/>
            <a:ext cx="5029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000" b="1" dirty="0">
                <a:solidFill>
                  <a:schemeClr val="bg1"/>
                </a:solidFill>
              </a:rPr>
              <a:t>Segurança </a:t>
            </a:r>
            <a:r>
              <a:rPr lang="pt-PT" sz="3000" b="1" dirty="0" err="1">
                <a:solidFill>
                  <a:schemeClr val="bg1"/>
                </a:solidFill>
              </a:rPr>
              <a:t>Informatica</a:t>
            </a:r>
            <a:r>
              <a:rPr lang="pt-PT" sz="3000" b="1">
                <a:solidFill>
                  <a:schemeClr val="bg1"/>
                </a:solidFill>
              </a:rPr>
              <a:t> </a:t>
            </a:r>
            <a:endParaRPr lang="pt-PT" sz="30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57400" y="1962150"/>
            <a:ext cx="5029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500" dirty="0" err="1">
                <a:solidFill>
                  <a:schemeClr val="bg1"/>
                </a:solidFill>
              </a:rPr>
              <a:t>CTeSP</a:t>
            </a:r>
            <a:r>
              <a:rPr lang="pt-PT" sz="1500">
                <a:solidFill>
                  <a:schemeClr val="bg1"/>
                </a:solidFill>
              </a:rPr>
              <a:t> Tecnologias e Programação de Sistemas de Informação</a:t>
            </a:r>
            <a:endParaRPr lang="pt-PT" sz="15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57400" y="3943350"/>
            <a:ext cx="5029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500" dirty="0">
                <a:solidFill>
                  <a:schemeClr val="bg1"/>
                </a:solidFill>
              </a:rPr>
              <a:t>Filipe André Martins de Freitas</a:t>
            </a:r>
          </a:p>
        </p:txBody>
      </p:sp>
    </p:spTree>
    <p:extLst>
      <p:ext uri="{BB962C8B-B14F-4D97-AF65-F5344CB8AC3E}">
        <p14:creationId xmlns:p14="http://schemas.microsoft.com/office/powerpoint/2010/main" val="181515704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450"/>
              </a:spcAft>
            </a:pPr>
            <a:r>
              <a:rPr lang="en-US" sz="2100" dirty="0">
                <a:solidFill>
                  <a:srgbClr val="92D050"/>
                </a:solidFill>
                <a:latin typeface="Arial"/>
                <a:cs typeface="Arial"/>
              </a:rPr>
              <a:t>Edge Router Security Approaches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932688" y="1243621"/>
            <a:ext cx="6225779" cy="1011135"/>
            <a:chOff x="419100" y="1108596"/>
            <a:chExt cx="8301038" cy="1348180"/>
          </a:xfrm>
        </p:grpSpPr>
        <p:sp>
          <p:nvSpPr>
            <p:cNvPr id="4" name="Text Placeholder 6"/>
            <p:cNvSpPr txBox="1">
              <a:spLocks/>
            </p:cNvSpPr>
            <p:nvPr/>
          </p:nvSpPr>
          <p:spPr>
            <a:xfrm>
              <a:off x="419100" y="1108596"/>
              <a:ext cx="8301038" cy="355092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5000"/>
                </a:lnSpc>
                <a:spcBef>
                  <a:spcPts val="1440"/>
                </a:spcBef>
                <a:buClr>
                  <a:srgbClr val="493B93"/>
                </a:buClr>
                <a:buSzPct val="90000"/>
                <a:buFont typeface="Arial" pitchFamily="34" charset="0"/>
                <a:buChar char="•"/>
                <a:tabLst/>
                <a:defRPr lang="en-US" sz="22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1pPr>
              <a:lvl2pPr marL="406400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Clr>
                  <a:schemeClr val="tx2"/>
                </a:buClr>
                <a:buFontTx/>
                <a:buNone/>
                <a:defRPr lang="en-US" sz="18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2pPr>
              <a:lvl3pPr marL="571500" indent="-1588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6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3pPr>
              <a:lvl4pPr marL="688975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4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4pPr>
              <a:lvl5pPr marL="801688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400" kern="1200" dirty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350" dirty="0"/>
                <a:t>Single Router Approach</a:t>
              </a: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0360" y="1432357"/>
              <a:ext cx="6429376" cy="1024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" name="Group 5"/>
          <p:cNvGrpSpPr/>
          <p:nvPr/>
        </p:nvGrpSpPr>
        <p:grpSpPr>
          <a:xfrm>
            <a:off x="1932688" y="2525478"/>
            <a:ext cx="6226724" cy="965038"/>
            <a:chOff x="419100" y="2817738"/>
            <a:chExt cx="8302298" cy="1286717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100" y="3142602"/>
              <a:ext cx="6343650" cy="9618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 Placeholder 6"/>
            <p:cNvSpPr txBox="1">
              <a:spLocks/>
            </p:cNvSpPr>
            <p:nvPr/>
          </p:nvSpPr>
          <p:spPr>
            <a:xfrm>
              <a:off x="420360" y="2817738"/>
              <a:ext cx="8301038" cy="355092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5000"/>
                </a:lnSpc>
                <a:spcBef>
                  <a:spcPts val="1440"/>
                </a:spcBef>
                <a:buClr>
                  <a:srgbClr val="493B93"/>
                </a:buClr>
                <a:buSzPct val="90000"/>
                <a:buFont typeface="Arial" pitchFamily="34" charset="0"/>
                <a:buChar char="•"/>
                <a:tabLst/>
                <a:defRPr lang="en-US" sz="22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1pPr>
              <a:lvl2pPr marL="406400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Clr>
                  <a:schemeClr val="tx2"/>
                </a:buClr>
                <a:buFontTx/>
                <a:buNone/>
                <a:defRPr lang="en-US" sz="18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2pPr>
              <a:lvl3pPr marL="571500" indent="-1588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6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3pPr>
              <a:lvl4pPr marL="688975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4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4pPr>
              <a:lvl5pPr marL="801688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400" kern="1200" dirty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350" dirty="0"/>
                <a:t>Defense in Depth Approach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946621" y="3740241"/>
            <a:ext cx="6225779" cy="1207773"/>
            <a:chOff x="437678" y="4528106"/>
            <a:chExt cx="8301038" cy="1610364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678" y="4852970"/>
              <a:ext cx="6419850" cy="1285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Placeholder 6"/>
            <p:cNvSpPr txBox="1">
              <a:spLocks/>
            </p:cNvSpPr>
            <p:nvPr/>
          </p:nvSpPr>
          <p:spPr>
            <a:xfrm>
              <a:off x="437678" y="4528106"/>
              <a:ext cx="8301038" cy="355092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5000"/>
                </a:lnSpc>
                <a:spcBef>
                  <a:spcPts val="1440"/>
                </a:spcBef>
                <a:buClr>
                  <a:srgbClr val="493B93"/>
                </a:buClr>
                <a:buSzPct val="90000"/>
                <a:buFont typeface="Arial" pitchFamily="34" charset="0"/>
                <a:buChar char="•"/>
                <a:tabLst/>
                <a:defRPr lang="en-US" sz="22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1pPr>
              <a:lvl2pPr marL="406400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Clr>
                  <a:schemeClr val="tx2"/>
                </a:buClr>
                <a:buFontTx/>
                <a:buNone/>
                <a:defRPr lang="en-US" sz="18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2pPr>
              <a:lvl3pPr marL="571500" indent="-1588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6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3pPr>
              <a:lvl4pPr marL="688975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4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4pPr>
              <a:lvl5pPr marL="801688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400" kern="1200" dirty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350" dirty="0"/>
                <a:t>DMZ Approach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3281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Three Areas of Router Security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654" y="1467867"/>
            <a:ext cx="5550694" cy="3336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1766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Secure Administrative Access</a:t>
            </a:r>
          </a:p>
        </p:txBody>
      </p:sp>
      <p:sp>
        <p:nvSpPr>
          <p:cNvPr id="4" name="Text Placeholder 6"/>
          <p:cNvSpPr txBox="1">
            <a:spLocks/>
          </p:cNvSpPr>
          <p:nvPr/>
        </p:nvSpPr>
        <p:spPr>
          <a:xfrm>
            <a:off x="1457325" y="1563638"/>
            <a:ext cx="6432804" cy="17053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Tasks:</a:t>
            </a:r>
          </a:p>
          <a:p>
            <a:r>
              <a:rPr lang="en-US" sz="1350" dirty="0"/>
              <a:t>Restrict device accessibility</a:t>
            </a:r>
          </a:p>
          <a:p>
            <a:r>
              <a:rPr lang="en-US" sz="1350" dirty="0"/>
              <a:t>Log and account for all access</a:t>
            </a:r>
          </a:p>
          <a:p>
            <a:r>
              <a:rPr lang="en-US" sz="1350" dirty="0"/>
              <a:t>Authenticate access</a:t>
            </a:r>
          </a:p>
          <a:p>
            <a:r>
              <a:rPr lang="en-US" sz="1350" dirty="0"/>
              <a:t>Authorize actions</a:t>
            </a:r>
          </a:p>
          <a:p>
            <a:r>
              <a:rPr lang="en-US" sz="1350" dirty="0"/>
              <a:t>Present legal notification</a:t>
            </a:r>
          </a:p>
          <a:p>
            <a:r>
              <a:rPr lang="en-US" sz="1350" dirty="0"/>
              <a:t>Ensure the confidentiality of data</a:t>
            </a:r>
          </a:p>
        </p:txBody>
      </p:sp>
    </p:spTree>
    <p:extLst>
      <p:ext uri="{BB962C8B-B14F-4D97-AF65-F5344CB8AC3E}">
        <p14:creationId xmlns:p14="http://schemas.microsoft.com/office/powerpoint/2010/main" val="3316969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Secure Local and Remote Access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069" y="1623893"/>
            <a:ext cx="1775330" cy="2676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202" y="1623894"/>
            <a:ext cx="4496990" cy="93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201" y="3566911"/>
            <a:ext cx="4531995" cy="733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 txBox="1">
            <a:spLocks/>
          </p:cNvSpPr>
          <p:nvPr/>
        </p:nvSpPr>
        <p:spPr>
          <a:xfrm>
            <a:off x="1425068" y="1311855"/>
            <a:ext cx="1775330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Local Access</a:t>
            </a:r>
          </a:p>
        </p:txBody>
      </p:sp>
      <p:sp>
        <p:nvSpPr>
          <p:cNvPr id="7" name="Text Placeholder 6"/>
          <p:cNvSpPr txBox="1">
            <a:spLocks/>
          </p:cNvSpPr>
          <p:nvPr/>
        </p:nvSpPr>
        <p:spPr>
          <a:xfrm>
            <a:off x="3332201" y="1311855"/>
            <a:ext cx="4496990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Remote Access Using Telnet</a:t>
            </a: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3332201" y="3300675"/>
            <a:ext cx="4496990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Remote Access Using Modem and Aux Port</a:t>
            </a:r>
          </a:p>
        </p:txBody>
      </p:sp>
    </p:spTree>
    <p:extLst>
      <p:ext uri="{BB962C8B-B14F-4D97-AF65-F5344CB8AC3E}">
        <p14:creationId xmlns:p14="http://schemas.microsoft.com/office/powerpoint/2010/main" val="852735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Secure Local and Remote Access (Cont.)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2341" y="1414413"/>
            <a:ext cx="5590971" cy="3533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6"/>
          <p:cNvSpPr txBox="1">
            <a:spLocks/>
          </p:cNvSpPr>
          <p:nvPr/>
        </p:nvSpPr>
        <p:spPr>
          <a:xfrm>
            <a:off x="1582341" y="1081295"/>
            <a:ext cx="4496990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Dedicated Management Network</a:t>
            </a:r>
          </a:p>
        </p:txBody>
      </p:sp>
    </p:spTree>
    <p:extLst>
      <p:ext uri="{BB962C8B-B14F-4D97-AF65-F5344CB8AC3E}">
        <p14:creationId xmlns:p14="http://schemas.microsoft.com/office/powerpoint/2010/main" val="1001740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Strong Passwords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1457325" y="1063843"/>
            <a:ext cx="6543675" cy="21694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Guidelines:</a:t>
            </a:r>
          </a:p>
          <a:p>
            <a:r>
              <a:rPr lang="en-US" sz="1200" dirty="0"/>
              <a:t>Use a password length of 10 or more characters.</a:t>
            </a:r>
          </a:p>
          <a:p>
            <a:r>
              <a:rPr lang="en-US" sz="1200" dirty="0"/>
              <a:t>Include a mix of uppercase and lowercase letters, numbers, symbols, and spaces.</a:t>
            </a:r>
          </a:p>
          <a:p>
            <a:r>
              <a:rPr lang="en-US" sz="1200" dirty="0"/>
              <a:t>Avoid passwords based on easily identifiable pieces of information.</a:t>
            </a:r>
          </a:p>
          <a:p>
            <a:r>
              <a:rPr lang="en-US" sz="1200" dirty="0"/>
              <a:t>Deliberately misspell a password (Smith = Smyth = 5mYth).</a:t>
            </a:r>
          </a:p>
          <a:p>
            <a:r>
              <a:rPr lang="en-US" sz="1200" dirty="0"/>
              <a:t>Change passwords often.</a:t>
            </a:r>
          </a:p>
          <a:p>
            <a:r>
              <a:rPr lang="en-US" sz="1200" dirty="0"/>
              <a:t>Do not write passwords down and leave them in obvious places.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843964"/>
              </p:ext>
            </p:extLst>
          </p:nvPr>
        </p:nvGraphicFramePr>
        <p:xfrm>
          <a:off x="1457325" y="3286472"/>
          <a:ext cx="6324142" cy="1733550"/>
        </p:xfrm>
        <a:graphic>
          <a:graphicData uri="http://schemas.openxmlformats.org/drawingml/2006/table">
            <a:tbl>
              <a:tblPr firstRow="1" bandRow="1">
                <a:solidFill>
                  <a:srgbClr val="EAEAEA"/>
                </a:solidFill>
                <a:tableStyleId>{00A15C55-8517-42AA-B614-E9B94910E393}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2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900" dirty="0"/>
                        <a:t>Weak Password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Why it is Weak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Strong Password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Why it is Strong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435153"/>
                          </a:solidFill>
                        </a:rPr>
                        <a:t>secret</a:t>
                      </a:r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435153"/>
                          </a:solidFill>
                        </a:rPr>
                        <a:t>Simple dictionary password</a:t>
                      </a:r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435153"/>
                          </a:solidFill>
                        </a:rPr>
                        <a:t>b67n42d39c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435153"/>
                          </a:solidFill>
                        </a:rPr>
                        <a:t>Combines alphanumeric characters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435153"/>
                          </a:solidFill>
                        </a:rPr>
                        <a:t>smith</a:t>
                      </a:r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rgbClr val="435153"/>
                          </a:solidFill>
                          <a:latin typeface="+mn-lt"/>
                          <a:ea typeface="+mn-ea"/>
                          <a:cs typeface="+mn-cs"/>
                        </a:rPr>
                        <a:t>Mother’s maiden name</a:t>
                      </a:r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rgbClr val="435153"/>
                          </a:solidFill>
                          <a:latin typeface="+mn-lt"/>
                          <a:ea typeface="+mn-ea"/>
                          <a:cs typeface="+mn-cs"/>
                        </a:rPr>
                        <a:t>12^h u4@1p7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rgbClr val="435153"/>
                          </a:solidFill>
                          <a:latin typeface="+mn-lt"/>
                          <a:ea typeface="+mn-ea"/>
                          <a:cs typeface="+mn-cs"/>
                        </a:rPr>
                        <a:t>Combines alphanumeric characters, symbols, and includes a space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900" dirty="0" err="1">
                          <a:solidFill>
                            <a:srgbClr val="435153"/>
                          </a:solidFill>
                        </a:rPr>
                        <a:t>toyota</a:t>
                      </a:r>
                      <a:endParaRPr lang="en-US" sz="900" dirty="0">
                        <a:solidFill>
                          <a:srgbClr val="435153"/>
                        </a:solidFill>
                      </a:endParaRPr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435153"/>
                          </a:solidFill>
                        </a:rPr>
                        <a:t>Make of car</a:t>
                      </a:r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solidFill>
                          <a:srgbClr val="435153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solidFill>
                          <a:srgbClr val="435153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435153"/>
                          </a:solidFill>
                        </a:rPr>
                        <a:t>bob1967</a:t>
                      </a:r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435153"/>
                          </a:solidFill>
                        </a:rPr>
                        <a:t>Name</a:t>
                      </a:r>
                      <a:r>
                        <a:rPr lang="en-US" sz="900" baseline="0" dirty="0">
                          <a:solidFill>
                            <a:srgbClr val="435153"/>
                          </a:solidFill>
                        </a:rPr>
                        <a:t> and birthday of user</a:t>
                      </a:r>
                      <a:endParaRPr lang="en-US" sz="900" dirty="0">
                        <a:solidFill>
                          <a:srgbClr val="435153"/>
                        </a:solidFill>
                      </a:endParaRPr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solidFill>
                          <a:srgbClr val="435153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solidFill>
                          <a:srgbClr val="435153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435153"/>
                          </a:solidFill>
                        </a:rPr>
                        <a:t>Blueleaf23</a:t>
                      </a:r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435153"/>
                          </a:solidFill>
                        </a:rPr>
                        <a:t>Simple words and numbers</a:t>
                      </a:r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solidFill>
                          <a:srgbClr val="435153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solidFill>
                          <a:srgbClr val="435153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3326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Increasing Access Security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176" y="1052403"/>
            <a:ext cx="2809637" cy="943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195" y="2054425"/>
            <a:ext cx="5023485" cy="2965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3124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Secret Password Algorithms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1457325" y="1498018"/>
            <a:ext cx="6097905" cy="23522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Guidelines:</a:t>
            </a:r>
          </a:p>
          <a:p>
            <a:r>
              <a:rPr lang="en-US" sz="1350" dirty="0"/>
              <a:t>Configure all secret passwords using type 8 or type 9 passwords</a:t>
            </a:r>
          </a:p>
          <a:p>
            <a:r>
              <a:rPr lang="en-US" sz="1350" dirty="0"/>
              <a:t>Use the enable algorithm-type command syntax to enter an unencrypted password</a:t>
            </a:r>
          </a:p>
          <a:p>
            <a:endParaRPr lang="en-US" sz="1350" dirty="0"/>
          </a:p>
          <a:p>
            <a:endParaRPr lang="en-US" sz="1350" dirty="0"/>
          </a:p>
          <a:p>
            <a:r>
              <a:rPr lang="en-US" sz="1350" dirty="0"/>
              <a:t>Use the username name algorithm-type command to specify type 9 encryption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774" y="3908177"/>
            <a:ext cx="5657850" cy="535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774" y="2707312"/>
            <a:ext cx="5643563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0556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Securing Line Access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1421606"/>
            <a:ext cx="5572125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1242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Enhancing the Login Process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091" y="1521494"/>
            <a:ext cx="3592592" cy="313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6"/>
          <p:cNvSpPr txBox="1">
            <a:spLocks/>
          </p:cNvSpPr>
          <p:nvPr/>
        </p:nvSpPr>
        <p:spPr>
          <a:xfrm>
            <a:off x="1251585" y="1469726"/>
            <a:ext cx="2897505" cy="23522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Virtual login security enhancements:</a:t>
            </a:r>
          </a:p>
          <a:p>
            <a:r>
              <a:rPr lang="en-US" sz="1350" dirty="0"/>
              <a:t>Implement delays between successive login attempts</a:t>
            </a:r>
          </a:p>
          <a:p>
            <a:r>
              <a:rPr lang="en-US" sz="1350" dirty="0"/>
              <a:t>Enable login shutdown if DoS attacks are suspected</a:t>
            </a:r>
          </a:p>
          <a:p>
            <a:r>
              <a:rPr lang="en-US" sz="1350" dirty="0"/>
              <a:t>Generate system-logging messages for login detection</a:t>
            </a:r>
          </a:p>
        </p:txBody>
      </p:sp>
    </p:spTree>
    <p:extLst>
      <p:ext uri="{BB962C8B-B14F-4D97-AF65-F5344CB8AC3E}">
        <p14:creationId xmlns:p14="http://schemas.microsoft.com/office/powerpoint/2010/main" val="1862857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Configuring Login Enhancement Features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763" y="1190401"/>
            <a:ext cx="6086475" cy="375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6647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Enable Login Enhancements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037" y="1345026"/>
            <a:ext cx="5452109" cy="1279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036" y="3157619"/>
            <a:ext cx="5374958" cy="94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037" y="4620289"/>
            <a:ext cx="5391389" cy="32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 txBox="1">
            <a:spLocks/>
          </p:cNvSpPr>
          <p:nvPr/>
        </p:nvSpPr>
        <p:spPr>
          <a:xfrm>
            <a:off x="1353742" y="1120535"/>
            <a:ext cx="4496990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Command Syntax: </a:t>
            </a:r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login block-for</a:t>
            </a:r>
          </a:p>
        </p:txBody>
      </p:sp>
      <p:sp>
        <p:nvSpPr>
          <p:cNvPr id="7" name="Text Placeholder 6"/>
          <p:cNvSpPr txBox="1">
            <a:spLocks/>
          </p:cNvSpPr>
          <p:nvPr/>
        </p:nvSpPr>
        <p:spPr>
          <a:xfrm>
            <a:off x="1382317" y="2903615"/>
            <a:ext cx="4496990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Example: </a:t>
            </a:r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login quiet-mode access-class</a:t>
            </a: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1393747" y="4380943"/>
            <a:ext cx="4496990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Example: </a:t>
            </a:r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login delay</a:t>
            </a:r>
          </a:p>
        </p:txBody>
      </p:sp>
    </p:spTree>
    <p:extLst>
      <p:ext uri="{BB962C8B-B14F-4D97-AF65-F5344CB8AC3E}">
        <p14:creationId xmlns:p14="http://schemas.microsoft.com/office/powerpoint/2010/main" val="1467350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Logging Failed Attempts</a:t>
            </a: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756" y="1241584"/>
            <a:ext cx="5579269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756" y="2450306"/>
            <a:ext cx="5572125" cy="167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6"/>
          <p:cNvSpPr txBox="1">
            <a:spLocks/>
          </p:cNvSpPr>
          <p:nvPr/>
        </p:nvSpPr>
        <p:spPr>
          <a:xfrm>
            <a:off x="1473757" y="1014984"/>
            <a:ext cx="4496990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Generate Login Syslog Messages</a:t>
            </a:r>
            <a:endParaRPr lang="en-US" sz="13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1473757" y="2229707"/>
            <a:ext cx="4496990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Example: </a:t>
            </a:r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show login failures</a:t>
            </a:r>
          </a:p>
        </p:txBody>
      </p:sp>
    </p:spTree>
    <p:extLst>
      <p:ext uri="{BB962C8B-B14F-4D97-AF65-F5344CB8AC3E}">
        <p14:creationId xmlns:p14="http://schemas.microsoft.com/office/powerpoint/2010/main" val="417668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Steps for Configuring SSH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115616" y="1036517"/>
            <a:ext cx="3160957" cy="2111297"/>
            <a:chOff x="441008" y="1125758"/>
            <a:chExt cx="4214609" cy="2815063"/>
          </a:xfrm>
        </p:grpSpPr>
        <p:sp>
          <p:nvSpPr>
            <p:cNvPr id="5" name="Text Placeholder 6"/>
            <p:cNvSpPr txBox="1">
              <a:spLocks/>
            </p:cNvSpPr>
            <p:nvPr/>
          </p:nvSpPr>
          <p:spPr>
            <a:xfrm>
              <a:off x="441009" y="1125758"/>
              <a:ext cx="4214608" cy="355092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5000"/>
                </a:lnSpc>
                <a:spcBef>
                  <a:spcPts val="1440"/>
                </a:spcBef>
                <a:buClr>
                  <a:srgbClr val="493B93"/>
                </a:buClr>
                <a:buSzPct val="90000"/>
                <a:buFont typeface="Arial" pitchFamily="34" charset="0"/>
                <a:buChar char="•"/>
                <a:tabLst/>
                <a:defRPr lang="en-US" sz="22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1pPr>
              <a:lvl2pPr marL="406400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Clr>
                  <a:schemeClr val="tx2"/>
                </a:buClr>
                <a:buFontTx/>
                <a:buNone/>
                <a:defRPr lang="en-US" sz="18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2pPr>
              <a:lvl3pPr marL="571500" indent="-1588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6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3pPr>
              <a:lvl4pPr marL="688975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4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4pPr>
              <a:lvl5pPr marL="801688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400" kern="1200" dirty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350" dirty="0"/>
                <a:t>Example SSH Configuration</a:t>
              </a:r>
              <a:endParaRPr lang="en-US" sz="135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008" y="1440390"/>
              <a:ext cx="4214608" cy="2500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Group 3"/>
          <p:cNvGrpSpPr/>
          <p:nvPr/>
        </p:nvGrpSpPr>
        <p:grpSpPr>
          <a:xfrm>
            <a:off x="4401119" y="1602650"/>
            <a:ext cx="3595327" cy="3164837"/>
            <a:chOff x="4344158" y="2136866"/>
            <a:chExt cx="4793769" cy="4219783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4158" y="2427222"/>
              <a:ext cx="4793769" cy="3929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 Placeholder 6"/>
            <p:cNvSpPr txBox="1">
              <a:spLocks/>
            </p:cNvSpPr>
            <p:nvPr/>
          </p:nvSpPr>
          <p:spPr>
            <a:xfrm>
              <a:off x="4344158" y="2136866"/>
              <a:ext cx="4214608" cy="355092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5000"/>
                </a:lnSpc>
                <a:spcBef>
                  <a:spcPts val="1440"/>
                </a:spcBef>
                <a:buClr>
                  <a:srgbClr val="493B93"/>
                </a:buClr>
                <a:buSzPct val="90000"/>
                <a:buFont typeface="Arial" pitchFamily="34" charset="0"/>
                <a:buChar char="•"/>
                <a:tabLst/>
                <a:defRPr lang="en-US" sz="22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1pPr>
              <a:lvl2pPr marL="406400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Clr>
                  <a:schemeClr val="tx2"/>
                </a:buClr>
                <a:buFontTx/>
                <a:buNone/>
                <a:defRPr lang="en-US" sz="18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2pPr>
              <a:lvl3pPr marL="571500" indent="-1588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6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3pPr>
              <a:lvl4pPr marL="688975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4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4pPr>
              <a:lvl5pPr marL="801688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400" kern="1200" dirty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350" dirty="0"/>
                <a:t>Example Verification of SSH</a:t>
              </a:r>
              <a:endParaRPr lang="en-US" sz="135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6459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Modifying the SSH Configuration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1203723"/>
            <a:ext cx="6286500" cy="2736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4955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49841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Connecting to an SSH-Enabled Router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28600" y="1203598"/>
            <a:ext cx="8577072" cy="3528422"/>
          </a:xfrm>
        </p:spPr>
        <p:txBody>
          <a:bodyPr/>
          <a:lstStyle/>
          <a:p>
            <a:pPr marL="0" indent="0">
              <a:buNone/>
            </a:pPr>
            <a:r>
              <a:rPr lang="en-US" sz="1500" dirty="0"/>
              <a:t>Two ways to connect:</a:t>
            </a:r>
          </a:p>
          <a:p>
            <a:r>
              <a:rPr lang="en-US" sz="1350" dirty="0"/>
              <a:t>Enable SSH and use a Cisco router as an SSH server or SSH client.</a:t>
            </a:r>
          </a:p>
          <a:p>
            <a:pPr lvl="1"/>
            <a:r>
              <a:rPr lang="en-US" dirty="0"/>
              <a:t>As a server, the router can accept SSH client connections</a:t>
            </a:r>
          </a:p>
          <a:p>
            <a:pPr lvl="1"/>
            <a:r>
              <a:rPr lang="en-US" dirty="0"/>
              <a:t>As a client, the router can connect via SSH to another SSH-enabled router</a:t>
            </a:r>
          </a:p>
          <a:p>
            <a:r>
              <a:rPr lang="en-US" sz="1350" dirty="0"/>
              <a:t>Use an SSH client running on a host, such as </a:t>
            </a:r>
            <a:r>
              <a:rPr lang="en-US" sz="1350" dirty="0" err="1"/>
              <a:t>PuTTY</a:t>
            </a:r>
            <a:r>
              <a:rPr lang="en-US" sz="1350" dirty="0"/>
              <a:t>, </a:t>
            </a:r>
            <a:r>
              <a:rPr lang="en-US" sz="1350" dirty="0" err="1"/>
              <a:t>OpenSSH</a:t>
            </a:r>
            <a:r>
              <a:rPr lang="en-US" sz="1350" dirty="0"/>
              <a:t>, or </a:t>
            </a:r>
            <a:r>
              <a:rPr lang="en-US" sz="1350" dirty="0" err="1"/>
              <a:t>TeraTerm</a:t>
            </a:r>
            <a:r>
              <a:rPr lang="en-US" sz="13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0839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Limiting Command Availability</a:t>
            </a:r>
          </a:p>
        </p:txBody>
      </p:sp>
      <p:sp>
        <p:nvSpPr>
          <p:cNvPr id="4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496322" y="1103739"/>
            <a:ext cx="3093199" cy="1674495"/>
          </a:xfrm>
        </p:spPr>
        <p:txBody>
          <a:bodyPr/>
          <a:lstStyle/>
          <a:p>
            <a:pPr marL="0" indent="0">
              <a:buNone/>
            </a:pPr>
            <a:r>
              <a:rPr lang="en-US" sz="1050" dirty="0"/>
              <a:t>Levels of access commands:</a:t>
            </a:r>
          </a:p>
          <a:p>
            <a:r>
              <a:rPr lang="en-US" sz="900" dirty="0"/>
              <a:t>User EXEC mode (privilege level 1)</a:t>
            </a:r>
          </a:p>
          <a:p>
            <a:pPr lvl="1"/>
            <a:r>
              <a:rPr lang="en-US" sz="825" dirty="0"/>
              <a:t>Lowest EXEC mode user privileges</a:t>
            </a:r>
          </a:p>
          <a:p>
            <a:pPr lvl="1"/>
            <a:r>
              <a:rPr lang="en-US" sz="825" dirty="0"/>
              <a:t>Only user-level command available at the router&gt; prompt</a:t>
            </a:r>
          </a:p>
          <a:p>
            <a:r>
              <a:rPr lang="en-US" sz="900" dirty="0"/>
              <a:t>Privileged EXEC mode (privilege level 15)</a:t>
            </a:r>
          </a:p>
          <a:p>
            <a:pPr lvl="1"/>
            <a:r>
              <a:rPr lang="en-US" sz="825" dirty="0"/>
              <a:t>All enable-level commands at the router# prompt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477" y="3103726"/>
            <a:ext cx="5377813" cy="48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1"/>
          <p:cNvSpPr txBox="1">
            <a:spLocks/>
          </p:cNvSpPr>
          <p:nvPr/>
        </p:nvSpPr>
        <p:spPr>
          <a:xfrm>
            <a:off x="1281249" y="1103739"/>
            <a:ext cx="3256462" cy="154640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/>
              <a:t>Privilege levels:</a:t>
            </a:r>
          </a:p>
          <a:p>
            <a:r>
              <a:rPr lang="en-US" sz="900" dirty="0"/>
              <a:t>Level 0: Predefined for user-level access privileges.</a:t>
            </a:r>
          </a:p>
          <a:p>
            <a:r>
              <a:rPr lang="en-US" sz="900" dirty="0"/>
              <a:t>Level 1: Default level for login with the router prompt.</a:t>
            </a:r>
          </a:p>
          <a:p>
            <a:r>
              <a:rPr lang="en-US" sz="900" dirty="0"/>
              <a:t>Level 2-14: May be customized for user-level privileges.</a:t>
            </a:r>
          </a:p>
          <a:p>
            <a:r>
              <a:rPr lang="en-US" sz="900" dirty="0"/>
              <a:t>Level 15: Reserved for the enable mode privileges.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407644" y="1103739"/>
            <a:ext cx="0" cy="1546400"/>
          </a:xfrm>
          <a:prstGeom prst="line">
            <a:avLst/>
          </a:prstGeom>
          <a:ln w="190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" name="Text Placeholder 6"/>
          <p:cNvSpPr txBox="1">
            <a:spLocks/>
          </p:cNvSpPr>
          <p:nvPr/>
        </p:nvSpPr>
        <p:spPr>
          <a:xfrm>
            <a:off x="1539478" y="2861614"/>
            <a:ext cx="4496990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Privilege Level Syntax</a:t>
            </a:r>
            <a:endParaRPr lang="en-US" sz="13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1417320" y="2650139"/>
            <a:ext cx="6246495" cy="11430"/>
          </a:xfrm>
          <a:prstGeom prst="line">
            <a:avLst/>
          </a:prstGeom>
          <a:ln w="190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477" y="3585132"/>
            <a:ext cx="5334188" cy="1434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5238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Configuring and Assigning Privilege Levels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181" y="1533599"/>
            <a:ext cx="6243638" cy="2550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8595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Limitations of Privilege Levels</a:t>
            </a:r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463040" y="2139702"/>
            <a:ext cx="5703570" cy="2592318"/>
          </a:xfrm>
        </p:spPr>
        <p:txBody>
          <a:bodyPr/>
          <a:lstStyle/>
          <a:p>
            <a:r>
              <a:rPr lang="en-US" sz="1350" dirty="0"/>
              <a:t>No access control to specific interfaces, ports, logical interfaces, and slots on a router</a:t>
            </a:r>
          </a:p>
          <a:p>
            <a:r>
              <a:rPr lang="en-US" sz="1350" dirty="0"/>
              <a:t>Commands available at lower privilege levels are always executable at higher privilege levels</a:t>
            </a:r>
          </a:p>
          <a:p>
            <a:r>
              <a:rPr lang="en-US" sz="1350" dirty="0"/>
              <a:t>Commands specifically set at higher privilege levels are not available for lower privilege users</a:t>
            </a:r>
          </a:p>
          <a:p>
            <a:r>
              <a:rPr lang="en-US" sz="1350" dirty="0"/>
              <a:t>Assigning a command with multiple keywords allows access to all commands that use those</a:t>
            </a:r>
          </a:p>
        </p:txBody>
      </p:sp>
    </p:spTree>
    <p:extLst>
      <p:ext uri="{BB962C8B-B14F-4D97-AF65-F5344CB8AC3E}">
        <p14:creationId xmlns:p14="http://schemas.microsoft.com/office/powerpoint/2010/main" val="2295866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Role-Based CLI Access</a:t>
            </a:r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267744" y="1203598"/>
            <a:ext cx="5703570" cy="3723894"/>
          </a:xfrm>
        </p:spPr>
        <p:txBody>
          <a:bodyPr/>
          <a:lstStyle/>
          <a:p>
            <a:pPr marL="0" indent="0">
              <a:buNone/>
            </a:pPr>
            <a:r>
              <a:rPr lang="en-US" sz="1500" dirty="0"/>
              <a:t>For example:</a:t>
            </a:r>
          </a:p>
          <a:p>
            <a:r>
              <a:rPr lang="en-US" sz="1350" dirty="0"/>
              <a:t>Security operator privileges</a:t>
            </a:r>
          </a:p>
          <a:p>
            <a:pPr lvl="1"/>
            <a:r>
              <a:rPr lang="en-US" sz="1050" dirty="0"/>
              <a:t>Configure AAA</a:t>
            </a:r>
          </a:p>
          <a:p>
            <a:pPr lvl="1"/>
            <a:r>
              <a:rPr lang="en-US" sz="1050" dirty="0"/>
              <a:t>Issue 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show</a:t>
            </a:r>
            <a:r>
              <a:rPr lang="en-US" sz="1050" dirty="0"/>
              <a:t> commands</a:t>
            </a:r>
          </a:p>
          <a:p>
            <a:pPr lvl="1"/>
            <a:r>
              <a:rPr lang="en-US" sz="1050" dirty="0"/>
              <a:t>Configure firewall</a:t>
            </a:r>
          </a:p>
          <a:p>
            <a:pPr lvl="1"/>
            <a:r>
              <a:rPr lang="en-US" sz="1050" dirty="0"/>
              <a:t>Configure IDS/IPS</a:t>
            </a:r>
          </a:p>
          <a:p>
            <a:pPr lvl="1"/>
            <a:r>
              <a:rPr lang="en-US" sz="1050" dirty="0"/>
              <a:t>Configure </a:t>
            </a:r>
            <a:r>
              <a:rPr lang="en-US" sz="1050" dirty="0" err="1"/>
              <a:t>NetFlow</a:t>
            </a:r>
            <a:endParaRPr lang="en-US" sz="1050" dirty="0"/>
          </a:p>
          <a:p>
            <a:r>
              <a:rPr lang="en-US" sz="1350" dirty="0"/>
              <a:t>WAN engineer privileges</a:t>
            </a:r>
          </a:p>
          <a:p>
            <a:pPr lvl="1"/>
            <a:r>
              <a:rPr lang="en-US" sz="1050" dirty="0"/>
              <a:t>Configure routing</a:t>
            </a:r>
          </a:p>
          <a:p>
            <a:pPr lvl="1"/>
            <a:r>
              <a:rPr lang="en-US" sz="1050" dirty="0"/>
              <a:t>Configure interfaces</a:t>
            </a:r>
          </a:p>
          <a:p>
            <a:pPr lvl="1"/>
            <a:r>
              <a:rPr lang="en-US" sz="1050" dirty="0"/>
              <a:t>Issue 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show</a:t>
            </a:r>
            <a:r>
              <a:rPr lang="en-US" sz="1050" dirty="0"/>
              <a:t> commands</a:t>
            </a:r>
          </a:p>
        </p:txBody>
      </p:sp>
    </p:spTree>
    <p:extLst>
      <p:ext uri="{BB962C8B-B14F-4D97-AF65-F5344CB8AC3E}">
        <p14:creationId xmlns:p14="http://schemas.microsoft.com/office/powerpoint/2010/main" val="611005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Role-Based Views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794" y="1381571"/>
            <a:ext cx="5586413" cy="3350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2191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Configuring Role-Based Views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955" y="1311274"/>
            <a:ext cx="4872038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955" y="2266394"/>
            <a:ext cx="4872038" cy="535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956" y="3245802"/>
            <a:ext cx="4879181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955" y="4204493"/>
            <a:ext cx="4886325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6"/>
          <p:cNvSpPr txBox="1">
            <a:spLocks/>
          </p:cNvSpPr>
          <p:nvPr/>
        </p:nvSpPr>
        <p:spPr>
          <a:xfrm>
            <a:off x="2205956" y="1073530"/>
            <a:ext cx="4496990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Step 1</a:t>
            </a:r>
            <a:endParaRPr lang="en-US" sz="13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2205956" y="2028650"/>
            <a:ext cx="4496990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Step 2</a:t>
            </a:r>
            <a:endParaRPr lang="en-US" sz="13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 Placeholder 6"/>
          <p:cNvSpPr txBox="1">
            <a:spLocks/>
          </p:cNvSpPr>
          <p:nvPr/>
        </p:nvSpPr>
        <p:spPr>
          <a:xfrm>
            <a:off x="2205955" y="3002343"/>
            <a:ext cx="4496990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Step 3</a:t>
            </a:r>
            <a:endParaRPr lang="en-US" sz="13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 Placeholder 6"/>
          <p:cNvSpPr txBox="1">
            <a:spLocks/>
          </p:cNvSpPr>
          <p:nvPr/>
        </p:nvSpPr>
        <p:spPr>
          <a:xfrm>
            <a:off x="2205954" y="3961034"/>
            <a:ext cx="4496990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Step 4</a:t>
            </a:r>
            <a:endParaRPr lang="en-US" sz="13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28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Configuring Role-Based CLI </a:t>
            </a:r>
            <a:r>
              <a:rPr lang="en-US" sz="2400" dirty="0" err="1"/>
              <a:t>Superviews</a:t>
            </a:r>
            <a:endParaRPr lang="en-US" sz="2400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226" y="1729374"/>
            <a:ext cx="485775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226" y="2853086"/>
            <a:ext cx="4872038" cy="535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226" y="3971797"/>
            <a:ext cx="4872038" cy="550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 txBox="1">
            <a:spLocks/>
          </p:cNvSpPr>
          <p:nvPr/>
        </p:nvSpPr>
        <p:spPr>
          <a:xfrm>
            <a:off x="2076227" y="1491630"/>
            <a:ext cx="4496990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Step 1</a:t>
            </a:r>
            <a:endParaRPr lang="en-US" sz="13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 Placeholder 6"/>
          <p:cNvSpPr txBox="1">
            <a:spLocks/>
          </p:cNvSpPr>
          <p:nvPr/>
        </p:nvSpPr>
        <p:spPr>
          <a:xfrm>
            <a:off x="2076227" y="2615342"/>
            <a:ext cx="4496990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Step 2</a:t>
            </a:r>
            <a:endParaRPr lang="en-US" sz="13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2076227" y="3739768"/>
            <a:ext cx="4496990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Step 3</a:t>
            </a:r>
            <a:endParaRPr lang="en-US" sz="13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41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Verify Role-Based CLI Views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044" y="1265159"/>
            <a:ext cx="6157913" cy="3150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Placeholder 6"/>
          <p:cNvSpPr txBox="1">
            <a:spLocks/>
          </p:cNvSpPr>
          <p:nvPr/>
        </p:nvSpPr>
        <p:spPr>
          <a:xfrm>
            <a:off x="1493044" y="1044702"/>
            <a:ext cx="4496990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Enable Root View and Verify All Views</a:t>
            </a:r>
            <a:endParaRPr lang="en-US" sz="13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749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Cisco IOS Resilient Configuration Feature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154" y="1289448"/>
            <a:ext cx="4407694" cy="2564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4532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Enabling the IOS Image Resilience Feature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1090389"/>
            <a:ext cx="6257925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708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The Primary </a:t>
            </a:r>
            <a:r>
              <a:rPr lang="en-US" sz="2400" dirty="0" err="1"/>
              <a:t>Bootset</a:t>
            </a:r>
            <a:r>
              <a:rPr lang="en-US" sz="2400" dirty="0"/>
              <a:t> Image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1033809"/>
            <a:ext cx="5543550" cy="398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1557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Configuring Secure Copy</a:t>
            </a:r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619672" y="1707654"/>
            <a:ext cx="5703570" cy="2352294"/>
          </a:xfrm>
        </p:spPr>
        <p:txBody>
          <a:bodyPr/>
          <a:lstStyle/>
          <a:p>
            <a:pPr marL="0" indent="0">
              <a:buNone/>
            </a:pPr>
            <a:r>
              <a:rPr lang="en-US" sz="1500" dirty="0"/>
              <a:t>Configure the router for server-side SCP with local AAA: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350" dirty="0"/>
              <a:t>Configure SSH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350" dirty="0"/>
              <a:t>Configure at least one user with privilege level 15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350" dirty="0"/>
              <a:t>Enable AAA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350" dirty="0"/>
              <a:t>Specify that the local database is to be used for authentication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350" dirty="0"/>
              <a:t>Configure command authorization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350" dirty="0"/>
              <a:t>Enable SCP server-side functionality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073792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Recovering a Router Password</a:t>
            </a:r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463040" y="1491630"/>
            <a:ext cx="5703570" cy="2352294"/>
          </a:xfrm>
        </p:spPr>
        <p:txBody>
          <a:bodyPr/>
          <a:lstStyle/>
          <a:p>
            <a:pPr marL="257175" indent="-257175">
              <a:buFont typeface="+mj-lt"/>
              <a:buAutoNum type="arabicPeriod"/>
            </a:pPr>
            <a:r>
              <a:rPr lang="en-US" sz="1050" dirty="0"/>
              <a:t>Connect to the console port.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050" dirty="0"/>
              <a:t>Record the configuration register setting.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050" dirty="0"/>
              <a:t>Power cycle the router.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050" dirty="0"/>
              <a:t>Issue the break sequence.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050" dirty="0"/>
              <a:t>Change the default configuration register with the </a:t>
            </a:r>
            <a:r>
              <a:rPr lang="en-US" sz="1050" dirty="0" err="1"/>
              <a:t>confreg</a:t>
            </a:r>
            <a:r>
              <a:rPr lang="en-US" sz="1050" dirty="0"/>
              <a:t> 0x2142 command.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050" dirty="0"/>
              <a:t>Reboot the router.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050" dirty="0"/>
              <a:t>Press Ctrl-C to skip the initial setup procedure.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050" dirty="0"/>
              <a:t>Put the router into privileged EXEC mode.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050" dirty="0"/>
              <a:t>Copy the startup configuration to the running configuration.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050" dirty="0"/>
              <a:t>Verify the configuration.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050" dirty="0"/>
              <a:t>Change the enable secret password.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050" dirty="0"/>
              <a:t>Enable all interfaces.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050" dirty="0"/>
              <a:t>Change the </a:t>
            </a:r>
            <a:r>
              <a:rPr lang="en-US" sz="1050" dirty="0" err="1"/>
              <a:t>config</a:t>
            </a:r>
            <a:r>
              <a:rPr lang="en-US" sz="1050" dirty="0"/>
              <a:t>-register with the </a:t>
            </a:r>
            <a:r>
              <a:rPr lang="en-US" sz="1050" dirty="0" err="1"/>
              <a:t>config</a:t>
            </a:r>
            <a:r>
              <a:rPr lang="en-US" sz="1050" dirty="0"/>
              <a:t>-register </a:t>
            </a:r>
            <a:r>
              <a:rPr lang="en-US" sz="1050" dirty="0" err="1"/>
              <a:t>configuration_register_setting</a:t>
            </a:r>
            <a:r>
              <a:rPr lang="en-US" sz="1050" dirty="0"/>
              <a:t>.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050" dirty="0"/>
              <a:t>Save the configuration changes.</a:t>
            </a:r>
          </a:p>
        </p:txBody>
      </p:sp>
    </p:spTree>
    <p:extLst>
      <p:ext uri="{BB962C8B-B14F-4D97-AF65-F5344CB8AC3E}">
        <p14:creationId xmlns:p14="http://schemas.microsoft.com/office/powerpoint/2010/main" val="2850117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Password Recovery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175" y="1064561"/>
            <a:ext cx="3533299" cy="1219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6235" y="2288697"/>
            <a:ext cx="3533299" cy="1219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175" y="3503295"/>
            <a:ext cx="3533298" cy="1224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 txBox="1">
            <a:spLocks/>
          </p:cNvSpPr>
          <p:nvPr/>
        </p:nvSpPr>
        <p:spPr>
          <a:xfrm>
            <a:off x="5074920" y="3898239"/>
            <a:ext cx="2647474" cy="434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Password Recovery Functionality is Disabled</a:t>
            </a:r>
            <a:endParaRPr lang="en-US" sz="13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 Placeholder 6"/>
          <p:cNvSpPr txBox="1">
            <a:spLocks/>
          </p:cNvSpPr>
          <p:nvPr/>
        </p:nvSpPr>
        <p:spPr>
          <a:xfrm>
            <a:off x="1400175" y="2617681"/>
            <a:ext cx="2647474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No Service Password Recovery</a:t>
            </a:r>
            <a:endParaRPr lang="en-US" sz="13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5052060" y="1245299"/>
            <a:ext cx="2647474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Disable Password Recovery</a:t>
            </a:r>
            <a:endParaRPr lang="en-US" sz="13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867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Determining the Type of Management Access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046" y="1153665"/>
            <a:ext cx="3959066" cy="1502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115" y="2764167"/>
            <a:ext cx="3158966" cy="2255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6"/>
          <p:cNvSpPr txBox="1">
            <a:spLocks/>
          </p:cNvSpPr>
          <p:nvPr/>
        </p:nvSpPr>
        <p:spPr>
          <a:xfrm>
            <a:off x="5477112" y="1197276"/>
            <a:ext cx="2255283" cy="141497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/>
              <a:t>In-Band Management:</a:t>
            </a:r>
          </a:p>
          <a:p>
            <a:r>
              <a:rPr lang="en-US" sz="900" dirty="0">
                <a:cs typeface="Courier New" panose="02070309020205020404" pitchFamily="49" charset="0"/>
              </a:rPr>
              <a:t>Apply only to devices that need to be managed or monitored</a:t>
            </a:r>
          </a:p>
          <a:p>
            <a:r>
              <a:rPr lang="en-US" sz="900" dirty="0">
                <a:cs typeface="Courier New" panose="02070309020205020404" pitchFamily="49" charset="0"/>
              </a:rPr>
              <a:t>Use IPsec, SSH, or SSL when possible</a:t>
            </a:r>
          </a:p>
          <a:p>
            <a:r>
              <a:rPr lang="en-US" sz="900" dirty="0">
                <a:cs typeface="Courier New" panose="02070309020205020404" pitchFamily="49" charset="0"/>
              </a:rPr>
              <a:t>Decide whether the management channel need to be open at all time</a:t>
            </a:r>
          </a:p>
        </p:txBody>
      </p:sp>
      <p:sp>
        <p:nvSpPr>
          <p:cNvPr id="6" name="Text Placeholder 6"/>
          <p:cNvSpPr txBox="1">
            <a:spLocks/>
          </p:cNvSpPr>
          <p:nvPr/>
        </p:nvSpPr>
        <p:spPr>
          <a:xfrm>
            <a:off x="1863091" y="3408087"/>
            <a:ext cx="2486024" cy="9680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/>
              <a:t>Out-of-Band (OOB) Management:</a:t>
            </a:r>
          </a:p>
          <a:p>
            <a:r>
              <a:rPr lang="en-US" sz="900" dirty="0">
                <a:cs typeface="Courier New" panose="02070309020205020404" pitchFamily="49" charset="0"/>
              </a:rPr>
              <a:t>Provide highest level of security</a:t>
            </a:r>
          </a:p>
          <a:p>
            <a:r>
              <a:rPr lang="en-US" sz="900" dirty="0">
                <a:cs typeface="Courier New" panose="02070309020205020404" pitchFamily="49" charset="0"/>
              </a:rPr>
              <a:t>Mitigate the risk of passing management protocols over the production network</a:t>
            </a:r>
          </a:p>
        </p:txBody>
      </p:sp>
    </p:spTree>
    <p:extLst>
      <p:ext uri="{BB962C8B-B14F-4D97-AF65-F5344CB8AC3E}">
        <p14:creationId xmlns:p14="http://schemas.microsoft.com/office/powerpoint/2010/main" val="59968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Introduction to Syslog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469" y="1318023"/>
            <a:ext cx="3929063" cy="2507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01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Syslog Operation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086" y="1149319"/>
            <a:ext cx="5477828" cy="3798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1412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Syslog Message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3282" y="1171386"/>
            <a:ext cx="3916627" cy="125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900764"/>
            <a:ext cx="3805475" cy="18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6"/>
          <p:cNvSpPr txBox="1">
            <a:spLocks/>
          </p:cNvSpPr>
          <p:nvPr/>
        </p:nvSpPr>
        <p:spPr>
          <a:xfrm>
            <a:off x="2448988" y="948119"/>
            <a:ext cx="4496990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Security Levels</a:t>
            </a:r>
            <a:endParaRPr lang="en-US" sz="13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2523282" y="2679995"/>
            <a:ext cx="4496990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Example Severity Levels</a:t>
            </a:r>
            <a:endParaRPr lang="en-US" sz="13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999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Syslog Message (Cont.)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469" y="1217835"/>
            <a:ext cx="6215063" cy="358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4287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Syslog Systems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784" y="1107755"/>
            <a:ext cx="5756434" cy="3912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1218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Configuring System Logging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763" y="1156574"/>
            <a:ext cx="5707856" cy="578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763" y="2132410"/>
            <a:ext cx="5679281" cy="592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762" y="3073956"/>
            <a:ext cx="5715000" cy="607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762" y="4039791"/>
            <a:ext cx="5715000" cy="607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6"/>
          <p:cNvSpPr txBox="1">
            <a:spLocks/>
          </p:cNvSpPr>
          <p:nvPr/>
        </p:nvSpPr>
        <p:spPr>
          <a:xfrm>
            <a:off x="1520191" y="948119"/>
            <a:ext cx="4496990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Step 1</a:t>
            </a:r>
            <a:endParaRPr lang="en-US" sz="13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1520190" y="1894666"/>
            <a:ext cx="4496990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Step 2 (optional)</a:t>
            </a:r>
            <a:endParaRPr lang="en-US" sz="13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 Placeholder 6"/>
          <p:cNvSpPr txBox="1">
            <a:spLocks/>
          </p:cNvSpPr>
          <p:nvPr/>
        </p:nvSpPr>
        <p:spPr>
          <a:xfrm>
            <a:off x="1523763" y="2845356"/>
            <a:ext cx="4496990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Step 3</a:t>
            </a:r>
            <a:endParaRPr lang="en-US" sz="13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 Placeholder 6"/>
          <p:cNvSpPr txBox="1">
            <a:spLocks/>
          </p:cNvSpPr>
          <p:nvPr/>
        </p:nvSpPr>
        <p:spPr>
          <a:xfrm>
            <a:off x="1520189" y="3802047"/>
            <a:ext cx="4496990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Step 4</a:t>
            </a:r>
            <a:endParaRPr lang="en-US" sz="13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193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Introduction to SNMP</a:t>
            </a: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710" y="1275606"/>
            <a:ext cx="4650581" cy="3707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8887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Management Information Base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991" y="1154683"/>
            <a:ext cx="4722019" cy="3793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Placeholder 6"/>
          <p:cNvSpPr txBox="1">
            <a:spLocks/>
          </p:cNvSpPr>
          <p:nvPr/>
        </p:nvSpPr>
        <p:spPr>
          <a:xfrm>
            <a:off x="2210992" y="948119"/>
            <a:ext cx="1240869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</a:rPr>
              <a:t>Cisco MIB Hierarchy</a:t>
            </a:r>
            <a:endParaRPr lang="en-US" sz="135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44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78416"/>
            <a:ext cx="6441646" cy="62865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SNMP Versions</a:t>
            </a: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291" y="1525885"/>
            <a:ext cx="4493419" cy="248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0292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6" y="78416"/>
            <a:ext cx="6634289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SNMP Vulnerabilities</a:t>
            </a: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5" y="1119758"/>
            <a:ext cx="5200650" cy="3828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0561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6" y="78416"/>
            <a:ext cx="6634289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SNMPv3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005786" y="1073243"/>
            <a:ext cx="5158502" cy="2578627"/>
            <a:chOff x="631508" y="1462088"/>
            <a:chExt cx="7869555" cy="3933825"/>
          </a:xfrm>
        </p:grpSpPr>
        <p:pic>
          <p:nvPicPr>
            <p:cNvPr id="3686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2938" y="1462088"/>
              <a:ext cx="7858125" cy="3933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Text Placeholder 6"/>
            <p:cNvSpPr txBox="1">
              <a:spLocks/>
            </p:cNvSpPr>
            <p:nvPr/>
          </p:nvSpPr>
          <p:spPr>
            <a:xfrm>
              <a:off x="631508" y="1619250"/>
              <a:ext cx="4793931" cy="1268730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5000"/>
                </a:lnSpc>
                <a:spcBef>
                  <a:spcPts val="1440"/>
                </a:spcBef>
                <a:buClr>
                  <a:srgbClr val="493B93"/>
                </a:buClr>
                <a:buSzPct val="90000"/>
                <a:buFont typeface="Arial" pitchFamily="34" charset="0"/>
                <a:buChar char="•"/>
                <a:tabLst/>
                <a:defRPr lang="en-US" sz="22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1pPr>
              <a:lvl2pPr marL="406400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Clr>
                  <a:schemeClr val="tx2"/>
                </a:buClr>
                <a:buFontTx/>
                <a:buNone/>
                <a:defRPr lang="en-US" sz="18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2pPr>
              <a:lvl3pPr marL="571500" indent="-1588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6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3pPr>
              <a:lvl4pPr marL="688975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4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4pPr>
              <a:lvl5pPr marL="801688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400" kern="1200" dirty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050" b="1" dirty="0">
                  <a:solidFill>
                    <a:srgbClr val="6B6B6B"/>
                  </a:solidFill>
                </a:rPr>
                <a:t>Message integrity &amp; authentication</a:t>
              </a:r>
            </a:p>
            <a:p>
              <a:pPr marL="0" indent="0">
                <a:buNone/>
              </a:pPr>
              <a:r>
                <a:rPr lang="en-US" sz="1050" b="1" dirty="0">
                  <a:solidFill>
                    <a:srgbClr val="6B6B6B"/>
                  </a:solidFill>
                  <a:cs typeface="Courier New" panose="02070309020205020404" pitchFamily="49" charset="0"/>
                </a:rPr>
                <a:t>Encryption</a:t>
              </a:r>
            </a:p>
            <a:p>
              <a:pPr marL="0" indent="0">
                <a:buNone/>
              </a:pPr>
              <a:r>
                <a:rPr lang="en-US" sz="1050" b="1" dirty="0">
                  <a:solidFill>
                    <a:srgbClr val="6B6B6B"/>
                  </a:solidFill>
                  <a:cs typeface="Courier New" panose="02070309020205020404" pitchFamily="49" charset="0"/>
                </a:rPr>
                <a:t>Access control</a:t>
              </a:r>
            </a:p>
          </p:txBody>
        </p:sp>
      </p:grpSp>
      <p:sp>
        <p:nvSpPr>
          <p:cNvPr id="6" name="Text Placeholder 6"/>
          <p:cNvSpPr txBox="1">
            <a:spLocks/>
          </p:cNvSpPr>
          <p:nvPr/>
        </p:nvSpPr>
        <p:spPr>
          <a:xfrm>
            <a:off x="1749316" y="3733160"/>
            <a:ext cx="5678933" cy="12618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/>
              <a:t>Transmissions from manager to agent may be authenticated to guarantee the identity of the sender and the integrity and timeliness of a message.</a:t>
            </a:r>
          </a:p>
          <a:p>
            <a:r>
              <a:rPr lang="en-US" sz="1050" dirty="0"/>
              <a:t>SNMPv3 messages may be encrypted to ensure privacy.</a:t>
            </a:r>
          </a:p>
          <a:p>
            <a:r>
              <a:rPr lang="en-US" sz="1050" dirty="0"/>
              <a:t>Agent may enforce access control to restrict each principal to certain actions on specific portions of data.</a:t>
            </a:r>
          </a:p>
        </p:txBody>
      </p:sp>
    </p:spTree>
    <p:extLst>
      <p:ext uri="{BB962C8B-B14F-4D97-AF65-F5344CB8AC3E}">
        <p14:creationId xmlns:p14="http://schemas.microsoft.com/office/powerpoint/2010/main" val="510678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6" y="78416"/>
            <a:ext cx="6634289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Configuring SNMPv3 Security</a:t>
            </a: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13" y="1374427"/>
            <a:ext cx="5743575" cy="335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3263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6" y="78416"/>
            <a:ext cx="6634289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Secure SNMPv3 Configuration Example</a:t>
            </a: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185" y="1381571"/>
            <a:ext cx="6193631" cy="3350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9538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6" y="78416"/>
            <a:ext cx="6634289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Verifying the SNMPv3 Configuration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998" y="1104676"/>
            <a:ext cx="4622006" cy="384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8820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6" y="78416"/>
            <a:ext cx="6634289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Network Time Protocol</a:t>
            </a: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794" y="1932385"/>
            <a:ext cx="5586413" cy="1278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2790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6" y="78416"/>
            <a:ext cx="6634289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NTP Server</a:t>
            </a:r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964" y="1008983"/>
            <a:ext cx="4171950" cy="1058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965" y="2211710"/>
            <a:ext cx="2024539" cy="881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965" y="3312473"/>
            <a:ext cx="4587716" cy="1427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6"/>
          <p:cNvSpPr txBox="1">
            <a:spLocks/>
          </p:cNvSpPr>
          <p:nvPr/>
        </p:nvSpPr>
        <p:spPr>
          <a:xfrm>
            <a:off x="1228724" y="1265156"/>
            <a:ext cx="1920240" cy="266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Sample NTP Topology</a:t>
            </a:r>
            <a:endParaRPr lang="en-US" sz="13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1291591" y="2433812"/>
            <a:ext cx="1857374" cy="4246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Sample NTP Configuration on R1</a:t>
            </a:r>
            <a:endParaRPr lang="en-US" sz="13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 Placeholder 6"/>
          <p:cNvSpPr txBox="1">
            <a:spLocks/>
          </p:cNvSpPr>
          <p:nvPr/>
        </p:nvSpPr>
        <p:spPr>
          <a:xfrm>
            <a:off x="1371599" y="3774745"/>
            <a:ext cx="1777365" cy="5028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Sample NTP Configuration on R2</a:t>
            </a:r>
            <a:endParaRPr lang="en-US" sz="13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761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6" y="78416"/>
            <a:ext cx="6634289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NTP Authentication</a:t>
            </a: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681" y="1678781"/>
            <a:ext cx="5100638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527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pt-PT" sz="4950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r>
              <a:rPr lang="pt-PT" sz="4950" dirty="0">
                <a:solidFill>
                  <a:schemeClr val="tx2"/>
                </a:solidFill>
              </a:rPr>
              <a:t>DÚVIDAS ?!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970691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13934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1572</TotalTime>
  <Words>1329</Words>
  <Application>Microsoft Office PowerPoint</Application>
  <PresentationFormat>Apresentação no Ecrã (16:9)</PresentationFormat>
  <Paragraphs>302</Paragraphs>
  <Slides>51</Slides>
  <Notes>48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3</vt:i4>
      </vt:variant>
      <vt:variant>
        <vt:lpstr>Títulos dos diapositivos</vt:lpstr>
      </vt:variant>
      <vt:variant>
        <vt:i4>51</vt:i4>
      </vt:variant>
    </vt:vector>
  </HeadingPairs>
  <TitlesOfParts>
    <vt:vector size="57" baseType="lpstr">
      <vt:lpstr>Arial</vt:lpstr>
      <vt:lpstr>Calibri</vt:lpstr>
      <vt:lpstr>Courier New</vt:lpstr>
      <vt:lpstr>Office Theme</vt:lpstr>
      <vt:lpstr>1_Office Theme</vt:lpstr>
      <vt:lpstr>2_Office Theme</vt:lpstr>
      <vt:lpstr>Apresentação do PowerPoint</vt:lpstr>
      <vt:lpstr>Edge Router Security Approaches</vt:lpstr>
      <vt:lpstr>Three Areas of Router Security</vt:lpstr>
      <vt:lpstr>Secure Administrative Access</vt:lpstr>
      <vt:lpstr>Secure Local and Remote Access</vt:lpstr>
      <vt:lpstr>Secure Local and Remote Access (Cont.)</vt:lpstr>
      <vt:lpstr>Strong Passwords</vt:lpstr>
      <vt:lpstr>Increasing Access Security</vt:lpstr>
      <vt:lpstr>Secret Password Algorithms</vt:lpstr>
      <vt:lpstr>Securing Line Access</vt:lpstr>
      <vt:lpstr>Enhancing the Login Process</vt:lpstr>
      <vt:lpstr>Configuring Login Enhancement Features</vt:lpstr>
      <vt:lpstr>Enable Login Enhancements</vt:lpstr>
      <vt:lpstr>Logging Failed Attempts</vt:lpstr>
      <vt:lpstr>Steps for Configuring SSH</vt:lpstr>
      <vt:lpstr>Modifying the SSH Configuration</vt:lpstr>
      <vt:lpstr>Connecting to an SSH-Enabled Router</vt:lpstr>
      <vt:lpstr>Limiting Command Availability</vt:lpstr>
      <vt:lpstr>Configuring and Assigning Privilege Levels</vt:lpstr>
      <vt:lpstr>Limitations of Privilege Levels</vt:lpstr>
      <vt:lpstr>Role-Based CLI Access</vt:lpstr>
      <vt:lpstr>Role-Based Views</vt:lpstr>
      <vt:lpstr>Configuring Role-Based Views</vt:lpstr>
      <vt:lpstr>Configuring Role-Based CLI Superviews</vt:lpstr>
      <vt:lpstr>Verify Role-Based CLI Views</vt:lpstr>
      <vt:lpstr>Cisco IOS Resilient Configuration Feature</vt:lpstr>
      <vt:lpstr>Enabling the IOS Image Resilience Feature</vt:lpstr>
      <vt:lpstr>The Primary Bootset Image</vt:lpstr>
      <vt:lpstr>Configuring Secure Copy</vt:lpstr>
      <vt:lpstr>Recovering a Router Password</vt:lpstr>
      <vt:lpstr>Password Recovery</vt:lpstr>
      <vt:lpstr>Determining the Type of Management Access</vt:lpstr>
      <vt:lpstr>Introduction to Syslog</vt:lpstr>
      <vt:lpstr>Syslog Operation</vt:lpstr>
      <vt:lpstr>Syslog Message</vt:lpstr>
      <vt:lpstr>Syslog Message (Cont.)</vt:lpstr>
      <vt:lpstr>Syslog Systems</vt:lpstr>
      <vt:lpstr>Configuring System Logging</vt:lpstr>
      <vt:lpstr>Introduction to SNMP</vt:lpstr>
      <vt:lpstr>Management Information Base</vt:lpstr>
      <vt:lpstr>SNMP Versions</vt:lpstr>
      <vt:lpstr>SNMP Vulnerabilities</vt:lpstr>
      <vt:lpstr>SNMPv3</vt:lpstr>
      <vt:lpstr>Configuring SNMPv3 Security</vt:lpstr>
      <vt:lpstr>Secure SNMPv3 Configuration Example</vt:lpstr>
      <vt:lpstr>Verifying the SNMPv3 Configuration</vt:lpstr>
      <vt:lpstr>Network Time Protocol</vt:lpstr>
      <vt:lpstr>NTP Server</vt:lpstr>
      <vt:lpstr>NTP Authentication</vt:lpstr>
      <vt:lpstr>Apresentação do PowerPoint</vt:lpstr>
      <vt:lpstr>Apresentação do PowerPoint</vt:lpstr>
    </vt:vector>
  </TitlesOfParts>
  <Company>Universidade da Madeira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Marco Bruno Ferreira Câmara</dc:creator>
  <cp:lastModifiedBy>Filipe André Martins de Freitas</cp:lastModifiedBy>
  <cp:revision>165</cp:revision>
  <dcterms:created xsi:type="dcterms:W3CDTF">2015-11-24T13:06:15Z</dcterms:created>
  <dcterms:modified xsi:type="dcterms:W3CDTF">2018-11-25T12:19:18Z</dcterms:modified>
</cp:coreProperties>
</file>