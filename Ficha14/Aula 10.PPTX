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  <p:sldMasterId id="2147483672" r:id="rId3"/>
  </p:sldMasterIdLst>
  <p:notesMasterIdLst>
    <p:notesMasterId r:id="rId55"/>
  </p:notesMasterIdLst>
  <p:sldIdLst>
    <p:sldId id="288" r:id="rId4"/>
    <p:sldId id="262" r:id="rId5"/>
    <p:sldId id="290" r:id="rId6"/>
    <p:sldId id="291" r:id="rId7"/>
    <p:sldId id="292" r:id="rId8"/>
    <p:sldId id="293" r:id="rId9"/>
    <p:sldId id="294" r:id="rId10"/>
    <p:sldId id="295" r:id="rId11"/>
    <p:sldId id="296" r:id="rId12"/>
    <p:sldId id="297" r:id="rId13"/>
    <p:sldId id="298" r:id="rId14"/>
    <p:sldId id="299" r:id="rId15"/>
    <p:sldId id="300" r:id="rId16"/>
    <p:sldId id="301" r:id="rId17"/>
    <p:sldId id="302" r:id="rId18"/>
    <p:sldId id="303" r:id="rId19"/>
    <p:sldId id="304" r:id="rId20"/>
    <p:sldId id="305" r:id="rId21"/>
    <p:sldId id="306" r:id="rId22"/>
    <p:sldId id="307" r:id="rId23"/>
    <p:sldId id="308" r:id="rId24"/>
    <p:sldId id="309" r:id="rId25"/>
    <p:sldId id="310" r:id="rId26"/>
    <p:sldId id="311" r:id="rId27"/>
    <p:sldId id="312" r:id="rId28"/>
    <p:sldId id="313" r:id="rId29"/>
    <p:sldId id="314" r:id="rId30"/>
    <p:sldId id="315" r:id="rId31"/>
    <p:sldId id="316" r:id="rId32"/>
    <p:sldId id="318" r:id="rId33"/>
    <p:sldId id="317" r:id="rId34"/>
    <p:sldId id="319" r:id="rId35"/>
    <p:sldId id="320" r:id="rId36"/>
    <p:sldId id="321" r:id="rId37"/>
    <p:sldId id="322" r:id="rId38"/>
    <p:sldId id="323" r:id="rId39"/>
    <p:sldId id="324" r:id="rId40"/>
    <p:sldId id="325" r:id="rId41"/>
    <p:sldId id="326" r:id="rId42"/>
    <p:sldId id="327" r:id="rId43"/>
    <p:sldId id="328" r:id="rId44"/>
    <p:sldId id="329" r:id="rId45"/>
    <p:sldId id="330" r:id="rId46"/>
    <p:sldId id="331" r:id="rId47"/>
    <p:sldId id="332" r:id="rId48"/>
    <p:sldId id="333" r:id="rId49"/>
    <p:sldId id="334" r:id="rId50"/>
    <p:sldId id="335" r:id="rId51"/>
    <p:sldId id="336" r:id="rId52"/>
    <p:sldId id="286" r:id="rId53"/>
    <p:sldId id="289" r:id="rId54"/>
  </p:sldIdLst>
  <p:sldSz cx="9144000" cy="5143500" type="screen16x9"/>
  <p:notesSz cx="6858000" cy="9144000"/>
  <p:defaultTextStyle>
    <a:defPPr>
      <a:defRPr lang="pt-PT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4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Objects="1">
      <p:cViewPr>
        <p:scale>
          <a:sx n="120" d="100"/>
          <a:sy n="120" d="100"/>
        </p:scale>
        <p:origin x="84" y="-49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presProps" Target="presProps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DB759D-A50D-45EA-A2E1-CFE97077A116}" type="datetimeFigureOut">
              <a:rPr lang="pt-PT" smtClean="0"/>
              <a:t>04/01/2019</a:t>
            </a:fld>
            <a:endParaRPr lang="pt-PT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65229B-2441-4A1F-B51A-A7FEE15411D5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7256860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pt-PT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PT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2E76D-59F5-4847-9801-37181729402E}" type="datetimeFigureOut">
              <a:rPr lang="pt-PT" smtClean="0"/>
              <a:pPr/>
              <a:t>04/01/2019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2376D-DD23-1341-9887-282CF172C372}" type="slidenum">
              <a:rPr lang="pt-PT" smtClean="0"/>
              <a:pPr/>
              <a:t>‹#›</a:t>
            </a:fld>
            <a:endParaRPr lang="pt-PT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2E76D-59F5-4847-9801-37181729402E}" type="datetimeFigureOut">
              <a:rPr lang="pt-PT" smtClean="0"/>
              <a:pPr/>
              <a:t>04/01/2019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2376D-DD23-1341-9887-282CF172C372}" type="slidenum">
              <a:rPr lang="pt-PT" smtClean="0"/>
              <a:pPr/>
              <a:t>‹#›</a:t>
            </a:fld>
            <a:endParaRPr lang="pt-PT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PT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2E76D-59F5-4847-9801-37181729402E}" type="datetimeFigureOut">
              <a:rPr lang="pt-PT" smtClean="0"/>
              <a:pPr/>
              <a:t>04/01/2019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2376D-DD23-1341-9887-282CF172C372}" type="slidenum">
              <a:rPr lang="pt-PT" smtClean="0"/>
              <a:pPr/>
              <a:t>‹#›</a:t>
            </a:fld>
            <a:endParaRPr lang="pt-PT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2E76D-59F5-4847-9801-37181729402E}" type="datetimeFigureOut">
              <a:rPr lang="pt-PT" smtClean="0"/>
              <a:pPr/>
              <a:t>04/01/2019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2376D-DD23-1341-9887-282CF172C372}" type="slidenum">
              <a:rPr lang="pt-PT" smtClean="0"/>
              <a:pPr/>
              <a:t>‹#›</a:t>
            </a:fld>
            <a:endParaRPr lang="pt-PT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pt-PT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2E76D-59F5-4847-9801-37181729402E}" type="datetimeFigureOut">
              <a:rPr lang="pt-PT" smtClean="0"/>
              <a:pPr/>
              <a:t>04/01/2019</a:t>
            </a:fld>
            <a:endParaRPr lang="pt-P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2376D-DD23-1341-9887-282CF172C372}" type="slidenum">
              <a:rPr lang="pt-PT" smtClean="0"/>
              <a:pPr/>
              <a:t>‹#›</a:t>
            </a:fld>
            <a:endParaRPr lang="pt-PT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2E76D-59F5-4847-9801-37181729402E}" type="datetimeFigureOut">
              <a:rPr lang="pt-PT" smtClean="0"/>
              <a:pPr/>
              <a:t>04/01/2019</a:t>
            </a:fld>
            <a:endParaRPr lang="pt-P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2376D-DD23-1341-9887-282CF172C372}" type="slidenum">
              <a:rPr lang="pt-PT" smtClean="0"/>
              <a:pPr/>
              <a:t>‹#›</a:t>
            </a:fld>
            <a:endParaRPr lang="pt-PT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2E76D-59F5-4847-9801-37181729402E}" type="datetimeFigureOut">
              <a:rPr lang="pt-PT" smtClean="0"/>
              <a:pPr/>
              <a:t>04/01/2019</a:t>
            </a:fld>
            <a:endParaRPr lang="pt-P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2376D-DD23-1341-9887-282CF172C372}" type="slidenum">
              <a:rPr lang="pt-PT" smtClean="0"/>
              <a:pPr/>
              <a:t>‹#›</a:t>
            </a:fld>
            <a:endParaRPr lang="pt-PT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PT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2E76D-59F5-4847-9801-37181729402E}" type="datetimeFigureOut">
              <a:rPr lang="pt-PT" smtClean="0"/>
              <a:pPr/>
              <a:t>04/01/2019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2376D-DD23-1341-9887-282CF172C372}" type="slidenum">
              <a:rPr lang="pt-PT" smtClean="0"/>
              <a:pPr/>
              <a:t>‹#›</a:t>
            </a:fld>
            <a:endParaRPr lang="pt-PT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PT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2E76D-59F5-4847-9801-37181729402E}" type="datetimeFigureOut">
              <a:rPr lang="pt-PT" smtClean="0"/>
              <a:pPr/>
              <a:t>04/01/2019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2376D-DD23-1341-9887-282CF172C372}" type="slidenum">
              <a:rPr lang="pt-PT" smtClean="0"/>
              <a:pPr/>
              <a:t>‹#›</a:t>
            </a:fld>
            <a:endParaRPr lang="pt-PT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2E76D-59F5-4847-9801-37181729402E}" type="datetimeFigureOut">
              <a:rPr lang="pt-PT" smtClean="0"/>
              <a:pPr/>
              <a:t>04/01/2019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2376D-DD23-1341-9887-282CF172C372}" type="slidenum">
              <a:rPr lang="pt-PT" smtClean="0"/>
              <a:pPr/>
              <a:t>‹#›</a:t>
            </a:fld>
            <a:endParaRPr lang="pt-PT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pt-PT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2E76D-59F5-4847-9801-37181729402E}" type="datetimeFigureOut">
              <a:rPr lang="pt-PT" smtClean="0"/>
              <a:pPr/>
              <a:t>04/01/2019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2376D-DD23-1341-9887-282CF172C372}" type="slidenum">
              <a:rPr lang="pt-PT" smtClean="0"/>
              <a:pPr/>
              <a:t>‹#›</a:t>
            </a:fld>
            <a:endParaRPr lang="pt-PT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pt-PT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PT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AB2E76D-59F5-4847-9801-37181729402E}" type="datetimeFigureOut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04/01/2019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D2376D-DD23-1341-9887-282CF172C372}" type="slidenum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793936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AB2E76D-59F5-4847-9801-37181729402E}" type="datetimeFigureOut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04/01/2019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D2376D-DD23-1341-9887-282CF172C372}" type="slidenum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269197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PT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AB2E76D-59F5-4847-9801-37181729402E}" type="datetimeFigureOut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04/01/2019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D2376D-DD23-1341-9887-282CF172C372}" type="slidenum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991572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AB2E76D-59F5-4847-9801-37181729402E}" type="datetimeFigureOut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04/01/2019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D2376D-DD23-1341-9887-282CF172C372}" type="slidenum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08001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pt-PT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AB2E76D-59F5-4847-9801-37181729402E}" type="datetimeFigureOut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04/01/2019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D2376D-DD23-1341-9887-282CF172C372}" type="slidenum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251835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AB2E76D-59F5-4847-9801-37181729402E}" type="datetimeFigureOut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04/01/2019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D2376D-DD23-1341-9887-282CF172C372}" type="slidenum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6526817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AB2E76D-59F5-4847-9801-37181729402E}" type="datetimeFigureOut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04/01/2019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D2376D-DD23-1341-9887-282CF172C372}" type="slidenum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5661704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PT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AB2E76D-59F5-4847-9801-37181729402E}" type="datetimeFigureOut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04/01/2019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D2376D-DD23-1341-9887-282CF172C372}" type="slidenum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0511464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PT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AB2E76D-59F5-4847-9801-37181729402E}" type="datetimeFigureOut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04/01/2019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D2376D-DD23-1341-9887-282CF172C372}" type="slidenum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0761317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AB2E76D-59F5-4847-9801-37181729402E}" type="datetimeFigureOut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04/01/2019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D2376D-DD23-1341-9887-282CF172C372}" type="slidenum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4350095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pt-PT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AB2E76D-59F5-4847-9801-37181729402E}" type="datetimeFigureOut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04/01/2019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D2376D-DD23-1341-9887-282CF172C372}" type="slidenum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6624022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pt-PT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PT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AB2E76D-59F5-4847-9801-37181729402E}" type="datetimeFigureOut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04/01/2019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D2376D-DD23-1341-9887-282CF172C372}" type="slidenum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8216849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AB2E76D-59F5-4847-9801-37181729402E}" type="datetimeFigureOut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04/01/2019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D2376D-DD23-1341-9887-282CF172C372}" type="slidenum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3382273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PT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AB2E76D-59F5-4847-9801-37181729402E}" type="datetimeFigureOut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04/01/2019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D2376D-DD23-1341-9887-282CF172C372}" type="slidenum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460084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AB2E76D-59F5-4847-9801-37181729402E}" type="datetimeFigureOut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04/01/2019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D2376D-DD23-1341-9887-282CF172C372}" type="slidenum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5171534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pt-PT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AB2E76D-59F5-4847-9801-37181729402E}" type="datetimeFigureOut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04/01/2019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D2376D-DD23-1341-9887-282CF172C372}" type="slidenum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867420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AB2E76D-59F5-4847-9801-37181729402E}" type="datetimeFigureOut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04/01/2019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D2376D-DD23-1341-9887-282CF172C372}" type="slidenum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1449355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AB2E76D-59F5-4847-9801-37181729402E}" type="datetimeFigureOut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04/01/2019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D2376D-DD23-1341-9887-282CF172C372}" type="slidenum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0288734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PT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AB2E76D-59F5-4847-9801-37181729402E}" type="datetimeFigureOut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04/01/2019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D2376D-DD23-1341-9887-282CF172C372}" type="slidenum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9030117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PT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AB2E76D-59F5-4847-9801-37181729402E}" type="datetimeFigureOut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04/01/2019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D2376D-DD23-1341-9887-282CF172C372}" type="slidenum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3109659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AB2E76D-59F5-4847-9801-37181729402E}" type="datetimeFigureOut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04/01/2019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D2376D-DD23-1341-9887-282CF172C372}" type="slidenum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0512068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pt-PT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AB2E76D-59F5-4847-9801-37181729402E}" type="datetimeFigureOut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04/01/2019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D2376D-DD23-1341-9887-282CF172C372}" type="slidenum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26490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B2E76D-59F5-4847-9801-37181729402E}" type="datetimeFigureOut">
              <a:rPr lang="pt-PT" smtClean="0"/>
              <a:pPr/>
              <a:t>04/01/2019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D2376D-DD23-1341-9887-282CF172C372}" type="slidenum">
              <a:rPr lang="pt-PT" smtClean="0"/>
              <a:pPr/>
              <a:t>‹#›</a:t>
            </a:fld>
            <a:endParaRPr lang="pt-P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AB2E76D-59F5-4847-9801-37181729402E}" type="datetimeFigureOut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04/01/2019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D2376D-DD23-1341-9887-282CF172C372}" type="slidenum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017833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AB2E76D-59F5-4847-9801-37181729402E}" type="datetimeFigureOut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04/01/2019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D2376D-DD23-1341-9887-282CF172C372}" type="slidenum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59386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owasp.org/index.php/Main_Page" TargetMode="Externa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57400" y="2417117"/>
            <a:ext cx="50292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000" b="1" dirty="0">
                <a:solidFill>
                  <a:schemeClr val="bg1"/>
                </a:solidFill>
              </a:rPr>
              <a:t>Segurança </a:t>
            </a:r>
            <a:r>
              <a:rPr lang="pt-PT" sz="3000" b="1" dirty="0" err="1">
                <a:solidFill>
                  <a:schemeClr val="bg1"/>
                </a:solidFill>
              </a:rPr>
              <a:t>Informatica</a:t>
            </a:r>
            <a:r>
              <a:rPr lang="pt-PT" sz="3000" b="1">
                <a:solidFill>
                  <a:schemeClr val="bg1"/>
                </a:solidFill>
              </a:rPr>
              <a:t> </a:t>
            </a:r>
            <a:endParaRPr lang="pt-PT" sz="3000" b="1" dirty="0"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57400" y="1962150"/>
            <a:ext cx="50292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1500" dirty="0" err="1">
                <a:solidFill>
                  <a:schemeClr val="bg1"/>
                </a:solidFill>
              </a:rPr>
              <a:t>CTeSP</a:t>
            </a:r>
            <a:r>
              <a:rPr lang="pt-PT" sz="1500">
                <a:solidFill>
                  <a:schemeClr val="bg1"/>
                </a:solidFill>
              </a:rPr>
              <a:t> Tecnologias e Programação de Sistemas de Informação</a:t>
            </a:r>
            <a:endParaRPr lang="pt-PT" sz="1500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057400" y="3943350"/>
            <a:ext cx="50292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1500" dirty="0">
                <a:solidFill>
                  <a:schemeClr val="bg1"/>
                </a:solidFill>
              </a:rPr>
              <a:t>Filipe André Martins de Freitas</a:t>
            </a:r>
          </a:p>
        </p:txBody>
      </p:sp>
    </p:spTree>
    <p:extLst>
      <p:ext uri="{BB962C8B-B14F-4D97-AF65-F5344CB8AC3E}">
        <p14:creationId xmlns:p14="http://schemas.microsoft.com/office/powerpoint/2010/main" val="1815157044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79004"/>
            <a:ext cx="6858000" cy="628650"/>
          </a:xfrm>
          <a:solidFill>
            <a:schemeClr val="bg1"/>
          </a:solidFill>
        </p:spPr>
        <p:txBody>
          <a:bodyPr anchor="ctr"/>
          <a:lstStyle/>
          <a:p>
            <a:pPr>
              <a:spcAft>
                <a:spcPts val="450"/>
              </a:spcAft>
            </a:pPr>
            <a:r>
              <a:rPr lang="pt-PT" sz="2100" dirty="0">
                <a:solidFill>
                  <a:srgbClr val="00B0F0"/>
                </a:solidFill>
                <a:latin typeface="Arial"/>
                <a:cs typeface="Arial"/>
              </a:rPr>
              <a:t>Princípios Gerais de Segurança em Aplicações e Riscos</a:t>
            </a:r>
            <a:endParaRPr lang="pt-PT" sz="2100" dirty="0">
              <a:solidFill>
                <a:srgbClr val="00B0F0"/>
              </a:solidFill>
              <a:latin typeface="Arial"/>
              <a:cs typeface="Arial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1485900" y="1839292"/>
            <a:ext cx="6172200" cy="3108722"/>
          </a:xfrm>
        </p:spPr>
        <p:txBody>
          <a:bodyPr>
            <a:normAutofit fontScale="92500" lnSpcReduction="10000"/>
          </a:bodyPr>
          <a:lstStyle/>
          <a:p>
            <a:r>
              <a:rPr lang="pt-PT" sz="1400" dirty="0"/>
              <a:t>Construir software seguro exige o conhecimento básico dos princípios de segurança. </a:t>
            </a:r>
            <a:endParaRPr lang="pt-PT" sz="1400" dirty="0" smtClean="0"/>
          </a:p>
          <a:p>
            <a:r>
              <a:rPr lang="pt-PT" sz="1400" dirty="0" smtClean="0"/>
              <a:t>O </a:t>
            </a:r>
            <a:r>
              <a:rPr lang="pt-PT" sz="1400" dirty="0"/>
              <a:t>objetivo da segurança em aplicações é manter a </a:t>
            </a:r>
            <a:r>
              <a:rPr lang="pt-PT" sz="1400" i="1" dirty="0"/>
              <a:t>confidencialidade</a:t>
            </a:r>
            <a:r>
              <a:rPr lang="pt-PT" sz="1400" dirty="0"/>
              <a:t>, </a:t>
            </a:r>
            <a:r>
              <a:rPr lang="pt-PT" sz="1400" i="1" dirty="0"/>
              <a:t>integridade </a:t>
            </a:r>
            <a:r>
              <a:rPr lang="pt-PT" sz="1400" dirty="0"/>
              <a:t>e </a:t>
            </a:r>
            <a:r>
              <a:rPr lang="pt-PT" sz="1400" i="1" dirty="0" smtClean="0"/>
              <a:t>disponibilidade </a:t>
            </a:r>
            <a:r>
              <a:rPr lang="pt-PT" sz="1400" dirty="0" smtClean="0"/>
              <a:t>dos </a:t>
            </a:r>
            <a:r>
              <a:rPr lang="pt-PT" sz="1400" dirty="0"/>
              <a:t>recursos de informação a fim de permitir que as operações de negócios sejam bem sucedidas. </a:t>
            </a:r>
            <a:endParaRPr lang="pt-PT" sz="1400" dirty="0" smtClean="0"/>
          </a:p>
          <a:p>
            <a:r>
              <a:rPr lang="pt-PT" sz="1400" dirty="0" smtClean="0"/>
              <a:t>Esse</a:t>
            </a:r>
            <a:r>
              <a:rPr lang="pt-PT" sz="1400" dirty="0"/>
              <a:t> </a:t>
            </a:r>
            <a:r>
              <a:rPr lang="pt-PT" sz="1400" dirty="0" smtClean="0"/>
              <a:t>objetivo </a:t>
            </a:r>
            <a:r>
              <a:rPr lang="pt-PT" sz="1400" dirty="0"/>
              <a:t>é alcançado através da implementação de </a:t>
            </a:r>
            <a:r>
              <a:rPr lang="pt-PT" sz="1400" i="1" dirty="0"/>
              <a:t>mecanismos de segurança</a:t>
            </a:r>
            <a:r>
              <a:rPr lang="pt-PT" sz="1400" dirty="0"/>
              <a:t>. </a:t>
            </a:r>
            <a:endParaRPr lang="pt-PT" sz="1400" dirty="0" smtClean="0"/>
          </a:p>
          <a:p>
            <a:r>
              <a:rPr lang="pt-PT" sz="1400" dirty="0" smtClean="0"/>
              <a:t>Deste modo</a:t>
            </a:r>
            <a:r>
              <a:rPr lang="pt-PT" sz="1400" dirty="0"/>
              <a:t>, risco é a combinação de fatores que ameaçam o sucesso do negócio. Isto pode ser </a:t>
            </a:r>
            <a:r>
              <a:rPr lang="pt-PT" sz="1400" dirty="0" smtClean="0"/>
              <a:t>descrito concetualmente </a:t>
            </a:r>
            <a:r>
              <a:rPr lang="pt-PT" sz="1400" dirty="0"/>
              <a:t>da seguinte forma: um </a:t>
            </a:r>
            <a:r>
              <a:rPr lang="pt-PT" sz="1400" i="1" dirty="0"/>
              <a:t>agente de ameaça </a:t>
            </a:r>
            <a:r>
              <a:rPr lang="pt-PT" sz="1400" dirty="0"/>
              <a:t>interage com um </a:t>
            </a:r>
            <a:r>
              <a:rPr lang="pt-PT" sz="1400" i="1" dirty="0"/>
              <a:t>sistema</a:t>
            </a:r>
            <a:r>
              <a:rPr lang="pt-PT" sz="1400" dirty="0"/>
              <a:t>, no qual pode haver </a:t>
            </a:r>
            <a:r>
              <a:rPr lang="pt-PT" sz="1400" dirty="0" smtClean="0"/>
              <a:t>uma </a:t>
            </a:r>
            <a:r>
              <a:rPr lang="pt-PT" sz="1400" i="1" dirty="0" smtClean="0"/>
              <a:t>vulnerabilidade </a:t>
            </a:r>
            <a:r>
              <a:rPr lang="pt-PT" sz="1400" dirty="0"/>
              <a:t>latente que quando </a:t>
            </a:r>
            <a:r>
              <a:rPr lang="pt-PT" sz="1400" i="1" dirty="0"/>
              <a:t>explorada </a:t>
            </a:r>
            <a:r>
              <a:rPr lang="pt-PT" sz="1400" dirty="0"/>
              <a:t>causa um </a:t>
            </a:r>
            <a:r>
              <a:rPr lang="pt-PT" sz="1400" i="1" dirty="0"/>
              <a:t>impacto</a:t>
            </a:r>
            <a:r>
              <a:rPr lang="pt-PT" sz="1400" dirty="0"/>
              <a:t>. </a:t>
            </a:r>
            <a:endParaRPr lang="pt-PT" sz="1400" dirty="0" smtClean="0"/>
          </a:p>
          <a:p>
            <a:r>
              <a:rPr lang="pt-PT" sz="1400" dirty="0" smtClean="0"/>
              <a:t>Como </a:t>
            </a:r>
            <a:r>
              <a:rPr lang="pt-PT" sz="1400" dirty="0"/>
              <a:t>isto pode parecer um </a:t>
            </a:r>
            <a:r>
              <a:rPr lang="pt-PT" sz="1400" dirty="0" smtClean="0"/>
              <a:t>conceito abstrato</a:t>
            </a:r>
            <a:r>
              <a:rPr lang="pt-PT" sz="1400" dirty="0"/>
              <a:t>, pense do seguinte modo: um ladrão de carros (agente de ameaça) passa por um </a:t>
            </a:r>
            <a:r>
              <a:rPr lang="pt-PT" sz="1400" dirty="0" smtClean="0"/>
              <a:t>estacionamento verificando </a:t>
            </a:r>
            <a:r>
              <a:rPr lang="pt-PT" sz="1400" dirty="0"/>
              <a:t>nos carros presentes (o sistema) a existência de portas destrancadas (a vulnerabilidade) e </a:t>
            </a:r>
            <a:r>
              <a:rPr lang="pt-PT" sz="1400" dirty="0" smtClean="0"/>
              <a:t>quando a </a:t>
            </a:r>
            <a:r>
              <a:rPr lang="pt-PT" sz="1400" dirty="0"/>
              <a:t>encontra, abre a porta (a exploração) e leva para si o que está dentro do carro (o impacto). Todos </a:t>
            </a:r>
            <a:r>
              <a:rPr lang="pt-PT" sz="1400" dirty="0" smtClean="0"/>
              <a:t>esses fatores </a:t>
            </a:r>
            <a:r>
              <a:rPr lang="pt-PT" sz="1400" dirty="0"/>
              <a:t>desempenham um papel no desenvolvimento de software seguro.</a:t>
            </a:r>
            <a:endParaRPr lang="pt-PT" sz="13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3349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79004"/>
            <a:ext cx="6858000" cy="628650"/>
          </a:xfrm>
          <a:solidFill>
            <a:schemeClr val="bg1"/>
          </a:solidFill>
        </p:spPr>
        <p:txBody>
          <a:bodyPr anchor="ctr"/>
          <a:lstStyle/>
          <a:p>
            <a:pPr>
              <a:spcAft>
                <a:spcPts val="450"/>
              </a:spcAft>
            </a:pPr>
            <a:r>
              <a:rPr lang="pt-PT" sz="2100" dirty="0">
                <a:solidFill>
                  <a:srgbClr val="00B0F0"/>
                </a:solidFill>
                <a:latin typeface="Arial"/>
                <a:cs typeface="Arial"/>
              </a:rPr>
              <a:t>Princípios Gerais de Segurança em Aplicações e Riscos</a:t>
            </a:r>
            <a:endParaRPr lang="pt-PT" sz="2100" dirty="0">
              <a:solidFill>
                <a:srgbClr val="00B0F0"/>
              </a:solidFill>
              <a:latin typeface="Arial"/>
              <a:cs typeface="Arial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1485900" y="1839292"/>
            <a:ext cx="6172200" cy="3108722"/>
          </a:xfrm>
        </p:spPr>
        <p:txBody>
          <a:bodyPr>
            <a:normAutofit fontScale="77500" lnSpcReduction="20000"/>
          </a:bodyPr>
          <a:lstStyle/>
          <a:p>
            <a:r>
              <a:rPr lang="pt-PT" sz="1400" dirty="0"/>
              <a:t>Existe uma diferença fundamental entre a abordagem adotada por uma equipa de desenvolvimento </a:t>
            </a:r>
            <a:r>
              <a:rPr lang="pt-PT" sz="1400" dirty="0" smtClean="0"/>
              <a:t>e a </a:t>
            </a:r>
            <a:r>
              <a:rPr lang="pt-PT" sz="1400" dirty="0"/>
              <a:t>abordagem que é adotada por alguém que está interessado em atacar uma aplicação. Uma equipa </a:t>
            </a:r>
            <a:r>
              <a:rPr lang="pt-PT" sz="1400" dirty="0" smtClean="0"/>
              <a:t>de desenvolvimento </a:t>
            </a:r>
            <a:r>
              <a:rPr lang="pt-PT" sz="1400" dirty="0"/>
              <a:t>normalmente desenvolve uma aplicação com base naquilo que ela pretende fazer. </a:t>
            </a:r>
            <a:r>
              <a:rPr lang="pt-PT" sz="1400" dirty="0" smtClean="0"/>
              <a:t>Isso significa </a:t>
            </a:r>
            <a:r>
              <a:rPr lang="pt-PT" sz="1400" dirty="0"/>
              <a:t>criar uma aplicação para executar tarefas específicas baseadas em requisitos funcionais e casos </a:t>
            </a:r>
            <a:r>
              <a:rPr lang="pt-PT" sz="1400" dirty="0" smtClean="0"/>
              <a:t>de uso </a:t>
            </a:r>
            <a:r>
              <a:rPr lang="pt-PT" sz="1400" dirty="0"/>
              <a:t>documentados. </a:t>
            </a:r>
            <a:endParaRPr lang="pt-PT" sz="1400" dirty="0" smtClean="0"/>
          </a:p>
          <a:p>
            <a:r>
              <a:rPr lang="pt-PT" sz="1400" dirty="0" smtClean="0"/>
              <a:t>Um </a:t>
            </a:r>
            <a:r>
              <a:rPr lang="pt-PT" sz="1400" dirty="0"/>
              <a:t>atacante, por outro lado, está mais interessado no que a aplicação pode ser levada </a:t>
            </a:r>
            <a:r>
              <a:rPr lang="pt-PT" sz="1400" dirty="0" smtClean="0"/>
              <a:t>a fazer </a:t>
            </a:r>
            <a:r>
              <a:rPr lang="pt-PT" sz="1400" dirty="0"/>
              <a:t>e parte do princípio que "qualquer ação não expressamente proibida, é permitida". </a:t>
            </a:r>
            <a:endParaRPr lang="pt-PT" sz="1400" dirty="0" smtClean="0"/>
          </a:p>
          <a:p>
            <a:r>
              <a:rPr lang="pt-PT" sz="1400" dirty="0" smtClean="0"/>
              <a:t>Para </a:t>
            </a:r>
            <a:r>
              <a:rPr lang="pt-PT" sz="1400" dirty="0"/>
              <a:t>resolver </a:t>
            </a:r>
            <a:r>
              <a:rPr lang="pt-PT" sz="1400" dirty="0" smtClean="0"/>
              <a:t>isso, alguns </a:t>
            </a:r>
            <a:r>
              <a:rPr lang="pt-PT" sz="1400" dirty="0"/>
              <a:t>elementos adicionais precisam ser integrados nas fases iniciais do ciclo de vida do software. </a:t>
            </a:r>
            <a:r>
              <a:rPr lang="pt-PT" sz="1400" dirty="0" smtClean="0"/>
              <a:t>Esses novos </a:t>
            </a:r>
            <a:r>
              <a:rPr lang="pt-PT" sz="1400" dirty="0"/>
              <a:t>elementos são </a:t>
            </a:r>
            <a:r>
              <a:rPr lang="pt-PT" sz="1400" i="1" dirty="0"/>
              <a:t>requisitos de segurança </a:t>
            </a:r>
            <a:r>
              <a:rPr lang="pt-PT" sz="1400" dirty="0"/>
              <a:t>e </a:t>
            </a:r>
            <a:r>
              <a:rPr lang="pt-PT" sz="1400" i="1" dirty="0"/>
              <a:t>casos de abuso. </a:t>
            </a:r>
            <a:r>
              <a:rPr lang="pt-PT" sz="1400" dirty="0"/>
              <a:t>Este guia foi construído para ajudar </a:t>
            </a:r>
            <a:r>
              <a:rPr lang="pt-PT" sz="1400" dirty="0" smtClean="0"/>
              <a:t>a identificar </a:t>
            </a:r>
            <a:r>
              <a:rPr lang="pt-PT" sz="1400" dirty="0"/>
              <a:t>os requisitos de segurança de alto nível e abordar vários cenários de ataque.</a:t>
            </a:r>
          </a:p>
          <a:p>
            <a:r>
              <a:rPr lang="pt-PT" sz="1400" dirty="0"/>
              <a:t>É importante que as equipas de desenvolvimento de aplicações Web entendam que os mecanismos </a:t>
            </a:r>
            <a:r>
              <a:rPr lang="pt-PT" sz="1400" dirty="0" smtClean="0"/>
              <a:t>de controlo </a:t>
            </a:r>
            <a:r>
              <a:rPr lang="pt-PT" sz="1400" dirty="0"/>
              <a:t>do lado cliente, como validação de dados de entrada no cliente, campos ocultos e controlos </a:t>
            </a:r>
            <a:r>
              <a:rPr lang="pt-PT" sz="1400" dirty="0" smtClean="0"/>
              <a:t>de interface </a:t>
            </a:r>
            <a:r>
              <a:rPr lang="pt-PT" sz="1400" dirty="0"/>
              <a:t>(combo box, radio </a:t>
            </a:r>
            <a:r>
              <a:rPr lang="pt-PT" sz="1400" dirty="0" err="1"/>
              <a:t>buttons</a:t>
            </a:r>
            <a:r>
              <a:rPr lang="pt-PT" sz="1400" dirty="0"/>
              <a:t>), fornecem pouco ou nenhum benefício de segurança. Nesse caso, </a:t>
            </a:r>
            <a:r>
              <a:rPr lang="pt-PT" sz="1400" dirty="0" smtClean="0"/>
              <a:t>um atacante </a:t>
            </a:r>
            <a:r>
              <a:rPr lang="pt-PT" sz="1400" dirty="0"/>
              <a:t>pode usar ferramentas como </a:t>
            </a:r>
            <a:r>
              <a:rPr lang="pt-PT" sz="1400" i="1" dirty="0" err="1"/>
              <a:t>proxies</a:t>
            </a:r>
            <a:r>
              <a:rPr lang="pt-PT" sz="1400" i="1" dirty="0"/>
              <a:t> </a:t>
            </a:r>
            <a:r>
              <a:rPr lang="pt-PT" sz="1400" dirty="0"/>
              <a:t>do lado do cliente, como o OWASP </a:t>
            </a:r>
            <a:r>
              <a:rPr lang="pt-PT" sz="1400" dirty="0" err="1"/>
              <a:t>WebScarab</a:t>
            </a:r>
            <a:r>
              <a:rPr lang="pt-PT" sz="1400" dirty="0"/>
              <a:t>, </a:t>
            </a:r>
            <a:r>
              <a:rPr lang="pt-PT" sz="1400" dirty="0" err="1"/>
              <a:t>Burp</a:t>
            </a:r>
            <a:r>
              <a:rPr lang="pt-PT" sz="1400" dirty="0"/>
              <a:t> </a:t>
            </a:r>
            <a:r>
              <a:rPr lang="pt-PT" sz="1400" dirty="0" smtClean="0"/>
              <a:t>ou ferramentas </a:t>
            </a:r>
            <a:r>
              <a:rPr lang="pt-PT" sz="1400" dirty="0"/>
              <a:t>de captura de pacotes de rede, como o </a:t>
            </a:r>
            <a:r>
              <a:rPr lang="pt-PT" sz="1400" dirty="0" err="1"/>
              <a:t>Wireshark</a:t>
            </a:r>
            <a:r>
              <a:rPr lang="pt-PT" sz="1400" dirty="0"/>
              <a:t>, para analisar o tráfego da aplicação e </a:t>
            </a:r>
            <a:r>
              <a:rPr lang="pt-PT" sz="1400" dirty="0" smtClean="0"/>
              <a:t>enviar pedidos </a:t>
            </a:r>
            <a:r>
              <a:rPr lang="pt-PT" sz="1400" dirty="0"/>
              <a:t>manipulados, burlando todas as interfaces. Além disso, o Flash, os </a:t>
            </a:r>
            <a:r>
              <a:rPr lang="pt-PT" sz="1400" dirty="0" err="1"/>
              <a:t>Applets</a:t>
            </a:r>
            <a:r>
              <a:rPr lang="pt-PT" sz="1400" dirty="0"/>
              <a:t> Java e demais </a:t>
            </a:r>
            <a:r>
              <a:rPr lang="pt-PT" sz="1400" dirty="0" smtClean="0"/>
              <a:t>objetos que </a:t>
            </a:r>
            <a:r>
              <a:rPr lang="pt-PT" sz="1400" dirty="0"/>
              <a:t>trabalham no lado cliente podem ser alvo de engenharia reversa e analisados em busca de falhas</a:t>
            </a:r>
            <a:r>
              <a:rPr lang="pt-PT" sz="1400" dirty="0" smtClean="0"/>
              <a:t>.</a:t>
            </a:r>
            <a:endParaRPr lang="pt-PT" sz="1400" dirty="0"/>
          </a:p>
        </p:txBody>
      </p:sp>
    </p:spTree>
    <p:extLst>
      <p:ext uri="{BB962C8B-B14F-4D97-AF65-F5344CB8AC3E}">
        <p14:creationId xmlns:p14="http://schemas.microsoft.com/office/powerpoint/2010/main" val="17004491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pt-PT" sz="3600" dirty="0"/>
              <a:t>As falhas de segurança de software podem ser introduzidas em qualquer fase do ciclo de desenvolvimento, inclusive:</a:t>
            </a:r>
          </a:p>
          <a:p>
            <a:pPr lvl="1"/>
            <a:r>
              <a:rPr lang="pt-PT" sz="2500" dirty="0" smtClean="0"/>
              <a:t>No </a:t>
            </a:r>
            <a:r>
              <a:rPr lang="pt-PT" sz="2500" dirty="0"/>
              <a:t>início, ao não identificar as necessidades de segurança</a:t>
            </a:r>
          </a:p>
          <a:p>
            <a:pPr lvl="1"/>
            <a:r>
              <a:rPr lang="pt-PT" sz="2500" dirty="0" smtClean="0"/>
              <a:t>Na </a:t>
            </a:r>
            <a:r>
              <a:rPr lang="pt-PT" sz="2500" dirty="0"/>
              <a:t>criação de arquiteturas conceptuais que possuam erros de lógica</a:t>
            </a:r>
          </a:p>
          <a:p>
            <a:pPr lvl="1"/>
            <a:r>
              <a:rPr lang="pt-PT" sz="2500" dirty="0" smtClean="0"/>
              <a:t>No </a:t>
            </a:r>
            <a:r>
              <a:rPr lang="pt-PT" sz="2500" dirty="0"/>
              <a:t>uso de más práticas de programação que introduzam vulnerabilidades técnicas</a:t>
            </a:r>
          </a:p>
          <a:p>
            <a:pPr lvl="1"/>
            <a:r>
              <a:rPr lang="pt-PT" sz="2500" dirty="0" smtClean="0"/>
              <a:t>Na </a:t>
            </a:r>
            <a:r>
              <a:rPr lang="pt-PT" sz="2500" dirty="0"/>
              <a:t>implementação do software de modo inapropriado</a:t>
            </a:r>
          </a:p>
          <a:p>
            <a:pPr lvl="1"/>
            <a:r>
              <a:rPr lang="pt-PT" sz="2500" dirty="0" smtClean="0"/>
              <a:t>Na </a:t>
            </a:r>
            <a:r>
              <a:rPr lang="pt-PT" sz="2500" dirty="0"/>
              <a:t>inserção de falhas durante a manutenção ou a </a:t>
            </a:r>
            <a:r>
              <a:rPr lang="pt-PT" sz="2500" dirty="0" smtClean="0"/>
              <a:t>atualização</a:t>
            </a:r>
          </a:p>
          <a:p>
            <a:pPr marL="457200" lvl="1" indent="0">
              <a:buNone/>
            </a:pPr>
            <a:endParaRPr lang="pt-PT" sz="2500" dirty="0" smtClean="0"/>
          </a:p>
          <a:p>
            <a:r>
              <a:rPr lang="pt-PT" dirty="0"/>
              <a:t>Além disso, é importante entender que as vulnerabilidades de software podem ter um âmbito </a:t>
            </a:r>
            <a:r>
              <a:rPr lang="pt-PT" dirty="0" smtClean="0"/>
              <a:t>muito maior </a:t>
            </a:r>
            <a:r>
              <a:rPr lang="pt-PT" dirty="0"/>
              <a:t>do que o do próprio software. Dependendo da natureza do software, da vulnerabilidade e </a:t>
            </a:r>
            <a:r>
              <a:rPr lang="pt-PT" dirty="0" smtClean="0"/>
              <a:t>da infraestrutura </a:t>
            </a:r>
            <a:r>
              <a:rPr lang="pt-PT" dirty="0"/>
              <a:t>de apoio, o impacto de uma exploração bem sucedida pode comprometer qualquer um, </a:t>
            </a:r>
            <a:r>
              <a:rPr lang="pt-PT" dirty="0" smtClean="0"/>
              <a:t>ou mesmo </a:t>
            </a:r>
            <a:r>
              <a:rPr lang="pt-PT" dirty="0"/>
              <a:t>todos os seguintes aspetos:</a:t>
            </a:r>
          </a:p>
          <a:p>
            <a:pPr lvl="1"/>
            <a:r>
              <a:rPr lang="pt-PT" dirty="0" smtClean="0"/>
              <a:t>O </a:t>
            </a:r>
            <a:r>
              <a:rPr lang="pt-PT" dirty="0"/>
              <a:t>software e sua informação associada</a:t>
            </a:r>
          </a:p>
          <a:p>
            <a:pPr lvl="1"/>
            <a:r>
              <a:rPr lang="pt-PT" dirty="0" smtClean="0"/>
              <a:t>O </a:t>
            </a:r>
            <a:r>
              <a:rPr lang="pt-PT" dirty="0"/>
              <a:t>sistema operativo dos servidores associados</a:t>
            </a:r>
          </a:p>
          <a:p>
            <a:pPr lvl="1"/>
            <a:r>
              <a:rPr lang="pt-PT" dirty="0" smtClean="0"/>
              <a:t>A </a:t>
            </a:r>
            <a:r>
              <a:rPr lang="pt-PT" dirty="0"/>
              <a:t>base de dados do </a:t>
            </a:r>
            <a:r>
              <a:rPr lang="pt-PT" i="1" dirty="0" err="1"/>
              <a:t>backend</a:t>
            </a:r>
            <a:endParaRPr lang="pt-PT" sz="2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1"/>
            <a:r>
              <a:rPr lang="pt-PT" dirty="0"/>
              <a:t>Outras aplicações num ambiente partilhado</a:t>
            </a:r>
          </a:p>
          <a:p>
            <a:pPr lvl="1"/>
            <a:r>
              <a:rPr lang="pt-PT" dirty="0" smtClean="0"/>
              <a:t>O </a:t>
            </a:r>
            <a:r>
              <a:rPr lang="pt-PT" dirty="0"/>
              <a:t>sistema do utilizador</a:t>
            </a:r>
          </a:p>
          <a:p>
            <a:pPr lvl="1"/>
            <a:r>
              <a:rPr lang="pt-PT" dirty="0" smtClean="0"/>
              <a:t>Outros </a:t>
            </a:r>
            <a:r>
              <a:rPr lang="pt-PT" dirty="0"/>
              <a:t>softwares com os quais o utilizador interage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6405627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79004"/>
            <a:ext cx="6858000" cy="628650"/>
          </a:xfrm>
          <a:solidFill>
            <a:schemeClr val="bg1"/>
          </a:solidFill>
        </p:spPr>
        <p:txBody>
          <a:bodyPr anchor="ctr">
            <a:normAutofit fontScale="90000"/>
          </a:bodyPr>
          <a:lstStyle/>
          <a:p>
            <a:pPr>
              <a:spcAft>
                <a:spcPts val="450"/>
              </a:spcAft>
            </a:pPr>
            <a:r>
              <a:rPr lang="pt-PT" sz="2100" dirty="0">
                <a:solidFill>
                  <a:srgbClr val="00B0F0"/>
                </a:solidFill>
                <a:latin typeface="Arial"/>
                <a:cs typeface="Arial"/>
              </a:rPr>
              <a:t>Lista de Verificação de Práticas de Programação Segura</a:t>
            </a:r>
            <a:endParaRPr lang="pt-PT" sz="2100" dirty="0">
              <a:solidFill>
                <a:srgbClr val="00B0F0"/>
              </a:solidFill>
              <a:latin typeface="Arial"/>
              <a:cs typeface="Arial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1485900" y="1839292"/>
            <a:ext cx="6172200" cy="3108722"/>
          </a:xfrm>
        </p:spPr>
        <p:txBody>
          <a:bodyPr>
            <a:normAutofit lnSpcReduction="10000"/>
          </a:bodyPr>
          <a:lstStyle/>
          <a:p>
            <a:r>
              <a:rPr lang="pt-PT" sz="1200" b="1" dirty="0"/>
              <a:t>Validação dos Dados de </a:t>
            </a:r>
            <a:r>
              <a:rPr lang="pt-PT" sz="1200" b="1" dirty="0" smtClean="0"/>
              <a:t>Entrada</a:t>
            </a:r>
            <a:endParaRPr lang="pt-PT" sz="1200" b="1" dirty="0"/>
          </a:p>
          <a:p>
            <a:r>
              <a:rPr lang="pt-PT" sz="1200" b="1" dirty="0" smtClean="0"/>
              <a:t>Codificação </a:t>
            </a:r>
            <a:r>
              <a:rPr lang="pt-PT" sz="1200" b="1" dirty="0"/>
              <a:t>de Dados de Saída</a:t>
            </a:r>
          </a:p>
          <a:p>
            <a:r>
              <a:rPr lang="pt-PT" sz="1200" b="1" dirty="0"/>
              <a:t>Autenticação e Gestão de Credenciais</a:t>
            </a:r>
          </a:p>
          <a:p>
            <a:r>
              <a:rPr lang="pt-PT" sz="1200" b="1" dirty="0"/>
              <a:t>Gestão de Sessões</a:t>
            </a:r>
          </a:p>
          <a:p>
            <a:r>
              <a:rPr lang="pt-PT" sz="1200" b="1" dirty="0"/>
              <a:t>Controlo de Acessos</a:t>
            </a:r>
          </a:p>
          <a:p>
            <a:r>
              <a:rPr lang="pt-PT" sz="1200" b="1" dirty="0"/>
              <a:t>Práticas de Criptografia</a:t>
            </a:r>
          </a:p>
          <a:p>
            <a:r>
              <a:rPr lang="pt-PT" sz="1200" b="1" dirty="0"/>
              <a:t>Tratamento de Erros e Log</a:t>
            </a:r>
          </a:p>
          <a:p>
            <a:r>
              <a:rPr lang="pt-PT" sz="1200" b="1" dirty="0"/>
              <a:t>Proteção de Dados</a:t>
            </a:r>
          </a:p>
          <a:p>
            <a:r>
              <a:rPr lang="pt-PT" sz="1200" b="1" dirty="0"/>
              <a:t>Segurança nas comunicações</a:t>
            </a:r>
          </a:p>
          <a:p>
            <a:r>
              <a:rPr lang="pt-PT" sz="1200" b="1" dirty="0"/>
              <a:t>Configuração do Sistema</a:t>
            </a:r>
          </a:p>
          <a:p>
            <a:r>
              <a:rPr lang="pt-PT" sz="1200" b="1" dirty="0"/>
              <a:t>Segurança em Base de Dados</a:t>
            </a:r>
          </a:p>
          <a:p>
            <a:r>
              <a:rPr lang="pt-PT" sz="1200" b="1" dirty="0"/>
              <a:t>Gestão de Ficheiros</a:t>
            </a:r>
          </a:p>
          <a:p>
            <a:r>
              <a:rPr lang="pt-PT" sz="1200" b="1" dirty="0"/>
              <a:t>Gestão de Memória</a:t>
            </a:r>
          </a:p>
          <a:p>
            <a:r>
              <a:rPr lang="pt-PT" sz="1200" b="1" dirty="0"/>
              <a:t>Práticas Gerais de Programação</a:t>
            </a:r>
            <a:endParaRPr lang="pt-PT" sz="1400" dirty="0"/>
          </a:p>
        </p:txBody>
      </p:sp>
    </p:spTree>
    <p:extLst>
      <p:ext uri="{BB962C8B-B14F-4D97-AF65-F5344CB8AC3E}">
        <p14:creationId xmlns:p14="http://schemas.microsoft.com/office/powerpoint/2010/main" val="7925981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79004"/>
            <a:ext cx="6858000" cy="628650"/>
          </a:xfrm>
          <a:solidFill>
            <a:schemeClr val="bg1"/>
          </a:solidFill>
        </p:spPr>
        <p:txBody>
          <a:bodyPr anchor="ctr">
            <a:normAutofit/>
          </a:bodyPr>
          <a:lstStyle/>
          <a:p>
            <a:pPr>
              <a:spcAft>
                <a:spcPts val="450"/>
              </a:spcAft>
            </a:pPr>
            <a:r>
              <a:rPr lang="pt-PT" sz="2100" dirty="0">
                <a:solidFill>
                  <a:srgbClr val="00B0F0"/>
                </a:solidFill>
                <a:latin typeface="Arial"/>
                <a:cs typeface="Arial"/>
              </a:rPr>
              <a:t>Validação dos Dados de </a:t>
            </a:r>
            <a:r>
              <a:rPr lang="pt-PT" sz="2100" dirty="0" smtClean="0">
                <a:solidFill>
                  <a:srgbClr val="00B0F0"/>
                </a:solidFill>
                <a:latin typeface="Arial"/>
                <a:cs typeface="Arial"/>
              </a:rPr>
              <a:t>Entrada</a:t>
            </a:r>
            <a:endParaRPr lang="pt-PT" sz="2100" dirty="0">
              <a:solidFill>
                <a:srgbClr val="00B0F0"/>
              </a:solidFill>
              <a:latin typeface="Arial"/>
              <a:cs typeface="Arial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67544" y="1839292"/>
            <a:ext cx="8280920" cy="3108722"/>
          </a:xfrm>
        </p:spPr>
        <p:txBody>
          <a:bodyPr>
            <a:normAutofit fontScale="77500" lnSpcReduction="20000"/>
          </a:bodyPr>
          <a:lstStyle/>
          <a:p>
            <a:r>
              <a:rPr lang="pt-PT" sz="1200" dirty="0"/>
              <a:t>Efetuar toda a validação dos dados num sistema de confiança. Por exemplo, centralizar todo </a:t>
            </a:r>
            <a:r>
              <a:rPr lang="pt-PT" sz="1200" dirty="0" smtClean="0"/>
              <a:t>o processo </a:t>
            </a:r>
            <a:r>
              <a:rPr lang="pt-PT" sz="1200" dirty="0"/>
              <a:t>no servidor</a:t>
            </a:r>
          </a:p>
          <a:p>
            <a:r>
              <a:rPr lang="pt-PT" sz="1200" dirty="0" smtClean="0"/>
              <a:t>Identificar </a:t>
            </a:r>
            <a:r>
              <a:rPr lang="pt-PT" sz="1200" dirty="0"/>
              <a:t>todas as fontes de dados e classificá-las como sendo ou não de confiança. Em </a:t>
            </a:r>
            <a:r>
              <a:rPr lang="pt-PT" sz="1200" dirty="0" smtClean="0"/>
              <a:t>seguida, validar </a:t>
            </a:r>
            <a:r>
              <a:rPr lang="pt-PT" sz="1200" dirty="0"/>
              <a:t>os dados provenientes de fontes nas quais não exista confiança (</a:t>
            </a:r>
            <a:r>
              <a:rPr lang="pt-PT" sz="1200" dirty="0" err="1"/>
              <a:t>ex</a:t>
            </a:r>
            <a:r>
              <a:rPr lang="pt-PT" sz="1200" dirty="0"/>
              <a:t>: base de dados, </a:t>
            </a:r>
            <a:r>
              <a:rPr lang="pt-PT" sz="1200" dirty="0" err="1"/>
              <a:t>stream</a:t>
            </a:r>
            <a:r>
              <a:rPr lang="pt-PT" sz="1200" dirty="0"/>
              <a:t> </a:t>
            </a:r>
            <a:r>
              <a:rPr lang="pt-PT" sz="1200" dirty="0" smtClean="0"/>
              <a:t>de arquivos </a:t>
            </a:r>
            <a:r>
              <a:rPr lang="pt-PT" sz="1200" dirty="0"/>
              <a:t>etc.)</a:t>
            </a:r>
          </a:p>
          <a:p>
            <a:r>
              <a:rPr lang="pt-PT" sz="1200" dirty="0" smtClean="0"/>
              <a:t>A </a:t>
            </a:r>
            <a:r>
              <a:rPr lang="pt-PT" sz="1200" dirty="0"/>
              <a:t>rotina de validação de dados de entrada deve ser centralizada na aplicação</a:t>
            </a:r>
          </a:p>
          <a:p>
            <a:r>
              <a:rPr lang="pt-PT" sz="1200" dirty="0" smtClean="0"/>
              <a:t>Especificar </a:t>
            </a:r>
            <a:r>
              <a:rPr lang="pt-PT" sz="1200" dirty="0"/>
              <a:t>o conjunto de caracteres apropriados, como UTF-8, para todas as fontes de entrada </a:t>
            </a:r>
            <a:r>
              <a:rPr lang="pt-PT" sz="1200" dirty="0" smtClean="0"/>
              <a:t>de dados</a:t>
            </a:r>
            <a:endParaRPr lang="pt-PT" sz="1200" dirty="0"/>
          </a:p>
          <a:p>
            <a:r>
              <a:rPr lang="pt-PT" sz="1200" dirty="0" smtClean="0"/>
              <a:t>Codificar </a:t>
            </a:r>
            <a:r>
              <a:rPr lang="pt-PT" sz="1200" dirty="0"/>
              <a:t>os dados para um conjunto de caracteres comuns antes da validação (</a:t>
            </a:r>
            <a:r>
              <a:rPr lang="pt-PT" sz="1200" i="1" dirty="0" err="1"/>
              <a:t>Canonicalize</a:t>
            </a:r>
            <a:r>
              <a:rPr lang="pt-PT" sz="1200" dirty="0"/>
              <a:t>)</a:t>
            </a:r>
          </a:p>
          <a:p>
            <a:r>
              <a:rPr lang="pt-PT" sz="1200" dirty="0" smtClean="0"/>
              <a:t>Quando </a:t>
            </a:r>
            <a:r>
              <a:rPr lang="pt-PT" sz="1200" dirty="0"/>
              <a:t>há falha de validação a aplicação deve rejeitar os dados fornecidos</a:t>
            </a:r>
          </a:p>
          <a:p>
            <a:r>
              <a:rPr lang="pt-PT" sz="1200" dirty="0" smtClean="0"/>
              <a:t>Determinar </a:t>
            </a:r>
            <a:r>
              <a:rPr lang="pt-PT" sz="1200" dirty="0"/>
              <a:t>se o sistema suporta conjuntos de caracteres estendidos UTF-8 e em caso </a:t>
            </a:r>
            <a:r>
              <a:rPr lang="pt-PT" sz="1200" dirty="0" smtClean="0"/>
              <a:t>afirmativo, validar </a:t>
            </a:r>
            <a:r>
              <a:rPr lang="pt-PT" sz="1200" dirty="0"/>
              <a:t>após efetuar a descodificação UTF-8</a:t>
            </a:r>
          </a:p>
          <a:p>
            <a:r>
              <a:rPr lang="pt-PT" sz="1200" dirty="0" smtClean="0"/>
              <a:t>Validar </a:t>
            </a:r>
            <a:r>
              <a:rPr lang="pt-PT" sz="1200" dirty="0"/>
              <a:t>todos os dados provenientes dos clientes antes do processamento, incluindo todos </a:t>
            </a:r>
            <a:r>
              <a:rPr lang="pt-PT" sz="1200" dirty="0" smtClean="0"/>
              <a:t>os parâmetros</a:t>
            </a:r>
            <a:r>
              <a:rPr lang="pt-PT" sz="1200" dirty="0"/>
              <a:t>, campos de formulário, conteúdos das </a:t>
            </a:r>
            <a:r>
              <a:rPr lang="pt-PT" sz="1200" dirty="0" err="1"/>
              <a:t>URLs</a:t>
            </a:r>
            <a:r>
              <a:rPr lang="pt-PT" sz="1200" dirty="0"/>
              <a:t> e cabeçalhos HTTP, como, </a:t>
            </a:r>
            <a:r>
              <a:rPr lang="pt-PT" sz="1200" dirty="0" smtClean="0"/>
              <a:t>por exemplo</a:t>
            </a:r>
            <a:r>
              <a:rPr lang="pt-PT" sz="1200" dirty="0"/>
              <a:t>, </a:t>
            </a:r>
            <a:r>
              <a:rPr lang="pt-PT" sz="1200" dirty="0" smtClean="0"/>
              <a:t>os nomes </a:t>
            </a:r>
            <a:r>
              <a:rPr lang="pt-PT" sz="1200" dirty="0"/>
              <a:t>e </a:t>
            </a:r>
            <a:r>
              <a:rPr lang="pt-PT" sz="1200" dirty="0" smtClean="0"/>
              <a:t>o valores </a:t>
            </a:r>
            <a:r>
              <a:rPr lang="pt-PT" sz="1200" dirty="0"/>
              <a:t>dos Cookies. Certificar-se, também, de incluir mecanismos automáticos </a:t>
            </a:r>
            <a:r>
              <a:rPr lang="pt-PT" sz="1200" dirty="0" smtClean="0"/>
              <a:t>de </a:t>
            </a:r>
            <a:r>
              <a:rPr lang="pt-PT" sz="1200" i="1" dirty="0" smtClean="0"/>
              <a:t>postback</a:t>
            </a:r>
            <a:r>
              <a:rPr lang="pt-PT" sz="1200" dirty="0" smtClean="0"/>
              <a:t>2 </a:t>
            </a:r>
            <a:r>
              <a:rPr lang="pt-PT" sz="1200" dirty="0"/>
              <a:t>nos blocos de código </a:t>
            </a:r>
            <a:r>
              <a:rPr lang="pt-PT" sz="1200" dirty="0" err="1"/>
              <a:t>JavaScript</a:t>
            </a:r>
            <a:r>
              <a:rPr lang="pt-PT" sz="1200" dirty="0"/>
              <a:t>, Flash ou qualquer outro </a:t>
            </a:r>
            <a:r>
              <a:rPr lang="pt-PT" sz="1200" dirty="0" smtClean="0"/>
              <a:t>código embutido</a:t>
            </a:r>
            <a:endParaRPr lang="pt-PT" sz="1200" dirty="0"/>
          </a:p>
          <a:p>
            <a:r>
              <a:rPr lang="pt-PT" sz="1200" dirty="0" smtClean="0"/>
              <a:t>Verificar </a:t>
            </a:r>
            <a:r>
              <a:rPr lang="pt-PT" sz="1200" dirty="0"/>
              <a:t>se os valores de cabeçalho, tanto dos pedidos, como das respostas, contêm </a:t>
            </a:r>
            <a:r>
              <a:rPr lang="pt-PT" sz="1200" dirty="0" smtClean="0"/>
              <a:t>apenas caracteres </a:t>
            </a:r>
            <a:r>
              <a:rPr lang="pt-PT" sz="1200" dirty="0"/>
              <a:t>ASCII</a:t>
            </a:r>
          </a:p>
          <a:p>
            <a:r>
              <a:rPr lang="pt-PT" sz="1200" dirty="0" smtClean="0"/>
              <a:t>Validar </a:t>
            </a:r>
            <a:r>
              <a:rPr lang="pt-PT" sz="1200" dirty="0"/>
              <a:t>dados provenientes de </a:t>
            </a:r>
            <a:r>
              <a:rPr lang="pt-PT" sz="1200" dirty="0" err="1"/>
              <a:t>redirecionamentos</a:t>
            </a:r>
            <a:r>
              <a:rPr lang="pt-PT" sz="1200" dirty="0"/>
              <a:t>. Os atacantes podem incluir conteúdo </a:t>
            </a:r>
            <a:r>
              <a:rPr lang="pt-PT" sz="1200" dirty="0" smtClean="0"/>
              <a:t>malicioso diretamente </a:t>
            </a:r>
            <a:r>
              <a:rPr lang="pt-PT" sz="1200" dirty="0"/>
              <a:t>para o alvo do mecanismo de </a:t>
            </a:r>
            <a:r>
              <a:rPr lang="pt-PT" sz="1200" dirty="0" err="1"/>
              <a:t>redirecionamento</a:t>
            </a:r>
            <a:r>
              <a:rPr lang="pt-PT" sz="1200" dirty="0"/>
              <a:t>, podendo assim contornar a lógica </a:t>
            </a:r>
            <a:r>
              <a:rPr lang="pt-PT" sz="1200" dirty="0" smtClean="0"/>
              <a:t>da aplicação </a:t>
            </a:r>
            <a:r>
              <a:rPr lang="pt-PT" sz="1200" dirty="0"/>
              <a:t>e qualquer validação executada antes do </a:t>
            </a:r>
            <a:r>
              <a:rPr lang="pt-PT" sz="1200" dirty="0" err="1"/>
              <a:t>redirecionamento</a:t>
            </a:r>
            <a:endParaRPr lang="pt-PT" sz="1200" dirty="0"/>
          </a:p>
          <a:p>
            <a:r>
              <a:rPr lang="pt-PT" sz="1200" dirty="0" smtClean="0"/>
              <a:t>Validar </a:t>
            </a:r>
            <a:r>
              <a:rPr lang="pt-PT" sz="1200" dirty="0"/>
              <a:t>tipos de dados esperados</a:t>
            </a:r>
          </a:p>
          <a:p>
            <a:r>
              <a:rPr lang="pt-PT" sz="1200" dirty="0" smtClean="0"/>
              <a:t>Validar </a:t>
            </a:r>
            <a:r>
              <a:rPr lang="pt-PT" sz="1200" dirty="0"/>
              <a:t>intervalo de dados</a:t>
            </a:r>
          </a:p>
          <a:p>
            <a:r>
              <a:rPr lang="pt-PT" sz="1200" dirty="0" smtClean="0"/>
              <a:t>Validar </a:t>
            </a:r>
            <a:r>
              <a:rPr lang="pt-PT" sz="1200" dirty="0"/>
              <a:t>o tamanho dos dados</a:t>
            </a:r>
          </a:p>
          <a:p>
            <a:r>
              <a:rPr lang="pt-PT" sz="1200" dirty="0" smtClean="0"/>
              <a:t>Validar</a:t>
            </a:r>
            <a:r>
              <a:rPr lang="pt-PT" sz="1200" dirty="0"/>
              <a:t>, sempre que possível, todos os dados de entrada através de um método baseado em “</a:t>
            </a:r>
            <a:r>
              <a:rPr lang="pt-PT" sz="1200" dirty="0" smtClean="0"/>
              <a:t>listas brancas</a:t>
            </a:r>
            <a:r>
              <a:rPr lang="pt-PT" sz="1200" dirty="0"/>
              <a:t>" que utilizam uma lista de caracteres ou expressões regulares para definirem os </a:t>
            </a:r>
            <a:r>
              <a:rPr lang="pt-PT" sz="1200" dirty="0" smtClean="0"/>
              <a:t>caracteres permitidos</a:t>
            </a:r>
            <a:endParaRPr lang="pt-PT" sz="1200" dirty="0"/>
          </a:p>
          <a:p>
            <a:r>
              <a:rPr lang="pt-PT" sz="1200" dirty="0" smtClean="0"/>
              <a:t>Se </a:t>
            </a:r>
            <a:r>
              <a:rPr lang="pt-PT" sz="1200" dirty="0"/>
              <a:t>qualquer caractere potencialmente perigoso precisa ser permitido na entrada de dados </a:t>
            </a:r>
            <a:r>
              <a:rPr lang="pt-PT" sz="1200" dirty="0" smtClean="0"/>
              <a:t>da aplicação</a:t>
            </a:r>
            <a:r>
              <a:rPr lang="pt-PT" sz="1200" dirty="0"/>
              <a:t>, certifique-se que foram implementados mecanismos adicionais como codificação </a:t>
            </a:r>
            <a:r>
              <a:rPr lang="pt-PT" sz="1200" dirty="0" smtClean="0"/>
              <a:t>dos dados </a:t>
            </a:r>
            <a:r>
              <a:rPr lang="pt-PT" sz="1200" dirty="0"/>
              <a:t>de saída, </a:t>
            </a:r>
            <a:r>
              <a:rPr lang="pt-PT" sz="1200" dirty="0" err="1"/>
              <a:t>APIs</a:t>
            </a:r>
            <a:r>
              <a:rPr lang="pt-PT" sz="1200" dirty="0"/>
              <a:t> especificas que fornecem tarefas seguras e caminhos de auditoria no uso </a:t>
            </a:r>
            <a:r>
              <a:rPr lang="pt-PT" sz="1200" dirty="0" smtClean="0"/>
              <a:t>dos dados </a:t>
            </a:r>
            <a:r>
              <a:rPr lang="pt-PT" sz="1200" dirty="0"/>
              <a:t>pela aplicação. A seguir, como exemplo de caracteres “potencialmente perigosos”, temos: &lt;, </a:t>
            </a:r>
            <a:r>
              <a:rPr lang="pt-PT" sz="1200" dirty="0" smtClean="0"/>
              <a:t>&gt;, ", </a:t>
            </a:r>
            <a:r>
              <a:rPr lang="pt-PT" sz="1200" dirty="0"/>
              <a:t>', %, (, ), &amp;, +, \, \', \"</a:t>
            </a:r>
            <a:endParaRPr lang="pt-PT" sz="1400" dirty="0"/>
          </a:p>
        </p:txBody>
      </p:sp>
    </p:spTree>
    <p:extLst>
      <p:ext uri="{BB962C8B-B14F-4D97-AF65-F5344CB8AC3E}">
        <p14:creationId xmlns:p14="http://schemas.microsoft.com/office/powerpoint/2010/main" val="12374664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79004"/>
            <a:ext cx="6858000" cy="628650"/>
          </a:xfrm>
          <a:solidFill>
            <a:schemeClr val="bg1"/>
          </a:solidFill>
        </p:spPr>
        <p:txBody>
          <a:bodyPr anchor="ctr">
            <a:normAutofit/>
          </a:bodyPr>
          <a:lstStyle/>
          <a:p>
            <a:pPr>
              <a:spcAft>
                <a:spcPts val="450"/>
              </a:spcAft>
            </a:pPr>
            <a:r>
              <a:rPr lang="pt-PT" sz="2100" dirty="0">
                <a:solidFill>
                  <a:srgbClr val="00B0F0"/>
                </a:solidFill>
                <a:latin typeface="Arial"/>
                <a:cs typeface="Arial"/>
              </a:rPr>
              <a:t>Codificação de Dados de </a:t>
            </a:r>
            <a:r>
              <a:rPr lang="pt-PT" sz="2100" dirty="0" smtClean="0">
                <a:solidFill>
                  <a:srgbClr val="00B0F0"/>
                </a:solidFill>
                <a:latin typeface="Arial"/>
                <a:cs typeface="Arial"/>
              </a:rPr>
              <a:t>Saída</a:t>
            </a:r>
            <a:endParaRPr lang="pt-PT" sz="2100" dirty="0">
              <a:solidFill>
                <a:srgbClr val="00B0F0"/>
              </a:solidFill>
              <a:latin typeface="Arial"/>
              <a:cs typeface="Arial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67544" y="1839292"/>
            <a:ext cx="8280920" cy="3108722"/>
          </a:xfrm>
        </p:spPr>
        <p:txBody>
          <a:bodyPr>
            <a:normAutofit/>
          </a:bodyPr>
          <a:lstStyle/>
          <a:p>
            <a:r>
              <a:rPr lang="pt-PT" sz="1400" dirty="0"/>
              <a:t>Efetuar toda a codificação dos dados num sistema de confiança, por exemplo, centralizar todo </a:t>
            </a:r>
            <a:r>
              <a:rPr lang="pt-PT" sz="1400" dirty="0" smtClean="0"/>
              <a:t>o processo </a:t>
            </a:r>
            <a:r>
              <a:rPr lang="pt-PT" sz="1400" dirty="0"/>
              <a:t>no servidor</a:t>
            </a:r>
          </a:p>
          <a:p>
            <a:r>
              <a:rPr lang="pt-PT" sz="1400" dirty="0" smtClean="0"/>
              <a:t>Utilizar </a:t>
            </a:r>
            <a:r>
              <a:rPr lang="pt-PT" sz="1400" dirty="0"/>
              <a:t>uma rotina padrão, testada, para cada tipo de codificação de saída</a:t>
            </a:r>
          </a:p>
          <a:p>
            <a:r>
              <a:rPr lang="pt-PT" sz="1400" dirty="0" smtClean="0"/>
              <a:t>Realizar </a:t>
            </a:r>
            <a:r>
              <a:rPr lang="pt-PT" sz="1400" dirty="0"/>
              <a:t>a codificação, baseada em contexto, de todos os dados enviados para o cliente que </a:t>
            </a:r>
            <a:r>
              <a:rPr lang="pt-PT" sz="1400" dirty="0" smtClean="0"/>
              <a:t>têm origem </a:t>
            </a:r>
            <a:r>
              <a:rPr lang="pt-PT" sz="1400" dirty="0"/>
              <a:t>num ambiente fora dos limites de confiança da aplicação. A codificação das entidades </a:t>
            </a:r>
            <a:r>
              <a:rPr lang="pt-PT" sz="1400" dirty="0" smtClean="0"/>
              <a:t>HTML é </a:t>
            </a:r>
            <a:r>
              <a:rPr lang="pt-PT" sz="1400" dirty="0"/>
              <a:t>um exemplo, mas nem sempre funciona para todos os casos</a:t>
            </a:r>
          </a:p>
          <a:p>
            <a:r>
              <a:rPr lang="pt-PT" sz="1400" dirty="0" smtClean="0"/>
              <a:t>Codificar </a:t>
            </a:r>
            <a:r>
              <a:rPr lang="pt-PT" sz="1400" dirty="0"/>
              <a:t>todos os caracteres, a menos que sejam conhecidos por serem seguros para o </a:t>
            </a:r>
            <a:r>
              <a:rPr lang="pt-PT" sz="1400" dirty="0" smtClean="0"/>
              <a:t>interpretador de </a:t>
            </a:r>
            <a:r>
              <a:rPr lang="pt-PT" sz="1400" dirty="0"/>
              <a:t>destino</a:t>
            </a:r>
          </a:p>
          <a:p>
            <a:r>
              <a:rPr lang="pt-PT" sz="1400" dirty="0" smtClean="0"/>
              <a:t>Realizar </a:t>
            </a:r>
            <a:r>
              <a:rPr lang="pt-PT" sz="1400" dirty="0"/>
              <a:t>o tratamento (limpeza), baseado em contexto, de todos os dados provenientes de fontes </a:t>
            </a:r>
            <a:r>
              <a:rPr lang="pt-PT" sz="1400" dirty="0" smtClean="0"/>
              <a:t>que não </a:t>
            </a:r>
            <a:r>
              <a:rPr lang="pt-PT" sz="1400" dirty="0"/>
              <a:t>sejam de confiança usados para construir consultas SQL, XML, e LDAP</a:t>
            </a:r>
          </a:p>
          <a:p>
            <a:r>
              <a:rPr lang="pt-PT" sz="1400" dirty="0" smtClean="0"/>
              <a:t>Tratar </a:t>
            </a:r>
            <a:r>
              <a:rPr lang="pt-PT" sz="1400" dirty="0"/>
              <a:t>todos os dados provenientes de fontes que não sejam de confiança que gerem comandos </a:t>
            </a:r>
            <a:r>
              <a:rPr lang="pt-PT" sz="1400" dirty="0" smtClean="0"/>
              <a:t>para o </a:t>
            </a:r>
            <a:r>
              <a:rPr lang="pt-PT" sz="1400" dirty="0"/>
              <a:t>sistema operativo</a:t>
            </a:r>
            <a:endParaRPr lang="pt-PT" sz="1800" dirty="0"/>
          </a:p>
        </p:txBody>
      </p:sp>
    </p:spTree>
    <p:extLst>
      <p:ext uri="{BB962C8B-B14F-4D97-AF65-F5344CB8AC3E}">
        <p14:creationId xmlns:p14="http://schemas.microsoft.com/office/powerpoint/2010/main" val="14363353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79004"/>
            <a:ext cx="6858000" cy="628650"/>
          </a:xfrm>
          <a:solidFill>
            <a:schemeClr val="bg1"/>
          </a:solidFill>
        </p:spPr>
        <p:txBody>
          <a:bodyPr anchor="ctr">
            <a:normAutofit/>
          </a:bodyPr>
          <a:lstStyle/>
          <a:p>
            <a:pPr>
              <a:spcAft>
                <a:spcPts val="450"/>
              </a:spcAft>
            </a:pPr>
            <a:r>
              <a:rPr lang="pt-PT" sz="2100" dirty="0">
                <a:solidFill>
                  <a:srgbClr val="00B0F0"/>
                </a:solidFill>
                <a:latin typeface="Arial"/>
                <a:cs typeface="Arial"/>
              </a:rPr>
              <a:t>Autenticação e Gestão de Credenciais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67544" y="1839292"/>
            <a:ext cx="8280920" cy="3108722"/>
          </a:xfrm>
        </p:spPr>
        <p:txBody>
          <a:bodyPr>
            <a:normAutofit fontScale="70000" lnSpcReduction="20000"/>
          </a:bodyPr>
          <a:lstStyle/>
          <a:p>
            <a:r>
              <a:rPr lang="pt-PT" sz="1400" dirty="0">
                <a:latin typeface="TimesNewRomanPSMT"/>
              </a:rPr>
              <a:t>Requerer autenticação para todas as páginas e recursos, exceto para aqueles que </a:t>
            </a:r>
            <a:r>
              <a:rPr lang="pt-PT" sz="1400" dirty="0" smtClean="0">
                <a:latin typeface="TimesNewRomanPSMT"/>
              </a:rPr>
              <a:t>são intencionalmente </a:t>
            </a:r>
            <a:r>
              <a:rPr lang="pt-PT" sz="1400" dirty="0">
                <a:latin typeface="TimesNewRomanPSMT"/>
              </a:rPr>
              <a:t>públicos</a:t>
            </a:r>
          </a:p>
          <a:p>
            <a:r>
              <a:rPr lang="pt-PT" sz="1400" dirty="0" smtClean="0">
                <a:latin typeface="TimesNewRomanPSMT"/>
              </a:rPr>
              <a:t>Os </a:t>
            </a:r>
            <a:r>
              <a:rPr lang="pt-PT" sz="1400" dirty="0">
                <a:latin typeface="TimesNewRomanPSMT"/>
              </a:rPr>
              <a:t>mecanismos de autenticação devem ser executados num sistema de confiança, por </a:t>
            </a:r>
            <a:r>
              <a:rPr lang="pt-PT" sz="1400" dirty="0" smtClean="0">
                <a:latin typeface="TimesNewRomanPSMT"/>
              </a:rPr>
              <a:t>exemplo, centralizar </a:t>
            </a:r>
            <a:r>
              <a:rPr lang="pt-PT" sz="1400" dirty="0">
                <a:latin typeface="TimesNewRomanPSMT"/>
              </a:rPr>
              <a:t>todo o processo no servidor</a:t>
            </a:r>
          </a:p>
          <a:p>
            <a:r>
              <a:rPr lang="pt-PT" sz="1400" dirty="0" smtClean="0">
                <a:latin typeface="TimesNewRomanPSMT"/>
              </a:rPr>
              <a:t>Sempre </a:t>
            </a:r>
            <a:r>
              <a:rPr lang="pt-PT" sz="1400" dirty="0">
                <a:latin typeface="TimesNewRomanPSMT"/>
              </a:rPr>
              <a:t>que possível, estabelecer e utilizar serviços de autenticação padronizados e testados</a:t>
            </a:r>
          </a:p>
          <a:p>
            <a:r>
              <a:rPr lang="pt-PT" sz="1400" dirty="0" smtClean="0">
                <a:latin typeface="TimesNewRomanPSMT"/>
              </a:rPr>
              <a:t>Utilizar </a:t>
            </a:r>
            <a:r>
              <a:rPr lang="pt-PT" sz="1400" dirty="0">
                <a:latin typeface="TimesNewRomanPSMT"/>
              </a:rPr>
              <a:t>uma implementação centralizada para realizar os procedimentos de </a:t>
            </a:r>
            <a:r>
              <a:rPr lang="pt-PT" sz="1400" dirty="0" smtClean="0">
                <a:latin typeface="TimesNewRomanPSMT"/>
              </a:rPr>
              <a:t>autenticação, disponibilizando </a:t>
            </a:r>
            <a:r>
              <a:rPr lang="pt-PT" sz="1400" dirty="0">
                <a:latin typeface="TimesNewRomanPSMT"/>
              </a:rPr>
              <a:t>bibliotecas que invocam os serviços de autenticação </a:t>
            </a:r>
            <a:r>
              <a:rPr lang="pt-PT" sz="1400" dirty="0" smtClean="0">
                <a:latin typeface="TimesNewRomanPSMT"/>
              </a:rPr>
              <a:t>externos Separar </a:t>
            </a:r>
            <a:r>
              <a:rPr lang="pt-PT" sz="1400" dirty="0">
                <a:latin typeface="TimesNewRomanPSMT"/>
              </a:rPr>
              <a:t>a lógica de autenticação do recurso que está a ser requisitado e usar </a:t>
            </a:r>
            <a:r>
              <a:rPr lang="pt-PT" sz="1400" dirty="0" err="1">
                <a:latin typeface="TimesNewRomanPSMT"/>
              </a:rPr>
              <a:t>redirecionadores</a:t>
            </a:r>
            <a:r>
              <a:rPr lang="pt-PT" sz="1400" dirty="0">
                <a:latin typeface="TimesNewRomanPSMT"/>
              </a:rPr>
              <a:t> dos</a:t>
            </a:r>
          </a:p>
          <a:p>
            <a:r>
              <a:rPr lang="pt-PT" sz="1400" dirty="0">
                <a:latin typeface="TimesNewRomanPSMT"/>
              </a:rPr>
              <a:t>controladores de autenticação </a:t>
            </a:r>
            <a:r>
              <a:rPr lang="pt-PT" sz="1400" dirty="0" smtClean="0">
                <a:latin typeface="TimesNewRomanPSMT"/>
              </a:rPr>
              <a:t>centralizados</a:t>
            </a:r>
          </a:p>
          <a:p>
            <a:r>
              <a:rPr lang="pt-PT" sz="1400" dirty="0" smtClean="0">
                <a:latin typeface="TimesNewRomanPSMT"/>
              </a:rPr>
              <a:t>Quando </a:t>
            </a:r>
            <a:r>
              <a:rPr lang="pt-PT" sz="1400" dirty="0">
                <a:latin typeface="TimesNewRomanPSMT"/>
              </a:rPr>
              <a:t>ocorrerem situações excecionais nos controladores de autenticação, executar procedimentos</a:t>
            </a:r>
          </a:p>
          <a:p>
            <a:r>
              <a:rPr lang="pt-PT" sz="1400" dirty="0" smtClean="0">
                <a:latin typeface="TimesNewRomanPSMT"/>
              </a:rPr>
              <a:t>em </a:t>
            </a:r>
            <a:r>
              <a:rPr lang="pt-PT" sz="1400" dirty="0">
                <a:latin typeface="TimesNewRomanPSMT"/>
              </a:rPr>
              <a:t>caso de falha com o propósito de manter o sistema seguro</a:t>
            </a:r>
          </a:p>
          <a:p>
            <a:r>
              <a:rPr lang="pt-PT" sz="1400" dirty="0" smtClean="0">
                <a:latin typeface="TimesNewRomanPSMT"/>
              </a:rPr>
              <a:t>Todas </a:t>
            </a:r>
            <a:r>
              <a:rPr lang="pt-PT" sz="1400" dirty="0">
                <a:latin typeface="TimesNewRomanPSMT"/>
              </a:rPr>
              <a:t>as funções administrativas e de gestão de contas devem ser tão seguras quanto o </a:t>
            </a:r>
            <a:r>
              <a:rPr lang="pt-PT" sz="1400" dirty="0" smtClean="0">
                <a:latin typeface="TimesNewRomanPSMT"/>
              </a:rPr>
              <a:t>mecanismo de </a:t>
            </a:r>
            <a:r>
              <a:rPr lang="pt-PT" sz="1400" dirty="0">
                <a:latin typeface="TimesNewRomanPSMT"/>
              </a:rPr>
              <a:t>autenticação principal</a:t>
            </a:r>
          </a:p>
          <a:p>
            <a:r>
              <a:rPr lang="pt-PT" sz="1400" dirty="0" smtClean="0">
                <a:latin typeface="TimesNewRomanPSMT"/>
              </a:rPr>
              <a:t>Se </a:t>
            </a:r>
            <a:r>
              <a:rPr lang="pt-PT" sz="1400" dirty="0">
                <a:latin typeface="TimesNewRomanPSMT"/>
              </a:rPr>
              <a:t>a aplicação gerir um repositório de credenciais, esta deverá garantir que as senhas </a:t>
            </a:r>
            <a:r>
              <a:rPr lang="pt-PT" sz="1400" dirty="0" smtClean="0">
                <a:latin typeface="TimesNewRomanPSMT"/>
              </a:rPr>
              <a:t>são armazenadas </a:t>
            </a:r>
            <a:r>
              <a:rPr lang="pt-PT" sz="1400" dirty="0">
                <a:latin typeface="TimesNewRomanPSMT"/>
              </a:rPr>
              <a:t>na base de dados somente sob a forma de resumo/</a:t>
            </a:r>
            <a:r>
              <a:rPr lang="pt-PT" sz="1400" i="1" dirty="0" err="1">
                <a:latin typeface="TimesNewRomanPS-ItalicMT"/>
              </a:rPr>
              <a:t>hash</a:t>
            </a:r>
            <a:r>
              <a:rPr lang="pt-PT" sz="1400" i="1" dirty="0">
                <a:latin typeface="TimesNewRomanPS-ItalicMT"/>
              </a:rPr>
              <a:t> </a:t>
            </a:r>
            <a:r>
              <a:rPr lang="pt-PT" sz="1400" dirty="0">
                <a:latin typeface="TimesNewRomanPSMT"/>
              </a:rPr>
              <a:t>da senha na forma de </a:t>
            </a:r>
            <a:r>
              <a:rPr lang="pt-PT" sz="1400" i="1" dirty="0" err="1" smtClean="0">
                <a:latin typeface="TimesNewRomanPS-ItalicMT"/>
              </a:rPr>
              <a:t>one-way</a:t>
            </a:r>
            <a:r>
              <a:rPr lang="pt-PT" sz="1400" i="1" dirty="0" smtClean="0">
                <a:latin typeface="TimesNewRomanPS-ItalicMT"/>
              </a:rPr>
              <a:t> </a:t>
            </a:r>
            <a:r>
              <a:rPr lang="pt-PT" sz="1400" i="1" dirty="0" err="1" smtClean="0">
                <a:latin typeface="TimesNewRomanPS-ItalicMT"/>
              </a:rPr>
              <a:t>salted</a:t>
            </a:r>
            <a:r>
              <a:rPr lang="pt-PT" sz="1400" i="1" dirty="0" smtClean="0">
                <a:latin typeface="TimesNewRomanPS-ItalicMT"/>
              </a:rPr>
              <a:t> </a:t>
            </a:r>
            <a:r>
              <a:rPr lang="pt-PT" sz="1400" i="1" dirty="0">
                <a:latin typeface="TimesNewRomanPS-ItalicMT"/>
              </a:rPr>
              <a:t>hashes</a:t>
            </a:r>
            <a:r>
              <a:rPr lang="pt-PT" sz="800" dirty="0">
                <a:latin typeface="TimesNewRomanPSMT"/>
              </a:rPr>
              <a:t>4</a:t>
            </a:r>
            <a:r>
              <a:rPr lang="pt-PT" sz="1400" dirty="0">
                <a:latin typeface="TimesNewRomanPSMT"/>
              </a:rPr>
              <a:t>, e que a tabela/arquivo que armazena as senhas e as próprias chaves são </a:t>
            </a:r>
            <a:r>
              <a:rPr lang="pt-PT" sz="1400" dirty="0" smtClean="0">
                <a:latin typeface="TimesNewRomanPSMT"/>
              </a:rPr>
              <a:t>manipuladas apenas </a:t>
            </a:r>
            <a:r>
              <a:rPr lang="pt-PT" sz="1400" dirty="0">
                <a:latin typeface="TimesNewRomanPSMT"/>
              </a:rPr>
              <a:t>pela aplicação. Não utilizar o algoritmo de </a:t>
            </a:r>
            <a:r>
              <a:rPr lang="pt-PT" sz="1400" dirty="0" err="1">
                <a:latin typeface="TimesNewRomanPSMT"/>
              </a:rPr>
              <a:t>hash</a:t>
            </a:r>
            <a:r>
              <a:rPr lang="pt-PT" sz="1400" dirty="0">
                <a:latin typeface="TimesNewRomanPSMT"/>
              </a:rPr>
              <a:t> MD5, sempre que esse puder ser evitado</a:t>
            </a:r>
          </a:p>
          <a:p>
            <a:r>
              <a:rPr lang="pt-PT" sz="1400" dirty="0" smtClean="0">
                <a:latin typeface="TimesNewRomanPSMT"/>
              </a:rPr>
              <a:t>A </a:t>
            </a:r>
            <a:r>
              <a:rPr lang="pt-PT" sz="1400" dirty="0">
                <a:latin typeface="TimesNewRomanPSMT"/>
              </a:rPr>
              <a:t>geração dos resumos (</a:t>
            </a:r>
            <a:r>
              <a:rPr lang="pt-PT" sz="1400" i="1" dirty="0" err="1">
                <a:latin typeface="TimesNewRomanPS-ItalicMT"/>
              </a:rPr>
              <a:t>hash</a:t>
            </a:r>
            <a:r>
              <a:rPr lang="pt-PT" sz="1400" dirty="0">
                <a:latin typeface="TimesNewRomanPSMT"/>
              </a:rPr>
              <a:t>) das senhas deve ser executada num sistema de confiança, </a:t>
            </a:r>
            <a:r>
              <a:rPr lang="pt-PT" sz="1400" dirty="0" smtClean="0">
                <a:latin typeface="TimesNewRomanPSMT"/>
              </a:rPr>
              <a:t>por exemplo</a:t>
            </a:r>
            <a:r>
              <a:rPr lang="pt-PT" sz="1400" dirty="0">
                <a:latin typeface="TimesNewRomanPSMT"/>
              </a:rPr>
              <a:t>, centralizar o controlo no servidor</a:t>
            </a:r>
          </a:p>
          <a:p>
            <a:r>
              <a:rPr lang="pt-PT" sz="1400" dirty="0" smtClean="0">
                <a:latin typeface="TimesNewRomanPSMT"/>
              </a:rPr>
              <a:t>Validar </a:t>
            </a:r>
            <a:r>
              <a:rPr lang="pt-PT" sz="1400" dirty="0">
                <a:latin typeface="TimesNewRomanPSMT"/>
              </a:rPr>
              <a:t>os dados de autenticação somente no final de todas as entradas de dados, especialmente </a:t>
            </a:r>
            <a:r>
              <a:rPr lang="pt-PT" sz="1400" dirty="0" smtClean="0">
                <a:latin typeface="TimesNewRomanPSMT"/>
              </a:rPr>
              <a:t>para as </a:t>
            </a:r>
            <a:r>
              <a:rPr lang="pt-PT" sz="1400" dirty="0">
                <a:latin typeface="TimesNewRomanPSMT"/>
              </a:rPr>
              <a:t>implementações de </a:t>
            </a:r>
            <a:r>
              <a:rPr lang="pt-PT" sz="1400" i="1" dirty="0">
                <a:latin typeface="TimesNewRomanPS-ItalicMT"/>
              </a:rPr>
              <a:t>autenticação sequencial</a:t>
            </a:r>
          </a:p>
          <a:p>
            <a:r>
              <a:rPr lang="pt-PT" sz="1400" dirty="0" smtClean="0">
                <a:latin typeface="TimesNewRomanPSMT"/>
              </a:rPr>
              <a:t>As </a:t>
            </a:r>
            <a:r>
              <a:rPr lang="pt-PT" sz="1400" dirty="0">
                <a:latin typeface="TimesNewRomanPSMT"/>
              </a:rPr>
              <a:t>mensagens de falha na autenticação não devem indicar qual parte dos dados de autenticação </a:t>
            </a:r>
            <a:r>
              <a:rPr lang="pt-PT" sz="1400" dirty="0" smtClean="0">
                <a:latin typeface="TimesNewRomanPSMT"/>
              </a:rPr>
              <a:t>está </a:t>
            </a:r>
            <a:r>
              <a:rPr lang="pt-PT" sz="1600" dirty="0" smtClean="0"/>
              <a:t>incorreta</a:t>
            </a:r>
            <a:r>
              <a:rPr lang="pt-PT" sz="1600" dirty="0"/>
              <a:t>. Por exemplo, em vez de exibir mensagens como “Nome de utilizador incorreto” ou “</a:t>
            </a:r>
            <a:r>
              <a:rPr lang="pt-PT" sz="1600" dirty="0" smtClean="0"/>
              <a:t>Senha incorreta</a:t>
            </a:r>
            <a:r>
              <a:rPr lang="pt-PT" sz="1600" dirty="0"/>
              <a:t>”, utilize apenas mensagens como: “Utilizador e/ou senha inválidos”, para ambos os </a:t>
            </a:r>
            <a:r>
              <a:rPr lang="pt-PT" sz="1600" dirty="0" smtClean="0"/>
              <a:t>casos de </a:t>
            </a:r>
            <a:r>
              <a:rPr lang="pt-PT" sz="1600" dirty="0"/>
              <a:t>erro. As respostas de erro devem ser idênticas nos dois casos</a:t>
            </a:r>
          </a:p>
          <a:p>
            <a:r>
              <a:rPr lang="pt-PT" sz="1600" dirty="0" smtClean="0"/>
              <a:t>Utilizar </a:t>
            </a:r>
            <a:r>
              <a:rPr lang="pt-PT" sz="1600" dirty="0"/>
              <a:t>autenticação para ligação a sistemas externos que envolvam tráfego de informação </a:t>
            </a:r>
            <a:r>
              <a:rPr lang="pt-PT" sz="1600" dirty="0" smtClean="0"/>
              <a:t>sensível ou </a:t>
            </a:r>
            <a:r>
              <a:rPr lang="pt-PT" sz="1600" dirty="0"/>
              <a:t>acesso a funções</a:t>
            </a:r>
            <a:endParaRPr lang="pt-PT" sz="2000" dirty="0"/>
          </a:p>
        </p:txBody>
      </p:sp>
    </p:spTree>
    <p:extLst>
      <p:ext uri="{BB962C8B-B14F-4D97-AF65-F5344CB8AC3E}">
        <p14:creationId xmlns:p14="http://schemas.microsoft.com/office/powerpoint/2010/main" val="29113806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79004"/>
            <a:ext cx="6858000" cy="628650"/>
          </a:xfrm>
          <a:solidFill>
            <a:schemeClr val="bg1"/>
          </a:solidFill>
        </p:spPr>
        <p:txBody>
          <a:bodyPr anchor="ctr">
            <a:normAutofit/>
          </a:bodyPr>
          <a:lstStyle/>
          <a:p>
            <a:pPr>
              <a:spcAft>
                <a:spcPts val="450"/>
              </a:spcAft>
            </a:pPr>
            <a:r>
              <a:rPr lang="pt-PT" sz="2100" dirty="0">
                <a:solidFill>
                  <a:srgbClr val="00B0F0"/>
                </a:solidFill>
                <a:latin typeface="Arial"/>
                <a:cs typeface="Arial"/>
              </a:rPr>
              <a:t>Autenticação e Gestão de Credenciais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67544" y="1839292"/>
            <a:ext cx="8280920" cy="3108722"/>
          </a:xfrm>
        </p:spPr>
        <p:txBody>
          <a:bodyPr>
            <a:normAutofit fontScale="47500" lnSpcReduction="20000"/>
          </a:bodyPr>
          <a:lstStyle/>
          <a:p>
            <a:r>
              <a:rPr lang="pt-PT" sz="2000" dirty="0" smtClean="0"/>
              <a:t>As credenciais de autenticação para aceder a serviços externos à aplicação devem ser cifradas e armazenadas num local protegido num sistema de confiança, por exemplo, no servidor da aplicação.</a:t>
            </a:r>
          </a:p>
          <a:p>
            <a:r>
              <a:rPr lang="pt-PT" sz="2000" dirty="0" smtClean="0"/>
              <a:t>Utilizar apenas pedidos POST para transmitir credenciais de autenticação</a:t>
            </a:r>
          </a:p>
          <a:p>
            <a:r>
              <a:rPr lang="pt-PT" sz="2000" dirty="0" smtClean="0"/>
              <a:t>Somente trocar senhas (não temporárias) através de uma ligação protegida (SSL/TLS) ou como dado cifrado, como no caso de envio de e-mail cifrado. Senhas temporárias enviadas por e-mail podem ser um caso de exceção aceitável</a:t>
            </a:r>
          </a:p>
          <a:p>
            <a:r>
              <a:rPr lang="pt-PT" sz="2000" dirty="0" smtClean="0"/>
              <a:t>Exigir que os requisitos de complexidade de senha estabelecidos pela política ou regulamento sejam cumpridos. As credenciais de autenticação devem ser suficientes para resistir a ataques que, tipicamente, ameaçam o ambiente de produção. Um exemplo pode ser a exigência do uso simultâneo de caracteres alfabéticos, numérico e/ou caracteres especiais</a:t>
            </a:r>
          </a:p>
          <a:p>
            <a:r>
              <a:rPr lang="pt-PT" sz="2000" dirty="0" smtClean="0"/>
              <a:t>Exigir que os requisitos de comprimento de senha estabelecidos pela política ou regulamento sejam cumpridos. O uso de oito caracteres é o mais comum, porém usar 16 é mais recomendado. Considere, ainda, o uso de senhas que contenham várias palavras (uma frase)</a:t>
            </a:r>
          </a:p>
          <a:p>
            <a:r>
              <a:rPr lang="pt-PT" sz="2000" dirty="0" smtClean="0"/>
              <a:t>A entrada da senha deve ser ocultada no dispositivo de apresentação do utilizador. Em HTML, utilize o campo com o tipo "password"</a:t>
            </a:r>
          </a:p>
          <a:p>
            <a:r>
              <a:rPr lang="pt-PT" sz="2000" dirty="0" smtClean="0"/>
              <a:t>Desativar a conta após um número pré-definido de tentativas inválidas de autenticação (</a:t>
            </a:r>
            <a:r>
              <a:rPr lang="pt-PT" sz="2000" dirty="0" err="1" smtClean="0"/>
              <a:t>ex</a:t>
            </a:r>
            <a:r>
              <a:rPr lang="pt-PT" sz="2000" dirty="0" smtClean="0"/>
              <a:t>: cinco tentativas é o mais comum). A conta deve ser desativada por um período de tempo suficientemente longo para desencorajar a dedução das credenciais pelo método de força bruta, mas não tão longo ao ponto de permitir um ataque de negação de serviço</a:t>
            </a:r>
          </a:p>
          <a:p>
            <a:r>
              <a:rPr lang="pt-PT" sz="2000" dirty="0" smtClean="0"/>
              <a:t>Os processos de redefinição de senhas e operações de mudanças devem exigir os mesmos níveis de controlo previstos para a criação de contas e autenticação</a:t>
            </a:r>
          </a:p>
          <a:p>
            <a:r>
              <a:rPr lang="pt-PT" sz="2000" dirty="0" smtClean="0"/>
              <a:t>Esquemas de pergunta/resposta (pré-definidas) usadas para a redefinição da senha devem evitar ataques que lançam respostas aleatórias. Por exemplo, “livro favorito” é uma questão fraca, pois “A Bíblia” é uma resposta muito comum</a:t>
            </a:r>
          </a:p>
          <a:p>
            <a:r>
              <a:rPr lang="pt-PT" sz="2000" dirty="0" smtClean="0"/>
              <a:t>Se optar por usar redefinição de senha baseada em e-mail, envie um e-mail somente para o endereço pré-definido contendo um </a:t>
            </a:r>
            <a:r>
              <a:rPr lang="pt-PT" sz="2000" i="1" dirty="0" smtClean="0"/>
              <a:t>link </a:t>
            </a:r>
            <a:r>
              <a:rPr lang="pt-PT" sz="2000" dirty="0" smtClean="0"/>
              <a:t>ou senha de acesso temporário que permitam ao utilizador redefinir a senha</a:t>
            </a:r>
          </a:p>
          <a:p>
            <a:r>
              <a:rPr lang="pt-PT" sz="2000" dirty="0" smtClean="0"/>
              <a:t>O tempo de validade das senhas e dos </a:t>
            </a:r>
            <a:r>
              <a:rPr lang="pt-PT" sz="2000" i="1" dirty="0" smtClean="0"/>
              <a:t>links </a:t>
            </a:r>
            <a:r>
              <a:rPr lang="pt-PT" sz="2000" dirty="0" smtClean="0"/>
              <a:t>temporários deve ser curto</a:t>
            </a:r>
          </a:p>
        </p:txBody>
      </p:sp>
    </p:spTree>
    <p:extLst>
      <p:ext uri="{BB962C8B-B14F-4D97-AF65-F5344CB8AC3E}">
        <p14:creationId xmlns:p14="http://schemas.microsoft.com/office/powerpoint/2010/main" val="30045957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79004"/>
            <a:ext cx="6858000" cy="628650"/>
          </a:xfrm>
          <a:solidFill>
            <a:schemeClr val="bg1"/>
          </a:solidFill>
        </p:spPr>
        <p:txBody>
          <a:bodyPr anchor="ctr">
            <a:normAutofit/>
          </a:bodyPr>
          <a:lstStyle/>
          <a:p>
            <a:pPr>
              <a:spcAft>
                <a:spcPts val="450"/>
              </a:spcAft>
            </a:pPr>
            <a:r>
              <a:rPr lang="pt-PT" sz="2100" dirty="0">
                <a:solidFill>
                  <a:srgbClr val="00B0F0"/>
                </a:solidFill>
                <a:latin typeface="Arial"/>
                <a:cs typeface="Arial"/>
              </a:rPr>
              <a:t>Autenticação e Gestão de Credenciais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67544" y="1839292"/>
            <a:ext cx="8280920" cy="3108722"/>
          </a:xfrm>
        </p:spPr>
        <p:txBody>
          <a:bodyPr>
            <a:normAutofit fontScale="55000" lnSpcReduction="20000"/>
          </a:bodyPr>
          <a:lstStyle/>
          <a:p>
            <a:r>
              <a:rPr lang="pt-PT" sz="2000" dirty="0" smtClean="0"/>
              <a:t>Exigir </a:t>
            </a:r>
            <a:r>
              <a:rPr lang="pt-PT" sz="2000" dirty="0"/>
              <a:t>a mudança de senhas temporárias na próxima vez que o utilizador realizar a autenticação </a:t>
            </a:r>
            <a:r>
              <a:rPr lang="pt-PT" sz="2000" dirty="0" smtClean="0"/>
              <a:t>no sistema</a:t>
            </a:r>
            <a:endParaRPr lang="pt-PT" sz="2000" dirty="0"/>
          </a:p>
          <a:p>
            <a:r>
              <a:rPr lang="pt-PT" sz="2000" dirty="0" smtClean="0"/>
              <a:t>Notificar </a:t>
            </a:r>
            <a:r>
              <a:rPr lang="pt-PT" sz="2000" dirty="0"/>
              <a:t>o utilizador quando a sua senha for reiniciada (</a:t>
            </a:r>
            <a:r>
              <a:rPr lang="pt-PT" sz="2000" i="1" dirty="0" err="1"/>
              <a:t>reset</a:t>
            </a:r>
            <a:r>
              <a:rPr lang="pt-PT" sz="2000" dirty="0"/>
              <a:t>)</a:t>
            </a:r>
          </a:p>
          <a:p>
            <a:r>
              <a:rPr lang="pt-PT" sz="2000" dirty="0" smtClean="0"/>
              <a:t>Prevenir </a:t>
            </a:r>
            <a:r>
              <a:rPr lang="pt-PT" sz="2000" dirty="0"/>
              <a:t>a reutilização de senhas</a:t>
            </a:r>
          </a:p>
          <a:p>
            <a:r>
              <a:rPr lang="pt-PT" sz="2000" dirty="0" smtClean="0"/>
              <a:t>As </a:t>
            </a:r>
            <a:r>
              <a:rPr lang="pt-PT" sz="2000" dirty="0"/>
              <a:t>senhas devem ter, pelo menos, um dia de duração antes de poderem ser alteradas, a fim de </a:t>
            </a:r>
            <a:r>
              <a:rPr lang="pt-PT" sz="2000" dirty="0" smtClean="0"/>
              <a:t>evitar ataques </a:t>
            </a:r>
            <a:r>
              <a:rPr lang="pt-PT" sz="2000" dirty="0"/>
              <a:t>de reutilização de senhas</a:t>
            </a:r>
          </a:p>
          <a:p>
            <a:r>
              <a:rPr lang="pt-PT" sz="2000" dirty="0" smtClean="0"/>
              <a:t>Garantir </a:t>
            </a:r>
            <a:r>
              <a:rPr lang="pt-PT" sz="2000" dirty="0"/>
              <a:t>que a troca de senhas está em conformidade com os requisitos estabelecidos na política </a:t>
            </a:r>
            <a:r>
              <a:rPr lang="pt-PT" sz="2000" dirty="0" smtClean="0"/>
              <a:t>ou regulamento</a:t>
            </a:r>
            <a:r>
              <a:rPr lang="pt-PT" sz="2000" dirty="0"/>
              <a:t>. Sistemas críticos podem exigir alterações mais frequentes nas credenciais </a:t>
            </a:r>
            <a:r>
              <a:rPr lang="pt-PT" sz="2000" dirty="0" smtClean="0"/>
              <a:t>de segurança</a:t>
            </a:r>
            <a:r>
              <a:rPr lang="pt-PT" sz="2000" dirty="0"/>
              <a:t>. O tempo entre as trocas de senhas deve ser controlado administrativamente</a:t>
            </a:r>
          </a:p>
          <a:p>
            <a:r>
              <a:rPr lang="pt-PT" sz="2000" dirty="0" smtClean="0"/>
              <a:t>Desativar </a:t>
            </a:r>
            <a:r>
              <a:rPr lang="pt-PT" sz="2000" dirty="0"/>
              <a:t>a funcionalidade de lembrar a senha nos campos de senha do navegador</a:t>
            </a:r>
          </a:p>
          <a:p>
            <a:r>
              <a:rPr lang="pt-PT" sz="2000" dirty="0" smtClean="0"/>
              <a:t>A </a:t>
            </a:r>
            <a:r>
              <a:rPr lang="pt-PT" sz="2000" dirty="0"/>
              <a:t>data/hora da última utilização (bem ou mal sucedida) de uma conta de utilizador deve </a:t>
            </a:r>
            <a:r>
              <a:rPr lang="pt-PT" sz="2000" dirty="0" smtClean="0"/>
              <a:t>ser comunicada </a:t>
            </a:r>
            <a:r>
              <a:rPr lang="pt-PT" sz="2000" dirty="0"/>
              <a:t>na próxima entrada no sistema</a:t>
            </a:r>
          </a:p>
          <a:p>
            <a:r>
              <a:rPr lang="pt-PT" sz="2000" dirty="0" smtClean="0"/>
              <a:t>Realizar </a:t>
            </a:r>
            <a:r>
              <a:rPr lang="pt-PT" sz="2000" dirty="0"/>
              <a:t>monitorização para identificar ataques contra várias contas de utilizadores, utilizando </a:t>
            </a:r>
            <a:r>
              <a:rPr lang="pt-PT" sz="2000" dirty="0" smtClean="0"/>
              <a:t>a mesma </a:t>
            </a:r>
            <a:r>
              <a:rPr lang="pt-PT" sz="2000" dirty="0"/>
              <a:t>senha. Esse padrão de ataque é utilizado para explorar o uso de senhas </a:t>
            </a:r>
            <a:r>
              <a:rPr lang="pt-PT" sz="2000" dirty="0" smtClean="0"/>
              <a:t>padrão</a:t>
            </a:r>
          </a:p>
          <a:p>
            <a:r>
              <a:rPr lang="pt-PT" sz="2000" dirty="0"/>
              <a:t>Modificar todas as senhas que, por padrão, são definidas pelos fornecedores, bem como </a:t>
            </a:r>
            <a:r>
              <a:rPr lang="pt-PT" sz="2000" dirty="0" smtClean="0"/>
              <a:t>os identificadores </a:t>
            </a:r>
            <a:r>
              <a:rPr lang="pt-PT" sz="2000" dirty="0"/>
              <a:t>de utilizadores (</a:t>
            </a:r>
            <a:r>
              <a:rPr lang="pt-PT" sz="2000" dirty="0" err="1"/>
              <a:t>IDs</a:t>
            </a:r>
            <a:r>
              <a:rPr lang="pt-PT" sz="2000" dirty="0"/>
              <a:t>) ou desativar as contas associadas</a:t>
            </a:r>
          </a:p>
          <a:p>
            <a:r>
              <a:rPr lang="pt-PT" sz="2000" dirty="0" smtClean="0"/>
              <a:t>Exigir </a:t>
            </a:r>
            <a:r>
              <a:rPr lang="pt-PT" sz="2000" dirty="0"/>
              <a:t>nova autenticação dos utilizadores antes da realização de operações críticas</a:t>
            </a:r>
          </a:p>
          <a:p>
            <a:r>
              <a:rPr lang="pt-PT" sz="2000" dirty="0" smtClean="0"/>
              <a:t>Utilizar </a:t>
            </a:r>
            <a:r>
              <a:rPr lang="pt-PT" sz="2000" i="1" dirty="0"/>
              <a:t>autenticação de múltiplos fatores </a:t>
            </a:r>
            <a:r>
              <a:rPr lang="pt-PT" sz="2000" dirty="0"/>
              <a:t>(utilizando simultaneamente </a:t>
            </a:r>
            <a:r>
              <a:rPr lang="pt-PT" sz="2000" dirty="0" err="1"/>
              <a:t>token</a:t>
            </a:r>
            <a:r>
              <a:rPr lang="pt-PT" sz="2000" dirty="0"/>
              <a:t>, senha, biometria </a:t>
            </a:r>
            <a:r>
              <a:rPr lang="pt-PT" sz="2000" dirty="0" smtClean="0"/>
              <a:t>etc.5) para </a:t>
            </a:r>
            <a:r>
              <a:rPr lang="pt-PT" sz="2000" dirty="0"/>
              <a:t>contas altamente sensíveis ou de elevado valor transacional</a:t>
            </a:r>
          </a:p>
          <a:p>
            <a:r>
              <a:rPr lang="pt-PT" sz="2000" dirty="0" smtClean="0"/>
              <a:t>Caso </a:t>
            </a:r>
            <a:r>
              <a:rPr lang="pt-PT" sz="2000" dirty="0"/>
              <a:t>utilize código de terceiros para realizar a autenticação, inspecione-o cuidadosamente </a:t>
            </a:r>
            <a:r>
              <a:rPr lang="pt-PT" sz="2000" dirty="0" smtClean="0"/>
              <a:t>para garantir </a:t>
            </a:r>
            <a:r>
              <a:rPr lang="pt-PT" sz="2000" dirty="0"/>
              <a:t>que o mesmo não é afetado por qualquer código malicioso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3529780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79004"/>
            <a:ext cx="6858000" cy="628650"/>
          </a:xfrm>
          <a:solidFill>
            <a:schemeClr val="bg1"/>
          </a:solidFill>
        </p:spPr>
        <p:txBody>
          <a:bodyPr anchor="ctr">
            <a:normAutofit/>
          </a:bodyPr>
          <a:lstStyle/>
          <a:p>
            <a:pPr>
              <a:spcAft>
                <a:spcPts val="450"/>
              </a:spcAft>
            </a:pPr>
            <a:r>
              <a:rPr lang="pt-PT" sz="2100" dirty="0">
                <a:solidFill>
                  <a:srgbClr val="00B0F0"/>
                </a:solidFill>
                <a:latin typeface="Arial"/>
                <a:cs typeface="Arial"/>
              </a:rPr>
              <a:t>Gestão de Sessões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67544" y="1839292"/>
            <a:ext cx="8280920" cy="3108722"/>
          </a:xfrm>
        </p:spPr>
        <p:txBody>
          <a:bodyPr>
            <a:normAutofit fontScale="32500" lnSpcReduction="20000"/>
          </a:bodyPr>
          <a:lstStyle/>
          <a:p>
            <a:r>
              <a:rPr lang="pt-PT" dirty="0"/>
              <a:t>Utilizar controlos de gestão de sessão baseados no servidor ou em </a:t>
            </a:r>
            <a:r>
              <a:rPr lang="pt-PT" dirty="0" err="1"/>
              <a:t>framework</a:t>
            </a:r>
            <a:r>
              <a:rPr lang="pt-PT" dirty="0"/>
              <a:t>. A aplicação </a:t>
            </a:r>
            <a:r>
              <a:rPr lang="pt-PT" dirty="0" smtClean="0"/>
              <a:t>deve reconhecer </a:t>
            </a:r>
            <a:r>
              <a:rPr lang="pt-PT" dirty="0"/>
              <a:t>apenas esses identificadores de sessão como válidos</a:t>
            </a:r>
          </a:p>
          <a:p>
            <a:r>
              <a:rPr lang="pt-PT" dirty="0" smtClean="0"/>
              <a:t>A </a:t>
            </a:r>
            <a:r>
              <a:rPr lang="pt-PT" dirty="0"/>
              <a:t>criação dos identificadores de sessão deve ser sempre realizada num sistema de confiança, </a:t>
            </a:r>
            <a:r>
              <a:rPr lang="pt-PT" dirty="0" smtClean="0"/>
              <a:t>por exemplo</a:t>
            </a:r>
            <a:r>
              <a:rPr lang="pt-PT" dirty="0"/>
              <a:t>, centralizado no servidor</a:t>
            </a:r>
          </a:p>
          <a:p>
            <a:r>
              <a:rPr lang="pt-PT" dirty="0" smtClean="0"/>
              <a:t>O </a:t>
            </a:r>
            <a:r>
              <a:rPr lang="pt-PT" dirty="0"/>
              <a:t>controlo de gestão de sessão deve usar algoritmos conhecidos, padronizados e bem testados </a:t>
            </a:r>
            <a:r>
              <a:rPr lang="pt-PT" dirty="0" smtClean="0"/>
              <a:t>que garantam </a:t>
            </a:r>
            <a:r>
              <a:rPr lang="pt-PT" dirty="0"/>
              <a:t>a aleatoriedade dos identificadores de sessão</a:t>
            </a:r>
          </a:p>
          <a:p>
            <a:r>
              <a:rPr lang="pt-PT" dirty="0" smtClean="0"/>
              <a:t>Definir </a:t>
            </a:r>
            <a:r>
              <a:rPr lang="pt-PT" dirty="0"/>
              <a:t>o domínio e o caminho para os cookies que contêm identificadores de sessão </a:t>
            </a:r>
            <a:r>
              <a:rPr lang="pt-PT" dirty="0" smtClean="0"/>
              <a:t>autenticados, para </a:t>
            </a:r>
            <a:r>
              <a:rPr lang="pt-PT" dirty="0"/>
              <a:t>um valor devidamente restrito para o site</a:t>
            </a:r>
          </a:p>
          <a:p>
            <a:r>
              <a:rPr lang="pt-PT" dirty="0" smtClean="0"/>
              <a:t>A </a:t>
            </a:r>
            <a:r>
              <a:rPr lang="pt-PT" dirty="0"/>
              <a:t>funcionalidade de saída (</a:t>
            </a:r>
            <a:r>
              <a:rPr lang="pt-PT" i="1" dirty="0" err="1"/>
              <a:t>logout</a:t>
            </a:r>
            <a:r>
              <a:rPr lang="pt-PT" dirty="0"/>
              <a:t>) deve encerrar completamente a sessão ou ligação associada</a:t>
            </a:r>
          </a:p>
          <a:p>
            <a:r>
              <a:rPr lang="pt-PT" dirty="0" smtClean="0"/>
              <a:t>A </a:t>
            </a:r>
            <a:r>
              <a:rPr lang="pt-PT" dirty="0"/>
              <a:t>funcionalidade de saída (</a:t>
            </a:r>
            <a:r>
              <a:rPr lang="pt-PT" i="1" dirty="0" err="1"/>
              <a:t>logout</a:t>
            </a:r>
            <a:r>
              <a:rPr lang="pt-PT" dirty="0"/>
              <a:t>) deve estar disponível em todas as páginas que </a:t>
            </a:r>
            <a:r>
              <a:rPr lang="pt-PT" dirty="0" smtClean="0"/>
              <a:t>requerem autenticação</a:t>
            </a:r>
            <a:endParaRPr lang="pt-PT" dirty="0"/>
          </a:p>
          <a:p>
            <a:r>
              <a:rPr lang="pt-PT" dirty="0" smtClean="0"/>
              <a:t>Estabelecer </a:t>
            </a:r>
            <a:r>
              <a:rPr lang="pt-PT" dirty="0"/>
              <a:t>um tempo de expiração da sessão que seja o mais curto possível, baseado </a:t>
            </a:r>
            <a:r>
              <a:rPr lang="pt-PT" dirty="0" smtClean="0"/>
              <a:t>no balanceamento </a:t>
            </a:r>
            <a:r>
              <a:rPr lang="pt-PT" dirty="0"/>
              <a:t>dos riscos e requisitos funcionais do negócio. Na maioria dos casos não deve </a:t>
            </a:r>
            <a:r>
              <a:rPr lang="pt-PT" dirty="0" smtClean="0"/>
              <a:t>ser mais </a:t>
            </a:r>
            <a:r>
              <a:rPr lang="pt-PT" dirty="0"/>
              <a:t>do que algumas horas</a:t>
            </a:r>
          </a:p>
          <a:p>
            <a:r>
              <a:rPr lang="pt-PT" dirty="0" smtClean="0"/>
              <a:t>Não </a:t>
            </a:r>
            <a:r>
              <a:rPr lang="pt-PT" dirty="0"/>
              <a:t>permitir logins persistentes (sem prazo de expiração) e realizar o encerramento da </a:t>
            </a:r>
            <a:r>
              <a:rPr lang="pt-PT" dirty="0" smtClean="0"/>
              <a:t>sessão periodicamente</a:t>
            </a:r>
            <a:r>
              <a:rPr lang="pt-PT" dirty="0"/>
              <a:t>, mesmo quando ela estiver ativa. Isso deve ser feito, especialmente, em </a:t>
            </a:r>
            <a:r>
              <a:rPr lang="pt-PT" dirty="0" smtClean="0"/>
              <a:t>aplicações que </a:t>
            </a:r>
            <a:r>
              <a:rPr lang="pt-PT" dirty="0"/>
              <a:t>suportam várias ligações de rede ou que se ligam a sistemas críticos. O tempo de </a:t>
            </a:r>
            <a:r>
              <a:rPr lang="pt-PT" dirty="0" smtClean="0"/>
              <a:t>encerramento deve </a:t>
            </a:r>
            <a:r>
              <a:rPr lang="pt-PT" dirty="0"/>
              <a:t>estar de acordo com os requisitos do negócio e o utilizador deve receber </a:t>
            </a:r>
            <a:r>
              <a:rPr lang="pt-PT" dirty="0" smtClean="0"/>
              <a:t>notificações suficientes </a:t>
            </a:r>
            <a:r>
              <a:rPr lang="pt-PT" dirty="0"/>
              <a:t>para atenuar os impactos negativos dessa medida</a:t>
            </a:r>
          </a:p>
          <a:p>
            <a:r>
              <a:rPr lang="pt-PT" dirty="0" smtClean="0"/>
              <a:t>Se </a:t>
            </a:r>
            <a:r>
              <a:rPr lang="pt-PT" dirty="0"/>
              <a:t>uma sessão estava estabelecida antes do login ela deve ser encerrada para que uma nova </a:t>
            </a:r>
            <a:r>
              <a:rPr lang="pt-PT" dirty="0" smtClean="0"/>
              <a:t>seja estabelecida </a:t>
            </a:r>
            <a:r>
              <a:rPr lang="pt-PT" dirty="0"/>
              <a:t>após o login</a:t>
            </a:r>
          </a:p>
          <a:p>
            <a:r>
              <a:rPr lang="pt-PT" dirty="0" smtClean="0"/>
              <a:t>Gerar </a:t>
            </a:r>
            <a:r>
              <a:rPr lang="pt-PT" dirty="0"/>
              <a:t>um novo identificador de sessão quando houver uma nova autenticação</a:t>
            </a:r>
          </a:p>
          <a:p>
            <a:r>
              <a:rPr lang="pt-PT" dirty="0" smtClean="0"/>
              <a:t>Não </a:t>
            </a:r>
            <a:r>
              <a:rPr lang="pt-PT" dirty="0"/>
              <a:t>permitir conexões simultâneas com o mesmo identificador de utilizador</a:t>
            </a:r>
          </a:p>
        </p:txBody>
      </p:sp>
    </p:spTree>
    <p:extLst>
      <p:ext uri="{BB962C8B-B14F-4D97-AF65-F5344CB8AC3E}">
        <p14:creationId xmlns:p14="http://schemas.microsoft.com/office/powerpoint/2010/main" val="9114434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79004"/>
            <a:ext cx="6858000" cy="628650"/>
          </a:xfrm>
          <a:solidFill>
            <a:schemeClr val="bg1"/>
          </a:solidFill>
        </p:spPr>
        <p:txBody>
          <a:bodyPr anchor="ctr">
            <a:normAutofit/>
          </a:bodyPr>
          <a:lstStyle/>
          <a:p>
            <a:pPr>
              <a:spcAft>
                <a:spcPts val="450"/>
              </a:spcAft>
            </a:pPr>
            <a:r>
              <a:rPr lang="pt-PT" sz="2100" dirty="0">
                <a:solidFill>
                  <a:srgbClr val="00B0F0"/>
                </a:solidFill>
                <a:latin typeface="Arial"/>
                <a:cs typeface="Arial"/>
              </a:rPr>
              <a:t>Gestão de Sessões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67544" y="1839292"/>
            <a:ext cx="8280920" cy="3108722"/>
          </a:xfrm>
        </p:spPr>
        <p:txBody>
          <a:bodyPr>
            <a:normAutofit fontScale="32500" lnSpcReduction="20000"/>
          </a:bodyPr>
          <a:lstStyle/>
          <a:p>
            <a:r>
              <a:rPr lang="pt-PT" dirty="0"/>
              <a:t>Não expor os identificadores de sessão em </a:t>
            </a:r>
            <a:r>
              <a:rPr lang="pt-PT" dirty="0" err="1"/>
              <a:t>URLs</a:t>
            </a:r>
            <a:r>
              <a:rPr lang="pt-PT" dirty="0"/>
              <a:t>, mensagens de erro ou </a:t>
            </a:r>
            <a:r>
              <a:rPr lang="pt-PT" dirty="0" err="1"/>
              <a:t>logs</a:t>
            </a:r>
            <a:r>
              <a:rPr lang="pt-PT" dirty="0"/>
              <a:t>. Os identificadores </a:t>
            </a:r>
            <a:r>
              <a:rPr lang="pt-PT" dirty="0" smtClean="0"/>
              <a:t>de sessão </a:t>
            </a:r>
            <a:r>
              <a:rPr lang="pt-PT" dirty="0"/>
              <a:t>devem apenas ser encontrados no cabeçalho do cookie HTTP. Por exemplo, não enviar </a:t>
            </a:r>
            <a:r>
              <a:rPr lang="pt-PT" dirty="0" smtClean="0"/>
              <a:t>os identificadores </a:t>
            </a:r>
            <a:r>
              <a:rPr lang="pt-PT" dirty="0"/>
              <a:t>de sessão sob a forma de parâmetros GET</a:t>
            </a:r>
          </a:p>
          <a:p>
            <a:r>
              <a:rPr lang="pt-PT" dirty="0" smtClean="0"/>
              <a:t>Proteger </a:t>
            </a:r>
            <a:r>
              <a:rPr lang="pt-PT" dirty="0"/>
              <a:t>os dados de sessão do lado servidor contra acessos não autorizados por outros </a:t>
            </a:r>
            <a:r>
              <a:rPr lang="pt-PT" dirty="0" smtClean="0"/>
              <a:t>utilizadores do </a:t>
            </a:r>
            <a:r>
              <a:rPr lang="pt-PT" dirty="0"/>
              <a:t>servidor, através da implementação de controlos de acesso apropriados no servidor</a:t>
            </a:r>
          </a:p>
          <a:p>
            <a:r>
              <a:rPr lang="pt-PT" dirty="0" smtClean="0"/>
              <a:t>Gerar </a:t>
            </a:r>
            <a:r>
              <a:rPr lang="pt-PT" dirty="0"/>
              <a:t>um novo identificador de sessão e desativar o antigo periodicamente. Isso pode mitigar </a:t>
            </a:r>
            <a:r>
              <a:rPr lang="pt-PT" dirty="0" smtClean="0"/>
              <a:t>certos cenários </a:t>
            </a:r>
            <a:r>
              <a:rPr lang="pt-PT" dirty="0"/>
              <a:t>de ataques de rapto de sessão (</a:t>
            </a:r>
            <a:r>
              <a:rPr lang="pt-PT" i="1" dirty="0" err="1"/>
              <a:t>session</a:t>
            </a:r>
            <a:r>
              <a:rPr lang="pt-PT" i="1" dirty="0"/>
              <a:t> </a:t>
            </a:r>
            <a:r>
              <a:rPr lang="pt-PT" i="1" dirty="0" err="1"/>
              <a:t>hijacking</a:t>
            </a:r>
            <a:r>
              <a:rPr lang="pt-PT" dirty="0"/>
              <a:t>), quando o identificador de sessão </a:t>
            </a:r>
            <a:r>
              <a:rPr lang="pt-PT" dirty="0" smtClean="0"/>
              <a:t>original for </a:t>
            </a:r>
            <a:r>
              <a:rPr lang="pt-PT" dirty="0"/>
              <a:t>comprometido</a:t>
            </a:r>
          </a:p>
          <a:p>
            <a:r>
              <a:rPr lang="pt-PT" dirty="0" smtClean="0"/>
              <a:t>Gerar </a:t>
            </a:r>
            <a:r>
              <a:rPr lang="pt-PT" dirty="0"/>
              <a:t>um novo identificador de sessão caso a segurança da ligação mude de HTTP para HTTPS,</a:t>
            </a:r>
          </a:p>
          <a:p>
            <a:r>
              <a:rPr lang="pt-PT" dirty="0"/>
              <a:t>como pode ocorrer durante a autenticação. Internamente à aplicação, é recomendável utilizar </a:t>
            </a:r>
            <a:r>
              <a:rPr lang="pt-PT" dirty="0" smtClean="0"/>
              <a:t>HTTPS de </a:t>
            </a:r>
            <a:r>
              <a:rPr lang="pt-PT" dirty="0"/>
              <a:t>forma constante em vez de alternar entre HTTP e HTTPS</a:t>
            </a:r>
          </a:p>
          <a:p>
            <a:r>
              <a:rPr lang="pt-PT" dirty="0" smtClean="0"/>
              <a:t>Utilizar </a:t>
            </a:r>
            <a:r>
              <a:rPr lang="pt-PT" dirty="0"/>
              <a:t>mecanismos complementares ao mecanismo padrão de gestão de sessões para operações</a:t>
            </a:r>
          </a:p>
          <a:p>
            <a:r>
              <a:rPr lang="pt-PT" dirty="0"/>
              <a:t>sensíveis do lado do servidor – como no caso de operações de gestão de contas – através </a:t>
            </a:r>
            <a:r>
              <a:rPr lang="pt-PT" dirty="0" smtClean="0"/>
              <a:t>da </a:t>
            </a:r>
            <a:r>
              <a:rPr lang="pt-PT" dirty="0"/>
              <a:t>utilização de </a:t>
            </a:r>
            <a:r>
              <a:rPr lang="pt-PT" dirty="0" err="1"/>
              <a:t>tokens</a:t>
            </a:r>
            <a:r>
              <a:rPr lang="pt-PT" dirty="0"/>
              <a:t> aleatórios ou parâmetros associados à sessão. Este método pode ser usado para</a:t>
            </a:r>
          </a:p>
          <a:p>
            <a:r>
              <a:rPr lang="pt-PT" dirty="0"/>
              <a:t>prevenir ataques do tipo Cross Site </a:t>
            </a:r>
            <a:r>
              <a:rPr lang="pt-PT" dirty="0" err="1"/>
              <a:t>Request</a:t>
            </a:r>
            <a:r>
              <a:rPr lang="pt-PT" dirty="0"/>
              <a:t> </a:t>
            </a:r>
            <a:r>
              <a:rPr lang="pt-PT" dirty="0" err="1"/>
              <a:t>Forgery</a:t>
            </a:r>
            <a:r>
              <a:rPr lang="pt-PT" dirty="0"/>
              <a:t> (CSRF)</a:t>
            </a:r>
          </a:p>
          <a:p>
            <a:r>
              <a:rPr lang="pt-PT" dirty="0" smtClean="0"/>
              <a:t>Utilizar </a:t>
            </a:r>
            <a:r>
              <a:rPr lang="pt-PT" dirty="0"/>
              <a:t>mecanismos complementares à gestão de sessões para operações altamente sensíveis </a:t>
            </a:r>
            <a:r>
              <a:rPr lang="pt-PT" dirty="0" smtClean="0"/>
              <a:t>ou críticas</a:t>
            </a:r>
            <a:r>
              <a:rPr lang="pt-PT" dirty="0"/>
              <a:t>, utilizando </a:t>
            </a:r>
            <a:r>
              <a:rPr lang="pt-PT" dirty="0" err="1"/>
              <a:t>tokens</a:t>
            </a:r>
            <a:r>
              <a:rPr lang="pt-PT" dirty="0"/>
              <a:t> aleatórios ou parâmetros em cada requisição em vez de basear-se </a:t>
            </a:r>
            <a:r>
              <a:rPr lang="pt-PT" dirty="0" smtClean="0"/>
              <a:t>apenas na </a:t>
            </a:r>
            <a:r>
              <a:rPr lang="pt-PT" dirty="0"/>
              <a:t>sessão</a:t>
            </a:r>
          </a:p>
          <a:p>
            <a:r>
              <a:rPr lang="pt-PT" dirty="0" smtClean="0"/>
              <a:t>Configurar </a:t>
            </a:r>
            <a:r>
              <a:rPr lang="pt-PT" dirty="0"/>
              <a:t>o atributo "secure" para cookies transmitidos através de uma ligação TLS</a:t>
            </a:r>
          </a:p>
          <a:p>
            <a:r>
              <a:rPr lang="pt-PT" dirty="0" smtClean="0"/>
              <a:t>Configurar </a:t>
            </a:r>
            <a:r>
              <a:rPr lang="pt-PT" dirty="0"/>
              <a:t>os cookies com o atributo “</a:t>
            </a:r>
            <a:r>
              <a:rPr lang="pt-PT" dirty="0" err="1"/>
              <a:t>HttpOnly</a:t>
            </a:r>
            <a:r>
              <a:rPr lang="pt-PT" dirty="0"/>
              <a:t>”, a menos que seja explicitamente necessário ler </a:t>
            </a:r>
            <a:r>
              <a:rPr lang="pt-PT" dirty="0" smtClean="0"/>
              <a:t>ou definir </a:t>
            </a:r>
            <a:r>
              <a:rPr lang="pt-PT" dirty="0"/>
              <a:t>os valores dos mesmos através de scripts do lado cliente da aplicação</a:t>
            </a:r>
          </a:p>
        </p:txBody>
      </p:sp>
    </p:spTree>
    <p:extLst>
      <p:ext uri="{BB962C8B-B14F-4D97-AF65-F5344CB8AC3E}">
        <p14:creationId xmlns:p14="http://schemas.microsoft.com/office/powerpoint/2010/main" val="14559442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79004"/>
            <a:ext cx="6858000" cy="628650"/>
          </a:xfrm>
          <a:solidFill>
            <a:schemeClr val="bg1"/>
          </a:solidFill>
        </p:spPr>
        <p:txBody>
          <a:bodyPr anchor="ctr">
            <a:normAutofit/>
          </a:bodyPr>
          <a:lstStyle/>
          <a:p>
            <a:pPr>
              <a:spcAft>
                <a:spcPts val="450"/>
              </a:spcAft>
            </a:pPr>
            <a:r>
              <a:rPr lang="pt-PT" sz="2100" dirty="0">
                <a:solidFill>
                  <a:srgbClr val="00B0F0"/>
                </a:solidFill>
                <a:latin typeface="Arial"/>
                <a:cs typeface="Arial"/>
              </a:rPr>
              <a:t>Controlo de Acessos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67544" y="1839292"/>
            <a:ext cx="8280920" cy="3108722"/>
          </a:xfrm>
        </p:spPr>
        <p:txBody>
          <a:bodyPr>
            <a:noAutofit/>
          </a:bodyPr>
          <a:lstStyle/>
          <a:p>
            <a:r>
              <a:rPr lang="pt-PT" sz="900" dirty="0"/>
              <a:t>Utilizar apenas objetos do sistema que sejam de confiança, como ocorre com os objetos de sessão </a:t>
            </a:r>
            <a:r>
              <a:rPr lang="pt-PT" sz="900" dirty="0" smtClean="0"/>
              <a:t>do servidor</a:t>
            </a:r>
            <a:r>
              <a:rPr lang="pt-PT" sz="900" dirty="0"/>
              <a:t>, para realizar a tomada de decisão sobre a autorização de acesso</a:t>
            </a:r>
          </a:p>
          <a:p>
            <a:r>
              <a:rPr lang="pt-PT" sz="900" dirty="0" smtClean="0"/>
              <a:t>Utilizar </a:t>
            </a:r>
            <a:r>
              <a:rPr lang="pt-PT" sz="900" dirty="0"/>
              <a:t>um único componente em toda a aplicação Web para realizar o processo de verificação </a:t>
            </a:r>
            <a:r>
              <a:rPr lang="pt-PT" sz="900" dirty="0" smtClean="0"/>
              <a:t>de autorização </a:t>
            </a:r>
            <a:r>
              <a:rPr lang="pt-PT" sz="900" dirty="0"/>
              <a:t>de acesso. Isto inclui bibliotecas que invocam os serviços externos de autorização</a:t>
            </a:r>
          </a:p>
          <a:p>
            <a:r>
              <a:rPr lang="pt-PT" sz="900" dirty="0" smtClean="0"/>
              <a:t>Quando </a:t>
            </a:r>
            <a:r>
              <a:rPr lang="pt-PT" sz="900" dirty="0"/>
              <a:t>ocorrer alguma falha no controlo de acesso, ela deve ocorrer de modo seguro</a:t>
            </a:r>
          </a:p>
          <a:p>
            <a:r>
              <a:rPr lang="pt-PT" sz="900" dirty="0" smtClean="0"/>
              <a:t>Negar </a:t>
            </a:r>
            <a:r>
              <a:rPr lang="pt-PT" sz="900" dirty="0"/>
              <a:t>todos os acessos, caso a aplicação não consiga ter acesso às informações contidas </a:t>
            </a:r>
            <a:r>
              <a:rPr lang="pt-PT" sz="900" dirty="0" smtClean="0"/>
              <a:t>na configuração </a:t>
            </a:r>
            <a:r>
              <a:rPr lang="pt-PT" sz="900" dirty="0"/>
              <a:t>de segurança</a:t>
            </a:r>
          </a:p>
          <a:p>
            <a:r>
              <a:rPr lang="pt-PT" sz="900" dirty="0" smtClean="0"/>
              <a:t>Garantir </a:t>
            </a:r>
            <a:r>
              <a:rPr lang="pt-PT" sz="900" dirty="0"/>
              <a:t>o controlo de autorização em todos os pedidos, inclusive em scripts do lado do servidor</a:t>
            </a:r>
            <a:r>
              <a:rPr lang="pt-PT" sz="900" dirty="0" smtClean="0"/>
              <a:t>, "</a:t>
            </a:r>
            <a:r>
              <a:rPr lang="pt-PT" sz="900" dirty="0" err="1"/>
              <a:t>includes</a:t>
            </a:r>
            <a:r>
              <a:rPr lang="pt-PT" sz="900" dirty="0"/>
              <a:t>" e pedidos provenientes de tecnologias do lado cliente, como AJAX e Flash</a:t>
            </a:r>
          </a:p>
          <a:p>
            <a:r>
              <a:rPr lang="pt-PT" sz="900" dirty="0" smtClean="0"/>
              <a:t>Isolar </a:t>
            </a:r>
            <a:r>
              <a:rPr lang="pt-PT" sz="900" dirty="0"/>
              <a:t>do código da aplicação os trechos de código que contêm lógica </a:t>
            </a:r>
            <a:r>
              <a:rPr lang="pt-PT" sz="900" dirty="0" err="1"/>
              <a:t>priviligiada</a:t>
            </a:r>
            <a:endParaRPr lang="pt-PT" sz="900" dirty="0"/>
          </a:p>
          <a:p>
            <a:r>
              <a:rPr lang="pt-PT" sz="900" dirty="0" smtClean="0"/>
              <a:t>estringir </a:t>
            </a:r>
            <a:r>
              <a:rPr lang="pt-PT" sz="900" dirty="0"/>
              <a:t>o acesso aos arquivos e outros recursos, incluindo aqueles que estão fora do </a:t>
            </a:r>
            <a:r>
              <a:rPr lang="pt-PT" sz="900" dirty="0" smtClean="0"/>
              <a:t>controle direto </a:t>
            </a:r>
            <a:r>
              <a:rPr lang="pt-PT" sz="900" dirty="0"/>
              <a:t>da aplicação, somente aos utilizadores autorizados</a:t>
            </a:r>
          </a:p>
          <a:p>
            <a:r>
              <a:rPr lang="pt-PT" sz="900" dirty="0" smtClean="0"/>
              <a:t>Restringir </a:t>
            </a:r>
            <a:r>
              <a:rPr lang="pt-PT" sz="900" dirty="0"/>
              <a:t>o acesso às </a:t>
            </a:r>
            <a:r>
              <a:rPr lang="pt-PT" sz="900" dirty="0" err="1"/>
              <a:t>URLs</a:t>
            </a:r>
            <a:r>
              <a:rPr lang="pt-PT" sz="900" dirty="0"/>
              <a:t> protegidas somente aos utilizadores autorizados</a:t>
            </a:r>
          </a:p>
          <a:p>
            <a:r>
              <a:rPr lang="pt-PT" sz="900" dirty="0" smtClean="0"/>
              <a:t>Restringir </a:t>
            </a:r>
            <a:r>
              <a:rPr lang="pt-PT" sz="900" dirty="0"/>
              <a:t>o acesso às funções protegidas somente aos utilizadores autorizados</a:t>
            </a:r>
          </a:p>
          <a:p>
            <a:r>
              <a:rPr lang="pt-PT" sz="900" dirty="0" smtClean="0"/>
              <a:t>Restringir </a:t>
            </a:r>
            <a:r>
              <a:rPr lang="pt-PT" sz="900" dirty="0"/>
              <a:t>o acesso às referências diretas aos objetos somente aos utilizadores autorizados</a:t>
            </a:r>
          </a:p>
          <a:p>
            <a:r>
              <a:rPr lang="pt-PT" sz="900" dirty="0" smtClean="0"/>
              <a:t>Restringir </a:t>
            </a:r>
            <a:r>
              <a:rPr lang="pt-PT" sz="900" dirty="0"/>
              <a:t>o acesso aos serviços somente aos utilizadores autorizados</a:t>
            </a:r>
          </a:p>
          <a:p>
            <a:r>
              <a:rPr lang="pt-PT" sz="900" dirty="0" smtClean="0"/>
              <a:t>Restringir </a:t>
            </a:r>
            <a:r>
              <a:rPr lang="pt-PT" sz="900" dirty="0"/>
              <a:t>o acesso aos dados da aplicação somente aos utilizadores autorizados</a:t>
            </a:r>
          </a:p>
          <a:p>
            <a:r>
              <a:rPr lang="pt-PT" sz="900" dirty="0" smtClean="0"/>
              <a:t>Restringir </a:t>
            </a:r>
            <a:r>
              <a:rPr lang="pt-PT" sz="900" dirty="0"/>
              <a:t>o acesso aos atributos e dados dos utilizadores, bem como informações das </a:t>
            </a:r>
            <a:r>
              <a:rPr lang="pt-PT" sz="900" dirty="0" smtClean="0"/>
              <a:t>políticas usadas </a:t>
            </a:r>
            <a:r>
              <a:rPr lang="pt-PT" sz="900" dirty="0"/>
              <a:t>pelos mecanismos de controle de acesso</a:t>
            </a:r>
          </a:p>
          <a:p>
            <a:r>
              <a:rPr lang="pt-PT" sz="900" dirty="0" smtClean="0"/>
              <a:t>Restringir </a:t>
            </a:r>
            <a:r>
              <a:rPr lang="pt-PT" sz="900" dirty="0"/>
              <a:t>o acesso às configurações de segurança relevantes apenas aos utilizadores autorizados</a:t>
            </a:r>
          </a:p>
          <a:p>
            <a:r>
              <a:rPr lang="pt-PT" sz="900" dirty="0" smtClean="0"/>
              <a:t>As </a:t>
            </a:r>
            <a:r>
              <a:rPr lang="pt-PT" sz="900" dirty="0"/>
              <a:t>regras de controlo de acesso representadas pela camada de apresentação devem coincidir com </a:t>
            </a:r>
            <a:r>
              <a:rPr lang="pt-PT" sz="900" dirty="0" smtClean="0"/>
              <a:t>as regras </a:t>
            </a:r>
            <a:r>
              <a:rPr lang="pt-PT" sz="900" dirty="0"/>
              <a:t>presentes no lado servidor</a:t>
            </a:r>
          </a:p>
          <a:p>
            <a:r>
              <a:rPr lang="pt-PT" sz="900" dirty="0" smtClean="0"/>
              <a:t>Se </a:t>
            </a:r>
            <a:r>
              <a:rPr lang="pt-PT" sz="900" dirty="0"/>
              <a:t>o </a:t>
            </a:r>
            <a:r>
              <a:rPr lang="pt-PT" sz="900" i="1" dirty="0"/>
              <a:t>estado dos dados </a:t>
            </a:r>
            <a:r>
              <a:rPr lang="pt-PT" sz="900" dirty="0"/>
              <a:t>deve ser armazenado no lado do cliente, utilizar mecanismos de criptografia </a:t>
            </a:r>
            <a:r>
              <a:rPr lang="pt-PT" sz="900" dirty="0" smtClean="0"/>
              <a:t>e verificação </a:t>
            </a:r>
            <a:r>
              <a:rPr lang="pt-PT" sz="900" dirty="0"/>
              <a:t>de integridade no lado servidor para detetar possíveis adulterações</a:t>
            </a:r>
          </a:p>
        </p:txBody>
      </p:sp>
    </p:spTree>
    <p:extLst>
      <p:ext uri="{BB962C8B-B14F-4D97-AF65-F5344CB8AC3E}">
        <p14:creationId xmlns:p14="http://schemas.microsoft.com/office/powerpoint/2010/main" val="34014134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79004"/>
            <a:ext cx="6858000" cy="628650"/>
          </a:xfrm>
          <a:solidFill>
            <a:schemeClr val="bg1"/>
          </a:solidFill>
        </p:spPr>
        <p:txBody>
          <a:bodyPr anchor="ctr">
            <a:normAutofit/>
          </a:bodyPr>
          <a:lstStyle/>
          <a:p>
            <a:pPr>
              <a:spcAft>
                <a:spcPts val="450"/>
              </a:spcAft>
            </a:pPr>
            <a:r>
              <a:rPr lang="pt-PT" sz="2100" dirty="0">
                <a:solidFill>
                  <a:srgbClr val="00B0F0"/>
                </a:solidFill>
                <a:latin typeface="Arial"/>
                <a:cs typeface="Arial"/>
              </a:rPr>
              <a:t>Controlo de Acessos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67544" y="1839292"/>
            <a:ext cx="8280920" cy="3108722"/>
          </a:xfrm>
        </p:spPr>
        <p:txBody>
          <a:bodyPr>
            <a:noAutofit/>
          </a:bodyPr>
          <a:lstStyle/>
          <a:p>
            <a:r>
              <a:rPr lang="pt-PT" sz="900" dirty="0"/>
              <a:t>Garantir que os fluxos lógicos da aplicação obedecem as regras de negócio</a:t>
            </a:r>
          </a:p>
          <a:p>
            <a:r>
              <a:rPr lang="pt-PT" sz="900" dirty="0" smtClean="0"/>
              <a:t>Limitar </a:t>
            </a:r>
            <a:r>
              <a:rPr lang="pt-PT" sz="900" dirty="0"/>
              <a:t>o número de transações que um único utilizador ou dispositivo pode executar </a:t>
            </a:r>
            <a:r>
              <a:rPr lang="pt-PT" sz="900" dirty="0" smtClean="0"/>
              <a:t>em determinado </a:t>
            </a:r>
            <a:r>
              <a:rPr lang="pt-PT" sz="900" dirty="0"/>
              <a:t>período de tempo. As transações por período de tempo devem estar acima </a:t>
            </a:r>
            <a:r>
              <a:rPr lang="pt-PT" sz="900" dirty="0" smtClean="0"/>
              <a:t>das necessidades </a:t>
            </a:r>
            <a:r>
              <a:rPr lang="pt-PT" sz="900" dirty="0"/>
              <a:t>reais do negócio, mas abaixo o suficiente para impedir ataques automatizados</a:t>
            </a:r>
          </a:p>
          <a:p>
            <a:r>
              <a:rPr lang="pt-PT" sz="900" dirty="0" smtClean="0"/>
              <a:t>Utilizar </a:t>
            </a:r>
            <a:r>
              <a:rPr lang="pt-PT" sz="900" dirty="0"/>
              <a:t>o campo “</a:t>
            </a:r>
            <a:r>
              <a:rPr lang="pt-PT" sz="900" dirty="0" err="1"/>
              <a:t>referer</a:t>
            </a:r>
            <a:r>
              <a:rPr lang="pt-PT" sz="900" dirty="0"/>
              <a:t>” do cabeçalho somente como forma de verificação suplementar. O </a:t>
            </a:r>
            <a:r>
              <a:rPr lang="pt-PT" sz="900" dirty="0" smtClean="0"/>
              <a:t>mesmo não </a:t>
            </a:r>
            <a:r>
              <a:rPr lang="pt-PT" sz="900" dirty="0"/>
              <a:t>deve ser usado sozinho como forma de validação de autorização porque ele pode ter o </a:t>
            </a:r>
            <a:r>
              <a:rPr lang="pt-PT" sz="900" dirty="0" smtClean="0"/>
              <a:t>valor adulterado</a:t>
            </a:r>
            <a:endParaRPr lang="pt-PT" sz="900" dirty="0"/>
          </a:p>
          <a:p>
            <a:r>
              <a:rPr lang="pt-PT" sz="900" dirty="0" smtClean="0"/>
              <a:t>Se </a:t>
            </a:r>
            <a:r>
              <a:rPr lang="pt-PT" sz="900" dirty="0"/>
              <a:t>for permitida a existência de sessões autenticadas por longos períodos de tempo, fazer a</a:t>
            </a:r>
          </a:p>
          <a:p>
            <a:r>
              <a:rPr lang="pt-PT" sz="900" dirty="0"/>
              <a:t>revalidação periódica da autorização do utilizador para garantir que os privilégios não </a:t>
            </a:r>
            <a:r>
              <a:rPr lang="pt-PT" sz="900" dirty="0" smtClean="0"/>
              <a:t>foram modificados </a:t>
            </a:r>
            <a:r>
              <a:rPr lang="pt-PT" sz="900" dirty="0"/>
              <a:t>e, caso tenham sido, realizar o registo em log do utilizador e exigir nova autenticação</a:t>
            </a:r>
          </a:p>
          <a:p>
            <a:r>
              <a:rPr lang="pt-PT" sz="900" dirty="0" smtClean="0"/>
              <a:t>Implementar </a:t>
            </a:r>
            <a:r>
              <a:rPr lang="pt-PT" sz="900" dirty="0"/>
              <a:t>a auditoria das contas de utilizador e assegurar a desativação de contas não </a:t>
            </a:r>
            <a:r>
              <a:rPr lang="pt-PT" sz="900" dirty="0" smtClean="0"/>
              <a:t>utilizadas. Por </a:t>
            </a:r>
            <a:r>
              <a:rPr lang="pt-PT" sz="900" dirty="0"/>
              <a:t>exemplo: a conta deve ser desativada não mais do que 30 dias após a expiração da senha</a:t>
            </a:r>
          </a:p>
          <a:p>
            <a:r>
              <a:rPr lang="pt-PT" sz="900" dirty="0" smtClean="0"/>
              <a:t>A </a:t>
            </a:r>
            <a:r>
              <a:rPr lang="pt-PT" sz="900" dirty="0"/>
              <a:t>aplicação deve dar suporte à desativação de contas e ao encerramento das sessões quando </a:t>
            </a:r>
            <a:r>
              <a:rPr lang="pt-PT" sz="900" dirty="0" smtClean="0"/>
              <a:t>terminar a </a:t>
            </a:r>
            <a:r>
              <a:rPr lang="pt-PT" sz="900" dirty="0"/>
              <a:t>autorização do utilizador. Por exemplo: quando ocorrer alguma alteração dos dados do </a:t>
            </a:r>
            <a:r>
              <a:rPr lang="pt-PT" sz="900" dirty="0" smtClean="0"/>
              <a:t>utilizador, situação </a:t>
            </a:r>
            <a:r>
              <a:rPr lang="pt-PT" sz="900" dirty="0"/>
              <a:t>profissional, processos de negócio etc.</a:t>
            </a:r>
          </a:p>
          <a:p>
            <a:r>
              <a:rPr lang="pt-PT" sz="900" dirty="0" smtClean="0"/>
              <a:t>As </a:t>
            </a:r>
            <a:r>
              <a:rPr lang="pt-PT" sz="900" dirty="0"/>
              <a:t>contas de serviço ou contas de suporte a ligações provenientes ou destinadas a serviços </a:t>
            </a:r>
            <a:r>
              <a:rPr lang="pt-PT" sz="900" dirty="0" smtClean="0"/>
              <a:t>externos devem </a:t>
            </a:r>
            <a:r>
              <a:rPr lang="pt-PT" sz="900" dirty="0"/>
              <a:t>possuir o menor privilégio possível</a:t>
            </a:r>
          </a:p>
          <a:p>
            <a:r>
              <a:rPr lang="pt-PT" sz="900" dirty="0" smtClean="0"/>
              <a:t>Criar </a:t>
            </a:r>
            <a:r>
              <a:rPr lang="pt-PT" sz="900" dirty="0"/>
              <a:t>uma Política de Controlo de Acesso para documentar as regras de negócio da aplicação, </a:t>
            </a:r>
            <a:r>
              <a:rPr lang="pt-PT" sz="900" dirty="0" smtClean="0"/>
              <a:t>tipos de </a:t>
            </a:r>
            <a:r>
              <a:rPr lang="pt-PT" sz="900" dirty="0"/>
              <a:t>dados e critérios ou processos de autorização para que os acessos possam ser </a:t>
            </a:r>
            <a:r>
              <a:rPr lang="pt-PT" sz="900" dirty="0" smtClean="0"/>
              <a:t>devidamente concedidos </a:t>
            </a:r>
            <a:r>
              <a:rPr lang="pt-PT" sz="900" dirty="0"/>
              <a:t>e controlados. Isto inclui identificar requisitos de acessos, tanto para os dados, como </a:t>
            </a:r>
            <a:r>
              <a:rPr lang="pt-PT" sz="900" dirty="0" smtClean="0"/>
              <a:t>para os </a:t>
            </a:r>
            <a:r>
              <a:rPr lang="pt-PT" sz="900" dirty="0"/>
              <a:t>recursos do sistema</a:t>
            </a:r>
            <a:endParaRPr lang="pt-PT" sz="900" dirty="0"/>
          </a:p>
        </p:txBody>
      </p:sp>
    </p:spTree>
    <p:extLst>
      <p:ext uri="{BB962C8B-B14F-4D97-AF65-F5344CB8AC3E}">
        <p14:creationId xmlns:p14="http://schemas.microsoft.com/office/powerpoint/2010/main" val="26156690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79004"/>
            <a:ext cx="6858000" cy="628650"/>
          </a:xfrm>
          <a:solidFill>
            <a:schemeClr val="bg1"/>
          </a:solidFill>
        </p:spPr>
        <p:txBody>
          <a:bodyPr anchor="ctr">
            <a:normAutofit/>
          </a:bodyPr>
          <a:lstStyle/>
          <a:p>
            <a:pPr>
              <a:spcAft>
                <a:spcPts val="450"/>
              </a:spcAft>
            </a:pPr>
            <a:r>
              <a:rPr lang="pt-PT" sz="2100" dirty="0">
                <a:solidFill>
                  <a:srgbClr val="00B0F0"/>
                </a:solidFill>
                <a:latin typeface="Arial"/>
                <a:cs typeface="Arial"/>
              </a:rPr>
              <a:t>Práticas de Criptografia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67544" y="1839292"/>
            <a:ext cx="8280920" cy="3108722"/>
          </a:xfrm>
        </p:spPr>
        <p:txBody>
          <a:bodyPr>
            <a:noAutofit/>
          </a:bodyPr>
          <a:lstStyle/>
          <a:p>
            <a:r>
              <a:rPr lang="pt-PT" sz="1400" dirty="0"/>
              <a:t>Todas as funções de criptografia utilizadas para proteger dados sensíveis dos utilizadores da aplicação, devem ser implantadas num sistema de confiança (neste caso o servidor)</a:t>
            </a:r>
          </a:p>
          <a:p>
            <a:r>
              <a:rPr lang="pt-PT" sz="1400" dirty="0"/>
              <a:t>A senha mestre deve ser protegida contra acessos não autorizados</a:t>
            </a:r>
          </a:p>
          <a:p>
            <a:r>
              <a:rPr lang="pt-PT" sz="1400" dirty="0"/>
              <a:t>Quando ocorrer alguma falha nos módulos de criptografia, permitir que as mesmas ocorram de modo seguro</a:t>
            </a:r>
          </a:p>
          <a:p>
            <a:r>
              <a:rPr lang="pt-PT" sz="1400" dirty="0"/>
              <a:t>Todos os números, nomes de arquivos, </a:t>
            </a:r>
            <a:r>
              <a:rPr lang="pt-PT" sz="1400" dirty="0" err="1"/>
              <a:t>GUIDs</a:t>
            </a:r>
            <a:r>
              <a:rPr lang="pt-PT" sz="1400" dirty="0"/>
              <a:t> e </a:t>
            </a:r>
            <a:r>
              <a:rPr lang="pt-PT" sz="1400" dirty="0" err="1"/>
              <a:t>strings</a:t>
            </a:r>
            <a:r>
              <a:rPr lang="pt-PT" sz="1400" dirty="0"/>
              <a:t> aleatórias devem ser gerados usando um módulo criptográfico com gerador de números aleatórios, somente se os valores aleatórios gerados forem impossíveis de serem deduzidos</a:t>
            </a:r>
          </a:p>
          <a:p>
            <a:r>
              <a:rPr lang="pt-PT" sz="1400" dirty="0"/>
              <a:t>Os módulos de criptografia usados pela aplicação devem ser compatíveis com a FIPS 140-2 ou com um padrão equivalente (http://csrc.nist.gov/groups/STM/cmvp/validation.html)</a:t>
            </a:r>
          </a:p>
          <a:p>
            <a:r>
              <a:rPr lang="pt-PT" sz="1400" dirty="0"/>
              <a:t>Estabelecer e utilizar uma política e processo que defina como é realizada a gestão das chaves criptográficas</a:t>
            </a:r>
            <a:endParaRPr lang="pt-PT" sz="1400" dirty="0"/>
          </a:p>
        </p:txBody>
      </p:sp>
    </p:spTree>
    <p:extLst>
      <p:ext uri="{BB962C8B-B14F-4D97-AF65-F5344CB8AC3E}">
        <p14:creationId xmlns:p14="http://schemas.microsoft.com/office/powerpoint/2010/main" val="28168888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79004"/>
            <a:ext cx="6858000" cy="628650"/>
          </a:xfrm>
          <a:solidFill>
            <a:schemeClr val="bg1"/>
          </a:solidFill>
        </p:spPr>
        <p:txBody>
          <a:bodyPr anchor="ctr">
            <a:normAutofit/>
          </a:bodyPr>
          <a:lstStyle/>
          <a:p>
            <a:pPr>
              <a:spcAft>
                <a:spcPts val="450"/>
              </a:spcAft>
            </a:pPr>
            <a:r>
              <a:rPr lang="pt-PT" sz="2100" dirty="0">
                <a:solidFill>
                  <a:srgbClr val="00B0F0"/>
                </a:solidFill>
                <a:latin typeface="Arial"/>
                <a:cs typeface="Arial"/>
              </a:rPr>
              <a:t>Tratamento de Erros e Log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67544" y="1839292"/>
            <a:ext cx="8280920" cy="3108722"/>
          </a:xfrm>
        </p:spPr>
        <p:txBody>
          <a:bodyPr>
            <a:noAutofit/>
          </a:bodyPr>
          <a:lstStyle/>
          <a:p>
            <a:r>
              <a:rPr lang="pt-PT" sz="1100" dirty="0"/>
              <a:t>Não expor informações sensíveis nas repostas de erros, inclusive detalhes de sistema, </a:t>
            </a:r>
            <a:r>
              <a:rPr lang="pt-PT" sz="1100" dirty="0" smtClean="0"/>
              <a:t>identificadores de </a:t>
            </a:r>
            <a:r>
              <a:rPr lang="pt-PT" sz="1100" dirty="0"/>
              <a:t>sessão ou informação da conta do utilizador</a:t>
            </a:r>
          </a:p>
          <a:p>
            <a:r>
              <a:rPr lang="pt-PT" sz="1100" dirty="0" smtClean="0"/>
              <a:t>Usar </a:t>
            </a:r>
            <a:r>
              <a:rPr lang="pt-PT" sz="1100" dirty="0"/>
              <a:t>mecanismos de tratamento de erros que não mostrem informações de depuração (</a:t>
            </a:r>
            <a:r>
              <a:rPr lang="pt-PT" sz="1100" dirty="0" err="1"/>
              <a:t>debug</a:t>
            </a:r>
            <a:r>
              <a:rPr lang="pt-PT" sz="1100" dirty="0"/>
              <a:t>) </a:t>
            </a:r>
            <a:r>
              <a:rPr lang="pt-PT" sz="1100" dirty="0" smtClean="0"/>
              <a:t>ou informações </a:t>
            </a:r>
            <a:r>
              <a:rPr lang="pt-PT" sz="1100" dirty="0"/>
              <a:t>da pilha de exceção</a:t>
            </a:r>
          </a:p>
          <a:p>
            <a:r>
              <a:rPr lang="pt-PT" sz="1100" dirty="0" smtClean="0"/>
              <a:t>Usar </a:t>
            </a:r>
            <a:r>
              <a:rPr lang="pt-PT" sz="1100" dirty="0"/>
              <a:t>mensagens de erro genéricas e páginas de erro personalizadas</a:t>
            </a:r>
          </a:p>
          <a:p>
            <a:r>
              <a:rPr lang="pt-PT" sz="1100" dirty="0" smtClean="0"/>
              <a:t>A </a:t>
            </a:r>
            <a:r>
              <a:rPr lang="pt-PT" sz="1100" dirty="0"/>
              <a:t>aplicação deve tratar os erros sem se basear nas configurações do servidor</a:t>
            </a:r>
          </a:p>
          <a:p>
            <a:r>
              <a:rPr lang="pt-PT" sz="1100" dirty="0" smtClean="0"/>
              <a:t>A </a:t>
            </a:r>
            <a:r>
              <a:rPr lang="pt-PT" sz="1100" dirty="0"/>
              <a:t>memória reservada deve ser libertada de modo apropriado quando ocorrerem condições de erro</a:t>
            </a:r>
          </a:p>
          <a:p>
            <a:r>
              <a:rPr lang="pt-PT" sz="1100" dirty="0" smtClean="0"/>
              <a:t>O </a:t>
            </a:r>
            <a:r>
              <a:rPr lang="pt-PT" sz="1100" dirty="0"/>
              <a:t>tratamento de erros lógicos associados com os controlos de segurança devem, por padrão, negar </a:t>
            </a:r>
            <a:r>
              <a:rPr lang="pt-PT" sz="1100" dirty="0" smtClean="0"/>
              <a:t>o acesso</a:t>
            </a:r>
            <a:endParaRPr lang="pt-PT" sz="1100" dirty="0"/>
          </a:p>
          <a:p>
            <a:r>
              <a:rPr lang="pt-PT" sz="1100" dirty="0" smtClean="0"/>
              <a:t>Todos </a:t>
            </a:r>
            <a:r>
              <a:rPr lang="pt-PT" sz="1100" dirty="0"/>
              <a:t>os controlos de log devem ser implementados num sistema de confiança, por </a:t>
            </a:r>
            <a:r>
              <a:rPr lang="pt-PT" sz="1100" dirty="0" smtClean="0"/>
              <a:t>exemplo, centralizar </a:t>
            </a:r>
            <a:r>
              <a:rPr lang="pt-PT" sz="1100" dirty="0"/>
              <a:t>todo o processo no servidor</a:t>
            </a:r>
          </a:p>
          <a:p>
            <a:r>
              <a:rPr lang="pt-PT" sz="1100" dirty="0" smtClean="0"/>
              <a:t>Os </a:t>
            </a:r>
            <a:r>
              <a:rPr lang="pt-PT" sz="1100" dirty="0"/>
              <a:t>controlos de log devem dar suporte tanto para os casos de sucesso como os de falha </a:t>
            </a:r>
            <a:r>
              <a:rPr lang="pt-PT" sz="1100" dirty="0" smtClean="0"/>
              <a:t>relacionados com </a:t>
            </a:r>
            <a:r>
              <a:rPr lang="pt-PT" sz="1100" dirty="0"/>
              <a:t>os eventos de segurança</a:t>
            </a:r>
          </a:p>
          <a:p>
            <a:r>
              <a:rPr lang="pt-PT" sz="1100" dirty="0" smtClean="0"/>
              <a:t>Garantir </a:t>
            </a:r>
            <a:r>
              <a:rPr lang="pt-PT" sz="1100" dirty="0"/>
              <a:t>que os </a:t>
            </a:r>
            <a:r>
              <a:rPr lang="pt-PT" sz="1100" dirty="0" err="1"/>
              <a:t>logs</a:t>
            </a:r>
            <a:r>
              <a:rPr lang="pt-PT" sz="1100" dirty="0"/>
              <a:t> armazenam eventos importantes</a:t>
            </a:r>
          </a:p>
          <a:p>
            <a:r>
              <a:rPr lang="pt-PT" sz="1100" dirty="0" smtClean="0"/>
              <a:t>Garantir </a:t>
            </a:r>
            <a:r>
              <a:rPr lang="pt-PT" sz="1100" dirty="0"/>
              <a:t>que as entradas de log que incluam dados nos quais não se confia não sejam </a:t>
            </a:r>
            <a:r>
              <a:rPr lang="pt-PT" sz="1100" dirty="0" smtClean="0"/>
              <a:t>executadas como </a:t>
            </a:r>
            <a:r>
              <a:rPr lang="pt-PT" sz="1100" dirty="0"/>
              <a:t>código-fonte na interface de visualização de </a:t>
            </a:r>
            <a:r>
              <a:rPr lang="pt-PT" sz="1100" dirty="0" err="1"/>
              <a:t>logs</a:t>
            </a:r>
            <a:endParaRPr lang="pt-PT" sz="1100" dirty="0"/>
          </a:p>
          <a:p>
            <a:r>
              <a:rPr lang="pt-PT" sz="1100" dirty="0" smtClean="0"/>
              <a:t>Restringir </a:t>
            </a:r>
            <a:r>
              <a:rPr lang="pt-PT" sz="1100" dirty="0"/>
              <a:t>o acesso aos </a:t>
            </a:r>
            <a:r>
              <a:rPr lang="pt-PT" sz="1100" dirty="0" err="1"/>
              <a:t>logs</a:t>
            </a:r>
            <a:r>
              <a:rPr lang="pt-PT" sz="1100" dirty="0"/>
              <a:t> apenas para pessoal autorizado</a:t>
            </a:r>
          </a:p>
          <a:p>
            <a:r>
              <a:rPr lang="pt-PT" sz="1100" dirty="0" smtClean="0"/>
              <a:t>Utilizar </a:t>
            </a:r>
            <a:r>
              <a:rPr lang="pt-PT" sz="1100" dirty="0"/>
              <a:t>uma rotina centralizada para realizar todas as operações de log</a:t>
            </a:r>
            <a:endParaRPr lang="pt-PT" sz="1100" dirty="0"/>
          </a:p>
        </p:txBody>
      </p:sp>
    </p:spTree>
    <p:extLst>
      <p:ext uri="{BB962C8B-B14F-4D97-AF65-F5344CB8AC3E}">
        <p14:creationId xmlns:p14="http://schemas.microsoft.com/office/powerpoint/2010/main" val="21885544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79004"/>
            <a:ext cx="6858000" cy="628650"/>
          </a:xfrm>
          <a:solidFill>
            <a:schemeClr val="bg1"/>
          </a:solidFill>
        </p:spPr>
        <p:txBody>
          <a:bodyPr anchor="ctr">
            <a:normAutofit/>
          </a:bodyPr>
          <a:lstStyle/>
          <a:p>
            <a:pPr>
              <a:spcAft>
                <a:spcPts val="450"/>
              </a:spcAft>
            </a:pPr>
            <a:r>
              <a:rPr lang="pt-PT" sz="2100" dirty="0">
                <a:solidFill>
                  <a:srgbClr val="00B0F0"/>
                </a:solidFill>
                <a:latin typeface="Arial"/>
                <a:cs typeface="Arial"/>
              </a:rPr>
              <a:t>Tratamento de Erros e Log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67544" y="1839292"/>
            <a:ext cx="8280920" cy="3108722"/>
          </a:xfrm>
        </p:spPr>
        <p:txBody>
          <a:bodyPr>
            <a:noAutofit/>
          </a:bodyPr>
          <a:lstStyle/>
          <a:p>
            <a:r>
              <a:rPr lang="pt-PT" sz="1200" dirty="0"/>
              <a:t>Não armazenar informações sensíveis nos registos de </a:t>
            </a:r>
            <a:r>
              <a:rPr lang="pt-PT" sz="1200" dirty="0" err="1"/>
              <a:t>logs</a:t>
            </a:r>
            <a:r>
              <a:rPr lang="pt-PT" sz="1200" dirty="0"/>
              <a:t>, como detalhes desnecessários do </a:t>
            </a:r>
            <a:r>
              <a:rPr lang="pt-PT" sz="1200" dirty="0" smtClean="0"/>
              <a:t>sistema, identificadores </a:t>
            </a:r>
            <a:r>
              <a:rPr lang="pt-PT" sz="1200" dirty="0"/>
              <a:t>de sessão e senhas</a:t>
            </a:r>
          </a:p>
          <a:p>
            <a:r>
              <a:rPr lang="pt-PT" sz="1200" dirty="0" smtClean="0"/>
              <a:t>Garantir </a:t>
            </a:r>
            <a:r>
              <a:rPr lang="pt-PT" sz="1200" dirty="0"/>
              <a:t>o uso de algum mecanismo que conduza (ou facilite) o processo de análise de </a:t>
            </a:r>
            <a:r>
              <a:rPr lang="pt-PT" sz="1200" dirty="0" err="1"/>
              <a:t>logs</a:t>
            </a:r>
            <a:endParaRPr lang="pt-PT" sz="1200" dirty="0"/>
          </a:p>
          <a:p>
            <a:r>
              <a:rPr lang="pt-PT" sz="1200" dirty="0" smtClean="0"/>
              <a:t>Registar </a:t>
            </a:r>
            <a:r>
              <a:rPr lang="pt-PT" sz="1200" dirty="0"/>
              <a:t>em log todas as falhas de validação de entrada de dados</a:t>
            </a:r>
          </a:p>
          <a:p>
            <a:r>
              <a:rPr lang="pt-PT" sz="1200" dirty="0" smtClean="0"/>
              <a:t>Registar </a:t>
            </a:r>
            <a:r>
              <a:rPr lang="pt-PT" sz="1200" dirty="0"/>
              <a:t>em log todas as tentativas de autenticação, especialmente as que falharam por algum motivo</a:t>
            </a:r>
          </a:p>
          <a:p>
            <a:r>
              <a:rPr lang="pt-PT" sz="1200" dirty="0" smtClean="0"/>
              <a:t>Registar </a:t>
            </a:r>
            <a:r>
              <a:rPr lang="pt-PT" sz="1200" dirty="0"/>
              <a:t>em log todas as falhas de controlo de acesso</a:t>
            </a:r>
          </a:p>
          <a:p>
            <a:r>
              <a:rPr lang="pt-PT" sz="1200" dirty="0" smtClean="0"/>
              <a:t>Registar </a:t>
            </a:r>
            <a:r>
              <a:rPr lang="pt-PT" sz="1200" dirty="0"/>
              <a:t>em log todos os eventos suspeitos de adulteração, inclusive alterações inesperadas no </a:t>
            </a:r>
            <a:r>
              <a:rPr lang="pt-PT" sz="1200" dirty="0" smtClean="0"/>
              <a:t>estado dos </a:t>
            </a:r>
            <a:r>
              <a:rPr lang="pt-PT" sz="1200" dirty="0"/>
              <a:t>dados</a:t>
            </a:r>
          </a:p>
          <a:p>
            <a:r>
              <a:rPr lang="pt-PT" sz="1200" dirty="0" smtClean="0"/>
              <a:t>Registar </a:t>
            </a:r>
            <a:r>
              <a:rPr lang="pt-PT" sz="1200" dirty="0"/>
              <a:t>em log as tentativas de ligação com </a:t>
            </a:r>
            <a:r>
              <a:rPr lang="pt-PT" sz="1200" dirty="0" err="1"/>
              <a:t>tokens</a:t>
            </a:r>
            <a:r>
              <a:rPr lang="pt-PT" sz="1200" dirty="0"/>
              <a:t> de sessão inválidos ou expirados</a:t>
            </a:r>
          </a:p>
          <a:p>
            <a:r>
              <a:rPr lang="pt-PT" sz="1200" dirty="0" smtClean="0"/>
              <a:t>Registar </a:t>
            </a:r>
            <a:r>
              <a:rPr lang="pt-PT" sz="1200" dirty="0"/>
              <a:t>em log todas as exceções lançadas pelo sistema</a:t>
            </a:r>
          </a:p>
          <a:p>
            <a:r>
              <a:rPr lang="pt-PT" sz="1200" dirty="0" smtClean="0"/>
              <a:t>Registar </a:t>
            </a:r>
            <a:r>
              <a:rPr lang="pt-PT" sz="1200" dirty="0"/>
              <a:t>em log todas as funções administrativas, inclusive as mudanças realizadas </a:t>
            </a:r>
            <a:r>
              <a:rPr lang="pt-PT" sz="1200" dirty="0" smtClean="0"/>
              <a:t>nas configurações </a:t>
            </a:r>
            <a:r>
              <a:rPr lang="pt-PT" sz="1200" dirty="0"/>
              <a:t>de segurança</a:t>
            </a:r>
          </a:p>
          <a:p>
            <a:r>
              <a:rPr lang="pt-PT" sz="1200" dirty="0" smtClean="0"/>
              <a:t>Registar </a:t>
            </a:r>
            <a:r>
              <a:rPr lang="pt-PT" sz="1200" dirty="0"/>
              <a:t>em log todas as falhas de ligação TLS com o </a:t>
            </a:r>
            <a:r>
              <a:rPr lang="pt-PT" sz="1200" dirty="0" err="1"/>
              <a:t>backend</a:t>
            </a:r>
            <a:endParaRPr lang="pt-PT" sz="1200" dirty="0"/>
          </a:p>
          <a:p>
            <a:r>
              <a:rPr lang="pt-PT" sz="1200" dirty="0" smtClean="0"/>
              <a:t>Registar </a:t>
            </a:r>
            <a:r>
              <a:rPr lang="pt-PT" sz="1200" dirty="0"/>
              <a:t>em log todas as falhas que ocorreram nos módulos de criptografia</a:t>
            </a:r>
          </a:p>
          <a:p>
            <a:r>
              <a:rPr lang="pt-PT" sz="1200" dirty="0" smtClean="0"/>
              <a:t>Utilizar </a:t>
            </a:r>
            <a:r>
              <a:rPr lang="pt-PT" sz="1200" dirty="0"/>
              <a:t>uma função de </a:t>
            </a:r>
            <a:r>
              <a:rPr lang="pt-PT" sz="1200" dirty="0" err="1"/>
              <a:t>hash</a:t>
            </a:r>
            <a:r>
              <a:rPr lang="pt-PT" sz="1200" dirty="0"/>
              <a:t> criptográfica para validar a integridade dos registros de log</a:t>
            </a:r>
            <a:endParaRPr lang="pt-PT" sz="1200" dirty="0"/>
          </a:p>
        </p:txBody>
      </p:sp>
    </p:spTree>
    <p:extLst>
      <p:ext uri="{BB962C8B-B14F-4D97-AF65-F5344CB8AC3E}">
        <p14:creationId xmlns:p14="http://schemas.microsoft.com/office/powerpoint/2010/main" val="34237266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79004"/>
            <a:ext cx="6858000" cy="628650"/>
          </a:xfrm>
          <a:solidFill>
            <a:schemeClr val="bg1"/>
          </a:solidFill>
        </p:spPr>
        <p:txBody>
          <a:bodyPr anchor="ctr">
            <a:normAutofit/>
          </a:bodyPr>
          <a:lstStyle/>
          <a:p>
            <a:pPr>
              <a:spcAft>
                <a:spcPts val="450"/>
              </a:spcAft>
            </a:pPr>
            <a:r>
              <a:rPr lang="pt-PT" sz="2100" dirty="0">
                <a:solidFill>
                  <a:srgbClr val="00B0F0"/>
                </a:solidFill>
                <a:latin typeface="Arial"/>
                <a:cs typeface="Arial"/>
              </a:rPr>
              <a:t>Proteção de Dados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67544" y="1839292"/>
            <a:ext cx="8280920" cy="3108722"/>
          </a:xfrm>
        </p:spPr>
        <p:txBody>
          <a:bodyPr>
            <a:noAutofit/>
          </a:bodyPr>
          <a:lstStyle/>
          <a:p>
            <a:r>
              <a:rPr lang="pt-PT" sz="900" dirty="0"/>
              <a:t>Implementar uma política de privilégio mínimo, restringindo os utilizadores apenas </a:t>
            </a:r>
            <a:r>
              <a:rPr lang="pt-PT" sz="900" dirty="0" smtClean="0"/>
              <a:t>às funcionalidades</a:t>
            </a:r>
            <a:r>
              <a:rPr lang="pt-PT" sz="900" dirty="0"/>
              <a:t>, dados e informações do sistema que são necessárias para executarem as suas tarefas</a:t>
            </a:r>
          </a:p>
          <a:p>
            <a:r>
              <a:rPr lang="pt-PT" sz="900" dirty="0" smtClean="0"/>
              <a:t>Proteger </a:t>
            </a:r>
            <a:r>
              <a:rPr lang="pt-PT" sz="900" dirty="0"/>
              <a:t>contra acesso não autorizado todas as cópias temporárias ou registadas em cache </a:t>
            </a:r>
            <a:r>
              <a:rPr lang="pt-PT" sz="900" dirty="0" smtClean="0"/>
              <a:t>que contenham </a:t>
            </a:r>
            <a:r>
              <a:rPr lang="pt-PT" sz="900" dirty="0"/>
              <a:t>dados sensíveis e estejam armazenadas no servidor e excluir esses arquivos logo que </a:t>
            </a:r>
            <a:r>
              <a:rPr lang="pt-PT" sz="900" dirty="0" smtClean="0"/>
              <a:t>não forem </a:t>
            </a:r>
            <a:r>
              <a:rPr lang="pt-PT" sz="900" dirty="0"/>
              <a:t>mais necessários</a:t>
            </a:r>
          </a:p>
          <a:p>
            <a:r>
              <a:rPr lang="pt-PT" sz="900" dirty="0" smtClean="0"/>
              <a:t>Cifrar </a:t>
            </a:r>
            <a:r>
              <a:rPr lang="pt-PT" sz="900" dirty="0"/>
              <a:t>informações altamente sensíveis quando armazenadas – como dados de verificação </a:t>
            </a:r>
            <a:r>
              <a:rPr lang="pt-PT" sz="900" dirty="0" smtClean="0"/>
              <a:t>de autenticação </a:t>
            </a:r>
            <a:r>
              <a:rPr lang="pt-PT" sz="900" dirty="0"/>
              <a:t>– mesmo que estejam no lado servidor, usando sempre algoritmos </a:t>
            </a:r>
            <a:r>
              <a:rPr lang="pt-PT" sz="900" dirty="0" smtClean="0"/>
              <a:t>conhecidos, padronizados </a:t>
            </a:r>
            <a:r>
              <a:rPr lang="pt-PT" sz="900" dirty="0"/>
              <a:t>e bem testados. Consulte a secção que trata sobre “Práticas de Criptografia” </a:t>
            </a:r>
            <a:r>
              <a:rPr lang="pt-PT" sz="900" dirty="0" smtClean="0"/>
              <a:t>para orientações </a:t>
            </a:r>
            <a:r>
              <a:rPr lang="pt-PT" sz="900" dirty="0"/>
              <a:t>adicionais</a:t>
            </a:r>
          </a:p>
          <a:p>
            <a:r>
              <a:rPr lang="pt-PT" sz="900" dirty="0" smtClean="0"/>
              <a:t>Proteger </a:t>
            </a:r>
            <a:r>
              <a:rPr lang="pt-PT" sz="900" dirty="0"/>
              <a:t>o código-fonte presente no servidor para que não seja descarregado por algum utilizador</a:t>
            </a:r>
          </a:p>
          <a:p>
            <a:r>
              <a:rPr lang="pt-PT" sz="900" dirty="0" smtClean="0"/>
              <a:t>Não </a:t>
            </a:r>
            <a:r>
              <a:rPr lang="pt-PT" sz="900" dirty="0"/>
              <a:t>armazenar senhas, </a:t>
            </a:r>
            <a:r>
              <a:rPr lang="pt-PT" sz="900" dirty="0" err="1"/>
              <a:t>strings</a:t>
            </a:r>
            <a:r>
              <a:rPr lang="pt-PT" sz="900" dirty="0"/>
              <a:t> de ligação ou outras informações confidenciais em texto </a:t>
            </a:r>
            <a:r>
              <a:rPr lang="pt-PT" sz="900" dirty="0" smtClean="0"/>
              <a:t>claro/legível ou </a:t>
            </a:r>
            <a:r>
              <a:rPr lang="pt-PT" sz="900" dirty="0"/>
              <a:t>em qualquer forma criptograficamente insegura no lado cliente. Isto é válido também quando </a:t>
            </a:r>
            <a:r>
              <a:rPr lang="pt-PT" sz="900" dirty="0" smtClean="0"/>
              <a:t>há utilização </a:t>
            </a:r>
            <a:r>
              <a:rPr lang="pt-PT" sz="900" dirty="0"/>
              <a:t>de formatos inseguros como: MS </a:t>
            </a:r>
            <a:r>
              <a:rPr lang="pt-PT" sz="900" dirty="0" err="1"/>
              <a:t>viewstate</a:t>
            </a:r>
            <a:r>
              <a:rPr lang="pt-PT" sz="900" dirty="0"/>
              <a:t>, Adobe Flash ou código compilado que </a:t>
            </a:r>
            <a:r>
              <a:rPr lang="pt-PT" sz="900" dirty="0" smtClean="0"/>
              <a:t>corre no </a:t>
            </a:r>
            <a:r>
              <a:rPr lang="pt-PT" sz="900" dirty="0"/>
              <a:t>lado do cliente</a:t>
            </a:r>
          </a:p>
          <a:p>
            <a:r>
              <a:rPr lang="pt-PT" sz="900" dirty="0" smtClean="0"/>
              <a:t>Remover </a:t>
            </a:r>
            <a:r>
              <a:rPr lang="pt-PT" sz="900" dirty="0"/>
              <a:t>comentários do código de produção que podem ser </a:t>
            </a:r>
            <a:r>
              <a:rPr lang="pt-PT" sz="900" dirty="0" err="1"/>
              <a:t>acessados</a:t>
            </a:r>
            <a:r>
              <a:rPr lang="pt-PT" sz="900" dirty="0"/>
              <a:t> pelos utilizadores e </a:t>
            </a:r>
            <a:r>
              <a:rPr lang="pt-PT" sz="900" dirty="0" smtClean="0"/>
              <a:t>podem revelar </a:t>
            </a:r>
            <a:r>
              <a:rPr lang="pt-PT" sz="900" dirty="0"/>
              <a:t>detalhes internos do sistema ou outras informações sensíveis</a:t>
            </a:r>
          </a:p>
          <a:p>
            <a:r>
              <a:rPr lang="pt-PT" sz="900" dirty="0" smtClean="0"/>
              <a:t>Remover </a:t>
            </a:r>
            <a:r>
              <a:rPr lang="pt-PT" sz="900" dirty="0"/>
              <a:t>aplicações desnecessárias e documentação do sistema que possam revelar </a:t>
            </a:r>
            <a:r>
              <a:rPr lang="pt-PT" sz="900" dirty="0" smtClean="0"/>
              <a:t>informações importantes </a:t>
            </a:r>
            <a:r>
              <a:rPr lang="pt-PT" sz="900" dirty="0"/>
              <a:t>para os atacantes</a:t>
            </a:r>
          </a:p>
          <a:p>
            <a:r>
              <a:rPr lang="pt-PT" sz="900" dirty="0" smtClean="0"/>
              <a:t>Não </a:t>
            </a:r>
            <a:r>
              <a:rPr lang="pt-PT" sz="900" dirty="0"/>
              <a:t>incluir informações sensíveis nos parâmetros de pedidos HTTP GET</a:t>
            </a:r>
          </a:p>
          <a:p>
            <a:r>
              <a:rPr lang="pt-PT" sz="900" dirty="0" smtClean="0"/>
              <a:t>Desativar </a:t>
            </a:r>
            <a:r>
              <a:rPr lang="pt-PT" sz="900" dirty="0"/>
              <a:t>a funcionalidade de auto completar nos formulários que contenham informações </a:t>
            </a:r>
            <a:r>
              <a:rPr lang="pt-PT" sz="900" dirty="0" smtClean="0"/>
              <a:t>sensíveis, inclusive </a:t>
            </a:r>
            <a:r>
              <a:rPr lang="pt-PT" sz="900" dirty="0"/>
              <a:t>no formulário de autenticação</a:t>
            </a:r>
          </a:p>
          <a:p>
            <a:r>
              <a:rPr lang="pt-PT" sz="900" dirty="0" smtClean="0"/>
              <a:t>Desativar </a:t>
            </a:r>
            <a:r>
              <a:rPr lang="pt-PT" sz="900" dirty="0"/>
              <a:t>a cache realizada no lado do cliente das páginas que contenham informações sensíveis. </a:t>
            </a:r>
            <a:r>
              <a:rPr lang="pt-PT" sz="900" dirty="0" smtClean="0"/>
              <a:t>O parâmetro </a:t>
            </a:r>
            <a:r>
              <a:rPr lang="pt-PT" sz="900" b="1" dirty="0"/>
              <a:t>Cache-</a:t>
            </a:r>
            <a:r>
              <a:rPr lang="pt-PT" sz="900" b="1" dirty="0" err="1"/>
              <a:t>Control</a:t>
            </a:r>
            <a:r>
              <a:rPr lang="pt-PT" sz="900" b="1" dirty="0"/>
              <a:t>: no-</a:t>
            </a:r>
            <a:r>
              <a:rPr lang="pt-PT" sz="900" b="1" dirty="0" err="1"/>
              <a:t>store</a:t>
            </a:r>
            <a:r>
              <a:rPr lang="pt-PT" sz="900" dirty="0"/>
              <a:t>, pode ser usado em conjunto com o controlo definido </a:t>
            </a:r>
            <a:r>
              <a:rPr lang="pt-PT" sz="900" dirty="0" smtClean="0"/>
              <a:t>no cabeçalhos </a:t>
            </a:r>
            <a:r>
              <a:rPr lang="pt-PT" sz="900" dirty="0"/>
              <a:t>HTTP </a:t>
            </a:r>
            <a:r>
              <a:rPr lang="pt-PT" sz="900" b="1" dirty="0"/>
              <a:t>“</a:t>
            </a:r>
            <a:r>
              <a:rPr lang="pt-PT" sz="900" b="1" dirty="0" err="1"/>
              <a:t>Pragma</a:t>
            </a:r>
            <a:r>
              <a:rPr lang="pt-PT" sz="900" b="1" dirty="0"/>
              <a:t>: no-cache”</a:t>
            </a:r>
            <a:r>
              <a:rPr lang="pt-PT" sz="900" dirty="0"/>
              <a:t>, que é menos efetivo, porém compatível com HTTP/1.0</a:t>
            </a:r>
          </a:p>
          <a:p>
            <a:r>
              <a:rPr lang="pt-PT" sz="900" dirty="0" smtClean="0"/>
              <a:t>A </a:t>
            </a:r>
            <a:r>
              <a:rPr lang="pt-PT" sz="900" dirty="0"/>
              <a:t>aplicação deve dar suporte à remoção de dados sensíveis quando estes não forem mais </a:t>
            </a:r>
            <a:r>
              <a:rPr lang="pt-PT" sz="900" dirty="0" smtClean="0"/>
              <a:t>necessários. Por </a:t>
            </a:r>
            <a:r>
              <a:rPr lang="pt-PT" sz="900" dirty="0"/>
              <a:t>exemplo: informação pessoal ou dados financeiros</a:t>
            </a:r>
          </a:p>
          <a:p>
            <a:r>
              <a:rPr lang="pt-PT" sz="900" dirty="0" smtClean="0"/>
              <a:t>Implementar </a:t>
            </a:r>
            <a:r>
              <a:rPr lang="pt-PT" sz="900" dirty="0"/>
              <a:t>mecanismos de controlo de acesso apropriados para dados sensíveis armazenados </a:t>
            </a:r>
            <a:r>
              <a:rPr lang="pt-PT" sz="900" dirty="0" smtClean="0"/>
              <a:t>no servidor</a:t>
            </a:r>
            <a:r>
              <a:rPr lang="pt-PT" sz="900" dirty="0"/>
              <a:t>. Isto inclui dados em cache, arquivos temporários e dados que devem ser acessíveis </a:t>
            </a:r>
            <a:r>
              <a:rPr lang="pt-PT" sz="900" dirty="0" smtClean="0"/>
              <a:t>somente </a:t>
            </a:r>
            <a:r>
              <a:rPr lang="pt-PT" sz="900" dirty="0"/>
              <a:t>por utilizadores específicos do sistema</a:t>
            </a:r>
          </a:p>
        </p:txBody>
      </p:sp>
    </p:spTree>
    <p:extLst>
      <p:ext uri="{BB962C8B-B14F-4D97-AF65-F5344CB8AC3E}">
        <p14:creationId xmlns:p14="http://schemas.microsoft.com/office/powerpoint/2010/main" val="9679716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79004"/>
            <a:ext cx="6858000" cy="628650"/>
          </a:xfrm>
          <a:solidFill>
            <a:schemeClr val="bg1"/>
          </a:solidFill>
        </p:spPr>
        <p:txBody>
          <a:bodyPr anchor="ctr">
            <a:normAutofit/>
          </a:bodyPr>
          <a:lstStyle/>
          <a:p>
            <a:pPr>
              <a:spcAft>
                <a:spcPts val="450"/>
              </a:spcAft>
            </a:pPr>
            <a:r>
              <a:rPr lang="pt-PT" sz="2100" dirty="0">
                <a:solidFill>
                  <a:srgbClr val="00B0F0"/>
                </a:solidFill>
                <a:latin typeface="Arial"/>
                <a:cs typeface="Arial"/>
              </a:rPr>
              <a:t>Segurança nas comunicações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67544" y="1839292"/>
            <a:ext cx="8280920" cy="3108722"/>
          </a:xfrm>
        </p:spPr>
        <p:txBody>
          <a:bodyPr>
            <a:noAutofit/>
          </a:bodyPr>
          <a:lstStyle/>
          <a:p>
            <a:r>
              <a:rPr lang="pt-PT" sz="1400" dirty="0"/>
              <a:t>Utilizar criptografia na transmissão de todas as informações sensíveis. Isto deve incluir TLS </a:t>
            </a:r>
            <a:r>
              <a:rPr lang="pt-PT" sz="1400" dirty="0" smtClean="0"/>
              <a:t>para proteger </a:t>
            </a:r>
            <a:r>
              <a:rPr lang="pt-PT" sz="1400" dirty="0"/>
              <a:t>a ligação e deve ser complementado com criptografia de ficheiros que contém </a:t>
            </a:r>
            <a:r>
              <a:rPr lang="pt-PT" sz="1400" dirty="0" smtClean="0"/>
              <a:t>dados sensíveis </a:t>
            </a:r>
            <a:r>
              <a:rPr lang="pt-PT" sz="1400" dirty="0"/>
              <a:t>ou ligações que não usam o protocolo HTTP</a:t>
            </a:r>
          </a:p>
          <a:p>
            <a:r>
              <a:rPr lang="pt-PT" sz="1400" dirty="0" smtClean="0"/>
              <a:t>Os </a:t>
            </a:r>
            <a:r>
              <a:rPr lang="pt-PT" sz="1400" dirty="0"/>
              <a:t>certificados TLS devem ser válidos, possuírem o nome de domínio correto, não </a:t>
            </a:r>
            <a:r>
              <a:rPr lang="pt-PT" sz="1400" dirty="0" smtClean="0"/>
              <a:t>estarem expirados </a:t>
            </a:r>
            <a:r>
              <a:rPr lang="pt-PT" sz="1400" dirty="0"/>
              <a:t>e serem instalados com certificados intermédios, quando necessário</a:t>
            </a:r>
          </a:p>
          <a:p>
            <a:r>
              <a:rPr lang="pt-PT" sz="1400" dirty="0" smtClean="0"/>
              <a:t>Quando </a:t>
            </a:r>
            <a:r>
              <a:rPr lang="pt-PT" sz="1400" dirty="0"/>
              <a:t>ocorrer alguma falha nas ligações TLS, o sistema não deve fornecer uma ligação insegura</a:t>
            </a:r>
          </a:p>
          <a:p>
            <a:r>
              <a:rPr lang="pt-PT" sz="1400" dirty="0" smtClean="0"/>
              <a:t>Utilizar </a:t>
            </a:r>
            <a:r>
              <a:rPr lang="pt-PT" sz="1400" dirty="0"/>
              <a:t>ligações TLS para todo o conteúdo que requer acesso autenticado ou </a:t>
            </a:r>
            <a:r>
              <a:rPr lang="pt-PT" sz="1400" dirty="0" err="1"/>
              <a:t>ou</a:t>
            </a:r>
            <a:r>
              <a:rPr lang="pt-PT" sz="1400" dirty="0"/>
              <a:t> que </a:t>
            </a:r>
            <a:r>
              <a:rPr lang="pt-PT" sz="1400" dirty="0" smtClean="0"/>
              <a:t>contenha informação </a:t>
            </a:r>
            <a:r>
              <a:rPr lang="pt-PT" sz="1400" dirty="0"/>
              <a:t>sensível</a:t>
            </a:r>
          </a:p>
          <a:p>
            <a:r>
              <a:rPr lang="pt-PT" sz="1400" dirty="0" smtClean="0"/>
              <a:t>Utilizar </a:t>
            </a:r>
            <a:r>
              <a:rPr lang="pt-PT" sz="1400" dirty="0"/>
              <a:t>TLS para ligações com sistemas externos que envolvam funções ou informações sensíveis</a:t>
            </a:r>
          </a:p>
          <a:p>
            <a:r>
              <a:rPr lang="pt-PT" sz="1400" dirty="0" smtClean="0"/>
              <a:t>Utilizar </a:t>
            </a:r>
            <a:r>
              <a:rPr lang="pt-PT" sz="1400" dirty="0"/>
              <a:t>um padrão único de implementação TLS configurado de modo apropriado</a:t>
            </a:r>
          </a:p>
          <a:p>
            <a:r>
              <a:rPr lang="pt-PT" sz="1400" dirty="0" smtClean="0"/>
              <a:t>Especificar </a:t>
            </a:r>
            <a:r>
              <a:rPr lang="pt-PT" sz="1400" dirty="0"/>
              <a:t>a codificação dos caracteres para todas as conexões</a:t>
            </a:r>
          </a:p>
          <a:p>
            <a:r>
              <a:rPr lang="pt-PT" sz="1400" dirty="0" smtClean="0"/>
              <a:t>Filtrar </a:t>
            </a:r>
            <a:r>
              <a:rPr lang="pt-PT" sz="1400" dirty="0"/>
              <a:t>os parâmetros que contenham informações sensíveis, provenientes do “HTTP </a:t>
            </a:r>
            <a:r>
              <a:rPr lang="pt-PT" sz="1400" dirty="0" err="1"/>
              <a:t>referer</a:t>
            </a:r>
            <a:r>
              <a:rPr lang="pt-PT" sz="1400" dirty="0"/>
              <a:t>”, </a:t>
            </a:r>
            <a:r>
              <a:rPr lang="pt-PT" sz="1400" dirty="0" smtClean="0"/>
              <a:t>nos links </a:t>
            </a:r>
            <a:r>
              <a:rPr lang="pt-PT" sz="1400" dirty="0"/>
              <a:t>para sites externos</a:t>
            </a:r>
          </a:p>
        </p:txBody>
      </p:sp>
    </p:spTree>
    <p:extLst>
      <p:ext uri="{BB962C8B-B14F-4D97-AF65-F5344CB8AC3E}">
        <p14:creationId xmlns:p14="http://schemas.microsoft.com/office/powerpoint/2010/main" val="21499362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79004"/>
            <a:ext cx="6858000" cy="628650"/>
          </a:xfrm>
          <a:solidFill>
            <a:schemeClr val="bg1"/>
          </a:solidFill>
        </p:spPr>
        <p:txBody>
          <a:bodyPr anchor="ctr">
            <a:normAutofit/>
          </a:bodyPr>
          <a:lstStyle/>
          <a:p>
            <a:pPr>
              <a:spcAft>
                <a:spcPts val="450"/>
              </a:spcAft>
            </a:pPr>
            <a:r>
              <a:rPr lang="pt-PT" sz="2100" dirty="0">
                <a:solidFill>
                  <a:srgbClr val="00B0F0"/>
                </a:solidFill>
                <a:latin typeface="Arial"/>
                <a:cs typeface="Arial"/>
              </a:rPr>
              <a:t>Configuração do Sistema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67544" y="1839292"/>
            <a:ext cx="8280920" cy="3108722"/>
          </a:xfrm>
        </p:spPr>
        <p:txBody>
          <a:bodyPr>
            <a:noAutofit/>
          </a:bodyPr>
          <a:lstStyle/>
          <a:p>
            <a:r>
              <a:rPr lang="pt-PT" sz="1200" dirty="0"/>
              <a:t>Garantir que os servidores, </a:t>
            </a:r>
            <a:r>
              <a:rPr lang="pt-PT" sz="1200" dirty="0" err="1"/>
              <a:t>frameworks</a:t>
            </a:r>
            <a:r>
              <a:rPr lang="pt-PT" sz="1200" dirty="0"/>
              <a:t> e componentes do sistema estão a executar a última </a:t>
            </a:r>
            <a:r>
              <a:rPr lang="pt-PT" sz="1200" dirty="0" smtClean="0"/>
              <a:t>versão aprovada</a:t>
            </a:r>
            <a:endParaRPr lang="pt-PT" sz="1200" dirty="0"/>
          </a:p>
          <a:p>
            <a:r>
              <a:rPr lang="pt-PT" sz="1200" dirty="0" smtClean="0"/>
              <a:t>Garantir </a:t>
            </a:r>
            <a:r>
              <a:rPr lang="pt-PT" sz="1200" dirty="0"/>
              <a:t>que os servidores, </a:t>
            </a:r>
            <a:r>
              <a:rPr lang="pt-PT" sz="1200" dirty="0" err="1"/>
              <a:t>frameworks</a:t>
            </a:r>
            <a:r>
              <a:rPr lang="pt-PT" sz="1200" dirty="0"/>
              <a:t> e componentes do sistema possuem as atualizações </a:t>
            </a:r>
            <a:r>
              <a:rPr lang="pt-PT" sz="1200" dirty="0" smtClean="0"/>
              <a:t>mais recentes </a:t>
            </a:r>
            <a:r>
              <a:rPr lang="pt-PT" sz="1200" dirty="0"/>
              <a:t>aplicadas para a versão em uso</a:t>
            </a:r>
          </a:p>
          <a:p>
            <a:r>
              <a:rPr lang="pt-PT" sz="1200" dirty="0" smtClean="0"/>
              <a:t>Desativar </a:t>
            </a:r>
            <a:r>
              <a:rPr lang="pt-PT" sz="1200" dirty="0"/>
              <a:t>a listagem de diretórios</a:t>
            </a:r>
          </a:p>
          <a:p>
            <a:r>
              <a:rPr lang="pt-PT" sz="1200" dirty="0" smtClean="0"/>
              <a:t>Restringir</a:t>
            </a:r>
            <a:r>
              <a:rPr lang="pt-PT" sz="1200" dirty="0"/>
              <a:t>, para o mínimo possível, os privilégios do servidor Web, dos processos e das contas </a:t>
            </a:r>
            <a:r>
              <a:rPr lang="pt-PT" sz="1200" dirty="0" smtClean="0"/>
              <a:t>de serviços</a:t>
            </a:r>
            <a:endParaRPr lang="pt-PT" sz="1200" dirty="0"/>
          </a:p>
          <a:p>
            <a:r>
              <a:rPr lang="pt-PT" sz="1200" dirty="0" smtClean="0"/>
              <a:t>Quando </a:t>
            </a:r>
            <a:r>
              <a:rPr lang="pt-PT" sz="1200" dirty="0"/>
              <a:t>ocorrerem exceções no sistema, garantir que as falhas ocorrem de modo seguro</a:t>
            </a:r>
          </a:p>
          <a:p>
            <a:r>
              <a:rPr lang="pt-PT" sz="1200" dirty="0" smtClean="0"/>
              <a:t>Remover </a:t>
            </a:r>
            <a:r>
              <a:rPr lang="pt-PT" sz="1200" dirty="0"/>
              <a:t>todas as funcionalidades e arquivos desnecessários</a:t>
            </a:r>
          </a:p>
          <a:p>
            <a:r>
              <a:rPr lang="pt-PT" sz="1200" dirty="0" smtClean="0"/>
              <a:t>Remover </a:t>
            </a:r>
            <a:r>
              <a:rPr lang="pt-PT" sz="1200" dirty="0"/>
              <a:t>código de teste ou qualquer funcionalidade desnecessária para o ambiente de </a:t>
            </a:r>
            <a:r>
              <a:rPr lang="pt-PT" sz="1200" dirty="0" smtClean="0"/>
              <a:t>produção, ante de </a:t>
            </a:r>
            <a:r>
              <a:rPr lang="pt-PT" sz="1200" dirty="0"/>
              <a:t>disponibilizar o sistema no servidor de produção</a:t>
            </a:r>
          </a:p>
          <a:p>
            <a:r>
              <a:rPr lang="pt-PT" sz="1200" dirty="0" smtClean="0"/>
              <a:t>Prevenir </a:t>
            </a:r>
            <a:r>
              <a:rPr lang="pt-PT" sz="1200" dirty="0"/>
              <a:t>a divulgação da estrutura de diretórios impedindo que robôs6 de busca façam a </a:t>
            </a:r>
            <a:r>
              <a:rPr lang="pt-PT" sz="1200" dirty="0" smtClean="0"/>
              <a:t>indexação de </a:t>
            </a:r>
            <a:r>
              <a:rPr lang="pt-PT" sz="1200" dirty="0"/>
              <a:t>arquivos sensíveis, através da configuração do arquivo “robots.txt”7. Os diretórios que </a:t>
            </a:r>
            <a:r>
              <a:rPr lang="pt-PT" sz="1200" dirty="0" smtClean="0"/>
              <a:t>não devem </a:t>
            </a:r>
            <a:r>
              <a:rPr lang="pt-PT" sz="1200" dirty="0"/>
              <a:t>ser </a:t>
            </a:r>
            <a:r>
              <a:rPr lang="pt-PT" sz="1200" dirty="0" err="1"/>
              <a:t>acessados</a:t>
            </a:r>
            <a:r>
              <a:rPr lang="pt-PT" sz="1200" dirty="0"/>
              <a:t> por estes indexadores devem ser colocados num diretório isolado. </a:t>
            </a:r>
            <a:r>
              <a:rPr lang="pt-PT" sz="1200" dirty="0" smtClean="0"/>
              <a:t>Assim, apenas </a:t>
            </a:r>
            <a:r>
              <a:rPr lang="pt-PT" sz="1200" dirty="0"/>
              <a:t>é necessário negar o acesso ao diretório pai definido no arquivo “robots.txt”, evitando ter </a:t>
            </a:r>
            <a:r>
              <a:rPr lang="pt-PT" sz="1200" dirty="0" smtClean="0"/>
              <a:t>que negar </a:t>
            </a:r>
            <a:r>
              <a:rPr lang="pt-PT" sz="1200" dirty="0"/>
              <a:t>o acesso a cada diretório </a:t>
            </a:r>
            <a:r>
              <a:rPr lang="pt-PT" sz="1200" dirty="0" smtClean="0"/>
              <a:t>individualmente</a:t>
            </a:r>
            <a:endParaRPr lang="pt-PT" sz="1200" dirty="0"/>
          </a:p>
        </p:txBody>
      </p:sp>
    </p:spTree>
    <p:extLst>
      <p:ext uri="{BB962C8B-B14F-4D97-AF65-F5344CB8AC3E}">
        <p14:creationId xmlns:p14="http://schemas.microsoft.com/office/powerpoint/2010/main" val="23768714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79004"/>
            <a:ext cx="6858000" cy="628650"/>
          </a:xfrm>
          <a:solidFill>
            <a:schemeClr val="bg1"/>
          </a:solidFill>
        </p:spPr>
        <p:txBody>
          <a:bodyPr anchor="ctr">
            <a:normAutofit/>
          </a:bodyPr>
          <a:lstStyle/>
          <a:p>
            <a:pPr>
              <a:spcAft>
                <a:spcPts val="450"/>
              </a:spcAft>
            </a:pPr>
            <a:r>
              <a:rPr lang="pt-PT" sz="2100" dirty="0">
                <a:solidFill>
                  <a:srgbClr val="00B0F0"/>
                </a:solidFill>
                <a:latin typeface="Arial"/>
                <a:cs typeface="Arial"/>
              </a:rPr>
              <a:t>Configuração do Sistema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67544" y="1839292"/>
            <a:ext cx="8280920" cy="3108722"/>
          </a:xfrm>
        </p:spPr>
        <p:txBody>
          <a:bodyPr>
            <a:noAutofit/>
          </a:bodyPr>
          <a:lstStyle/>
          <a:p>
            <a:r>
              <a:rPr lang="pt-PT" sz="1050" dirty="0" smtClean="0"/>
              <a:t>Definir </a:t>
            </a:r>
            <a:r>
              <a:rPr lang="pt-PT" sz="1050" dirty="0"/>
              <a:t>quais métodos HTTP, GET ou POST, a aplicação irá suportar e se serão tratados de </a:t>
            </a:r>
            <a:r>
              <a:rPr lang="pt-PT" sz="1050" dirty="0" smtClean="0"/>
              <a:t>modo diferenciado </a:t>
            </a:r>
            <a:r>
              <a:rPr lang="pt-PT" sz="1050" dirty="0"/>
              <a:t>nas diversas páginas da aplicação</a:t>
            </a:r>
          </a:p>
          <a:p>
            <a:r>
              <a:rPr lang="pt-PT" sz="1050" dirty="0" smtClean="0"/>
              <a:t>Desativar </a:t>
            </a:r>
            <a:r>
              <a:rPr lang="pt-PT" sz="1050" dirty="0"/>
              <a:t>as extensões HTTP desnecessárias como, por exemplo, o </a:t>
            </a:r>
            <a:r>
              <a:rPr lang="pt-PT" sz="1050" dirty="0" err="1"/>
              <a:t>WebDAV</a:t>
            </a:r>
            <a:r>
              <a:rPr lang="pt-PT" sz="1050" dirty="0"/>
              <a:t>. Caso seja necessário o</a:t>
            </a:r>
          </a:p>
          <a:p>
            <a:r>
              <a:rPr lang="pt-PT" sz="1050" dirty="0"/>
              <a:t>uso de alguma extensão HTTP com o propósito de suportar a manipulação de arquivos, utilize </a:t>
            </a:r>
            <a:r>
              <a:rPr lang="pt-PT" sz="1050" dirty="0" smtClean="0"/>
              <a:t>um mecanismo </a:t>
            </a:r>
            <a:r>
              <a:rPr lang="pt-PT" sz="1050" dirty="0"/>
              <a:t>de autenticação conhecido, padronizado e bem testado</a:t>
            </a:r>
          </a:p>
          <a:p>
            <a:r>
              <a:rPr lang="pt-PT" sz="1050" dirty="0" smtClean="0"/>
              <a:t>Se </a:t>
            </a:r>
            <a:r>
              <a:rPr lang="pt-PT" sz="1050" dirty="0"/>
              <a:t>o servidor processa tanto pedidos HTTP 1.0 como HTTP 1.1, certificar-se de que ambos </a:t>
            </a:r>
            <a:r>
              <a:rPr lang="pt-PT" sz="1050" dirty="0" smtClean="0"/>
              <a:t>são configurados </a:t>
            </a:r>
            <a:r>
              <a:rPr lang="pt-PT" sz="1050" dirty="0"/>
              <a:t>de modo semelhante ou assegure que qualquer diferença que possa existir </a:t>
            </a:r>
            <a:r>
              <a:rPr lang="pt-PT" sz="1050" dirty="0" smtClean="0"/>
              <a:t>seja compreendida</a:t>
            </a:r>
            <a:r>
              <a:rPr lang="pt-PT" sz="1050" dirty="0"/>
              <a:t>, como, por exemplo, o manuseamento de métodos HTTP estendidos</a:t>
            </a:r>
          </a:p>
          <a:p>
            <a:r>
              <a:rPr lang="pt-PT" sz="1050" dirty="0" smtClean="0"/>
              <a:t>Remover </a:t>
            </a:r>
            <a:r>
              <a:rPr lang="pt-PT" sz="1050" dirty="0"/>
              <a:t>informações desnecessárias presentes nos cabeçalhos de resposta HTTP e que podem </a:t>
            </a:r>
            <a:r>
              <a:rPr lang="pt-PT" sz="1050" dirty="0" smtClean="0"/>
              <a:t>estar relacionadas </a:t>
            </a:r>
            <a:r>
              <a:rPr lang="pt-PT" sz="1050" dirty="0"/>
              <a:t>com o sistema operativo, versão do servidor web e </a:t>
            </a:r>
            <a:r>
              <a:rPr lang="pt-PT" sz="1050" dirty="0" err="1"/>
              <a:t>frameworks</a:t>
            </a:r>
            <a:r>
              <a:rPr lang="pt-PT" sz="1050" dirty="0"/>
              <a:t> de aplicação</a:t>
            </a:r>
          </a:p>
          <a:p>
            <a:r>
              <a:rPr lang="pt-PT" sz="1050" dirty="0" smtClean="0"/>
              <a:t>O </a:t>
            </a:r>
            <a:r>
              <a:rPr lang="pt-PT" sz="1050" dirty="0"/>
              <a:t>armazenamento da configuração de segurança para a aplicação deve ser capaz de ser produzida </a:t>
            </a:r>
            <a:r>
              <a:rPr lang="pt-PT" sz="1050" dirty="0" smtClean="0"/>
              <a:t>de forma </a:t>
            </a:r>
            <a:r>
              <a:rPr lang="pt-PT" sz="1050" dirty="0"/>
              <a:t>legível para dar suporte à auditoria</a:t>
            </a:r>
          </a:p>
          <a:p>
            <a:r>
              <a:rPr lang="pt-PT" sz="1050" dirty="0" smtClean="0"/>
              <a:t>Implementar </a:t>
            </a:r>
            <a:r>
              <a:rPr lang="pt-PT" sz="1050" dirty="0"/>
              <a:t>um sistema de gestão de ativos para manter o registo dos componentes e programas</a:t>
            </a:r>
          </a:p>
          <a:p>
            <a:r>
              <a:rPr lang="pt-PT" sz="1050" dirty="0" smtClean="0"/>
              <a:t>Isolar </a:t>
            </a:r>
            <a:r>
              <a:rPr lang="pt-PT" sz="1050" dirty="0"/>
              <a:t>o ambiente de desenvolvimento da rede de produção e conceder acesso somente para </a:t>
            </a:r>
            <a:r>
              <a:rPr lang="pt-PT" sz="1050" dirty="0" smtClean="0"/>
              <a:t>grupos de </a:t>
            </a:r>
            <a:r>
              <a:rPr lang="pt-PT" sz="1050" dirty="0"/>
              <a:t>desenvolvimento e testes. É comum os ambientes de desenvolvimento serem configurados </a:t>
            </a:r>
            <a:r>
              <a:rPr lang="pt-PT" sz="1050" dirty="0" smtClean="0"/>
              <a:t>de modo </a:t>
            </a:r>
            <a:r>
              <a:rPr lang="pt-PT" sz="1050" dirty="0"/>
              <a:t>menos seguro do que os ambientes de produção. Deste modo, os atacantes podem usar </a:t>
            </a:r>
            <a:r>
              <a:rPr lang="pt-PT" sz="1050" dirty="0" smtClean="0"/>
              <a:t>essa diferença </a:t>
            </a:r>
            <a:r>
              <a:rPr lang="pt-PT" sz="1050" dirty="0"/>
              <a:t>para descobrir vulnerabilidades comuns ou encontrar formas de exploração das mesmas</a:t>
            </a:r>
          </a:p>
          <a:p>
            <a:r>
              <a:rPr lang="pt-PT" sz="1050" dirty="0" smtClean="0"/>
              <a:t>Implementar </a:t>
            </a:r>
            <a:r>
              <a:rPr lang="pt-PT" sz="1050" dirty="0"/>
              <a:t>um sistema de controlo de mudanças para gerir e registar as alterações no código, </a:t>
            </a:r>
            <a:r>
              <a:rPr lang="pt-PT" sz="1050" dirty="0" smtClean="0"/>
              <a:t>tanto de </a:t>
            </a:r>
            <a:r>
              <a:rPr lang="pt-PT" sz="1050" dirty="0"/>
              <a:t>desenvolvimento, como dos sistemas em produção</a:t>
            </a:r>
          </a:p>
        </p:txBody>
      </p:sp>
    </p:spTree>
    <p:extLst>
      <p:ext uri="{BB962C8B-B14F-4D97-AF65-F5344CB8AC3E}">
        <p14:creationId xmlns:p14="http://schemas.microsoft.com/office/powerpoint/2010/main" val="40027017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79004"/>
            <a:ext cx="6858000" cy="628650"/>
          </a:xfrm>
          <a:solidFill>
            <a:schemeClr val="bg1"/>
          </a:solidFill>
        </p:spPr>
        <p:txBody>
          <a:bodyPr anchor="ctr">
            <a:normAutofit/>
          </a:bodyPr>
          <a:lstStyle/>
          <a:p>
            <a:pPr>
              <a:spcAft>
                <a:spcPts val="450"/>
              </a:spcAft>
            </a:pPr>
            <a:r>
              <a:rPr lang="pt-PT" sz="2100" dirty="0">
                <a:solidFill>
                  <a:srgbClr val="00B0F0"/>
                </a:solidFill>
                <a:latin typeface="Arial"/>
                <a:cs typeface="Arial"/>
              </a:rPr>
              <a:t>Segurança em Base de Dados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67544" y="1839292"/>
            <a:ext cx="8280920" cy="3108722"/>
          </a:xfrm>
        </p:spPr>
        <p:txBody>
          <a:bodyPr>
            <a:noAutofit/>
          </a:bodyPr>
          <a:lstStyle/>
          <a:p>
            <a:r>
              <a:rPr lang="pt-PT" sz="1000" dirty="0"/>
              <a:t>Usar </a:t>
            </a:r>
            <a:r>
              <a:rPr lang="pt-PT" sz="1000" i="1" dirty="0"/>
              <a:t>consultas parametrizadas </a:t>
            </a:r>
            <a:r>
              <a:rPr lang="pt-PT" sz="1000" dirty="0"/>
              <a:t>fortemente tipificadas</a:t>
            </a:r>
          </a:p>
          <a:p>
            <a:r>
              <a:rPr lang="pt-PT" sz="1000" dirty="0" smtClean="0"/>
              <a:t>Utilizar </a:t>
            </a:r>
            <a:r>
              <a:rPr lang="pt-PT" sz="1000" dirty="0"/>
              <a:t>validação de entrada e codificação de saída e assegurar a abordagem de meta caracteres. </a:t>
            </a:r>
            <a:r>
              <a:rPr lang="pt-PT" sz="1000" dirty="0" smtClean="0"/>
              <a:t>Se houver </a:t>
            </a:r>
            <a:r>
              <a:rPr lang="pt-PT" sz="1000" dirty="0"/>
              <a:t>falha, o comando não deverá ser executado na base de dados</a:t>
            </a:r>
          </a:p>
          <a:p>
            <a:r>
              <a:rPr lang="pt-PT" sz="1000" dirty="0" smtClean="0"/>
              <a:t>Certificar-se </a:t>
            </a:r>
            <a:r>
              <a:rPr lang="pt-PT" sz="1000" dirty="0"/>
              <a:t>de que as variáveis são fortemente tipificadas</a:t>
            </a:r>
          </a:p>
          <a:p>
            <a:r>
              <a:rPr lang="pt-PT" sz="1000" dirty="0" smtClean="0"/>
              <a:t>Realizar </a:t>
            </a:r>
            <a:r>
              <a:rPr lang="pt-PT" sz="1000" dirty="0"/>
              <a:t>a codificação (</a:t>
            </a:r>
            <a:r>
              <a:rPr lang="pt-PT" sz="1000" dirty="0" err="1"/>
              <a:t>escaping</a:t>
            </a:r>
            <a:r>
              <a:rPr lang="pt-PT" sz="1000" dirty="0"/>
              <a:t>) de meta caracteres em instruções SQL8</a:t>
            </a:r>
          </a:p>
          <a:p>
            <a:r>
              <a:rPr lang="pt-PT" sz="1000" dirty="0" smtClean="0"/>
              <a:t>A </a:t>
            </a:r>
            <a:r>
              <a:rPr lang="pt-PT" sz="1000" dirty="0"/>
              <a:t>aplicação deve usar o menor nível possível de privilégios ao aceder a base de dados</a:t>
            </a:r>
          </a:p>
          <a:p>
            <a:r>
              <a:rPr lang="pt-PT" sz="1000" dirty="0" smtClean="0"/>
              <a:t>Usar </a:t>
            </a:r>
            <a:r>
              <a:rPr lang="pt-PT" sz="1000" dirty="0"/>
              <a:t>credenciais seguras para aceder a base de dados</a:t>
            </a:r>
          </a:p>
          <a:p>
            <a:r>
              <a:rPr lang="pt-PT" sz="1000" dirty="0" smtClean="0"/>
              <a:t>Não </a:t>
            </a:r>
            <a:r>
              <a:rPr lang="pt-PT" sz="1000" dirty="0"/>
              <a:t>incluir </a:t>
            </a:r>
            <a:r>
              <a:rPr lang="pt-PT" sz="1000" dirty="0" err="1"/>
              <a:t>strings</a:t>
            </a:r>
            <a:r>
              <a:rPr lang="pt-PT" sz="1000" dirty="0"/>
              <a:t> de ligação na aplicação. As </a:t>
            </a:r>
            <a:r>
              <a:rPr lang="pt-PT" sz="1000" dirty="0" err="1"/>
              <a:t>strings</a:t>
            </a:r>
            <a:r>
              <a:rPr lang="pt-PT" sz="1000" dirty="0"/>
              <a:t> de ligação devem ser armazenadas </a:t>
            </a:r>
            <a:r>
              <a:rPr lang="pt-PT" sz="1000" dirty="0" smtClean="0"/>
              <a:t>num arquivo </a:t>
            </a:r>
            <a:r>
              <a:rPr lang="pt-PT" sz="1000" dirty="0"/>
              <a:t>de configuração separado, armazenado num sistema de confiança e as informações </a:t>
            </a:r>
            <a:r>
              <a:rPr lang="pt-PT" sz="1000" dirty="0" smtClean="0"/>
              <a:t>devem ser </a:t>
            </a:r>
            <a:r>
              <a:rPr lang="pt-PT" sz="1000" dirty="0"/>
              <a:t>cifradas</a:t>
            </a:r>
          </a:p>
          <a:p>
            <a:r>
              <a:rPr lang="pt-PT" sz="1000" dirty="0" smtClean="0"/>
              <a:t>Usar </a:t>
            </a:r>
            <a:r>
              <a:rPr lang="pt-PT" sz="1000" dirty="0"/>
              <a:t>procedimentos armazenados (</a:t>
            </a:r>
            <a:r>
              <a:rPr lang="pt-PT" sz="1000" i="1" dirty="0" err="1"/>
              <a:t>stored</a:t>
            </a:r>
            <a:r>
              <a:rPr lang="pt-PT" sz="1000" i="1" dirty="0"/>
              <a:t> </a:t>
            </a:r>
            <a:r>
              <a:rPr lang="pt-PT" sz="1000" i="1" dirty="0" err="1"/>
              <a:t>procedures</a:t>
            </a:r>
            <a:r>
              <a:rPr lang="pt-PT" sz="1000" dirty="0"/>
              <a:t>) para abstrair o acesso aos dados e permitir </a:t>
            </a:r>
            <a:r>
              <a:rPr lang="pt-PT" sz="1000" dirty="0" smtClean="0"/>
              <a:t>a remoção </a:t>
            </a:r>
            <a:r>
              <a:rPr lang="pt-PT" sz="1000" dirty="0"/>
              <a:t>de permissões das tabelas no banco de dados</a:t>
            </a:r>
          </a:p>
          <a:p>
            <a:r>
              <a:rPr lang="pt-PT" sz="1000" dirty="0" smtClean="0"/>
              <a:t>Encerrar </a:t>
            </a:r>
            <a:r>
              <a:rPr lang="pt-PT" sz="1000" dirty="0"/>
              <a:t>a ligação assim que possível</a:t>
            </a:r>
          </a:p>
          <a:p>
            <a:r>
              <a:rPr lang="pt-PT" sz="1000" dirty="0" smtClean="0"/>
              <a:t>Remover </a:t>
            </a:r>
            <a:r>
              <a:rPr lang="pt-PT" sz="1000" dirty="0"/>
              <a:t>ou modificar senhas padrão de contas administrativas. Utilizar senhas robustas (</a:t>
            </a:r>
            <a:r>
              <a:rPr lang="pt-PT" sz="1000" dirty="0" smtClean="0"/>
              <a:t>pouco comuns </a:t>
            </a:r>
            <a:r>
              <a:rPr lang="pt-PT" sz="1000" dirty="0"/>
              <a:t>ou difíceis de deduzir) ou implementar autenticação de múltiplos fatores. Desativar </a:t>
            </a:r>
            <a:r>
              <a:rPr lang="pt-PT" sz="1000" dirty="0" smtClean="0"/>
              <a:t>qualquer funcionalidade </a:t>
            </a:r>
            <a:r>
              <a:rPr lang="pt-PT" sz="1000" dirty="0"/>
              <a:t>desnecessária na base de dados, como “</a:t>
            </a:r>
            <a:r>
              <a:rPr lang="pt-PT" sz="1000" dirty="0" err="1"/>
              <a:t>stored</a:t>
            </a:r>
            <a:r>
              <a:rPr lang="pt-PT" sz="1000" dirty="0"/>
              <a:t> </a:t>
            </a:r>
            <a:r>
              <a:rPr lang="pt-PT" sz="1000" dirty="0" err="1"/>
              <a:t>procedures</a:t>
            </a:r>
            <a:r>
              <a:rPr lang="pt-PT" sz="1000" dirty="0"/>
              <a:t>” ou serviços não </a:t>
            </a:r>
            <a:r>
              <a:rPr lang="pt-PT" sz="1000" dirty="0" smtClean="0"/>
              <a:t>utilizados. Instalar </a:t>
            </a:r>
            <a:r>
              <a:rPr lang="pt-PT" sz="1000" dirty="0"/>
              <a:t>o conjunto mínimo de componentes ou de opções necessárias (redução da superfície </a:t>
            </a:r>
            <a:r>
              <a:rPr lang="pt-PT" sz="1000" dirty="0" smtClean="0"/>
              <a:t>de ataque</a:t>
            </a:r>
            <a:r>
              <a:rPr lang="pt-PT" sz="1000" dirty="0"/>
              <a:t>)</a:t>
            </a:r>
          </a:p>
          <a:p>
            <a:r>
              <a:rPr lang="pt-PT" sz="1000" dirty="0" smtClean="0"/>
              <a:t>Eliminar </a:t>
            </a:r>
            <a:r>
              <a:rPr lang="pt-PT" sz="1000" dirty="0"/>
              <a:t>o conteúdo desnecessário incluído por padrão pelo fornecedor como esquemas e bases </a:t>
            </a:r>
            <a:r>
              <a:rPr lang="pt-PT" sz="1000" dirty="0" smtClean="0"/>
              <a:t>de dados </a:t>
            </a:r>
            <a:r>
              <a:rPr lang="pt-PT" sz="1000" dirty="0"/>
              <a:t>de exemplo</a:t>
            </a:r>
          </a:p>
          <a:p>
            <a:r>
              <a:rPr lang="pt-PT" sz="1000" dirty="0" smtClean="0"/>
              <a:t>Desativar </a:t>
            </a:r>
            <a:r>
              <a:rPr lang="pt-PT" sz="1000" dirty="0"/>
              <a:t>todas as contas criadas por padrão e que não sejam necessárias para suportar os </a:t>
            </a:r>
            <a:r>
              <a:rPr lang="pt-PT" sz="1000" dirty="0" smtClean="0"/>
              <a:t>requisitos de </a:t>
            </a:r>
            <a:r>
              <a:rPr lang="pt-PT" sz="1000" dirty="0"/>
              <a:t>negócio</a:t>
            </a:r>
          </a:p>
          <a:p>
            <a:r>
              <a:rPr lang="pt-PT" sz="1000" dirty="0" smtClean="0"/>
              <a:t>A </a:t>
            </a:r>
            <a:r>
              <a:rPr lang="pt-PT" sz="1000" dirty="0"/>
              <a:t>aplicação deve ligar-se à base de dados com diferentes credenciais de segurança para cada tipo </a:t>
            </a:r>
            <a:r>
              <a:rPr lang="pt-PT" sz="1000" dirty="0" smtClean="0"/>
              <a:t>de necessidade </a:t>
            </a:r>
            <a:r>
              <a:rPr lang="pt-PT" sz="1000" dirty="0"/>
              <a:t>como, por exemplo, utilizador, somente leitura, convidado ou administrador</a:t>
            </a:r>
          </a:p>
        </p:txBody>
      </p:sp>
    </p:spTree>
    <p:extLst>
      <p:ext uri="{BB962C8B-B14F-4D97-AF65-F5344CB8AC3E}">
        <p14:creationId xmlns:p14="http://schemas.microsoft.com/office/powerpoint/2010/main" val="16976023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79004"/>
            <a:ext cx="6858000" cy="628650"/>
          </a:xfrm>
          <a:solidFill>
            <a:schemeClr val="bg1"/>
          </a:solidFill>
        </p:spPr>
        <p:txBody>
          <a:bodyPr anchor="ctr">
            <a:normAutofit/>
          </a:bodyPr>
          <a:lstStyle/>
          <a:p>
            <a:pPr>
              <a:spcAft>
                <a:spcPts val="450"/>
              </a:spcAft>
            </a:pPr>
            <a:r>
              <a:rPr lang="pt-PT" sz="2100" dirty="0">
                <a:solidFill>
                  <a:srgbClr val="00B0F0"/>
                </a:solidFill>
                <a:latin typeface="Arial"/>
                <a:cs typeface="Arial"/>
              </a:rPr>
              <a:t>Gestão de Ficheiros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67544" y="1839292"/>
            <a:ext cx="8280920" cy="3108722"/>
          </a:xfrm>
        </p:spPr>
        <p:txBody>
          <a:bodyPr>
            <a:noAutofit/>
          </a:bodyPr>
          <a:lstStyle/>
          <a:p>
            <a:r>
              <a:rPr lang="pt-PT" sz="900" dirty="0"/>
              <a:t>Não passar dados fornecidos pelos utilizadores diretamente a uma função de inclusão dinâmica</a:t>
            </a:r>
          </a:p>
          <a:p>
            <a:r>
              <a:rPr lang="pt-PT" sz="900" dirty="0" smtClean="0"/>
              <a:t>Solicitar </a:t>
            </a:r>
            <a:r>
              <a:rPr lang="pt-PT" sz="900" dirty="0"/>
              <a:t>autenticação antes de permitir que seja feito o carregamento de </a:t>
            </a:r>
            <a:r>
              <a:rPr lang="pt-PT" sz="900" dirty="0" smtClean="0"/>
              <a:t>ficheiros</a:t>
            </a:r>
          </a:p>
          <a:p>
            <a:r>
              <a:rPr lang="pt-PT" sz="900" dirty="0"/>
              <a:t>Limitar os tipos de ficheiros que podem ser enviados para aceitar somente os necessários </a:t>
            </a:r>
            <a:r>
              <a:rPr lang="pt-PT" sz="900" dirty="0" smtClean="0"/>
              <a:t>ao propósito </a:t>
            </a:r>
            <a:r>
              <a:rPr lang="pt-PT" sz="900" dirty="0"/>
              <a:t>do negócio</a:t>
            </a:r>
          </a:p>
          <a:p>
            <a:r>
              <a:rPr lang="pt-PT" sz="900" dirty="0" smtClean="0"/>
              <a:t>Validar </a:t>
            </a:r>
            <a:r>
              <a:rPr lang="pt-PT" sz="900" dirty="0"/>
              <a:t>se os ficheiros enviados são do tipo esperado, através da validação dos cabeçalhos, </a:t>
            </a:r>
            <a:r>
              <a:rPr lang="pt-PT" sz="900" dirty="0" smtClean="0"/>
              <a:t>pois, realizar </a:t>
            </a:r>
            <a:r>
              <a:rPr lang="pt-PT" sz="900" dirty="0"/>
              <a:t>a verificação apenas pela extensão não é suficiente</a:t>
            </a:r>
          </a:p>
          <a:p>
            <a:r>
              <a:rPr lang="pt-PT" sz="900" dirty="0" smtClean="0"/>
              <a:t>Não </a:t>
            </a:r>
            <a:r>
              <a:rPr lang="pt-PT" sz="900" dirty="0"/>
              <a:t>gravar ficheiros no mesmo diretório de contexto da aplicação Web. Os ficheiros devem </a:t>
            </a:r>
            <a:r>
              <a:rPr lang="pt-PT" sz="900" dirty="0" smtClean="0"/>
              <a:t>ser armazenados </a:t>
            </a:r>
            <a:r>
              <a:rPr lang="pt-PT" sz="900" dirty="0"/>
              <a:t>no servidor de conteúdos ou na base de dados</a:t>
            </a:r>
          </a:p>
          <a:p>
            <a:r>
              <a:rPr lang="pt-PT" sz="900" dirty="0" smtClean="0"/>
              <a:t>Prevenir </a:t>
            </a:r>
            <a:r>
              <a:rPr lang="pt-PT" sz="900" dirty="0"/>
              <a:t>ou restringir o carregamento de qualquer ficheiro que possa ser interpretado ou </a:t>
            </a:r>
            <a:r>
              <a:rPr lang="pt-PT" sz="900" dirty="0" smtClean="0"/>
              <a:t>executado pelo </a:t>
            </a:r>
            <a:r>
              <a:rPr lang="pt-PT" sz="900" dirty="0"/>
              <a:t>servidor Web</a:t>
            </a:r>
          </a:p>
          <a:p>
            <a:r>
              <a:rPr lang="pt-PT" sz="900" dirty="0" smtClean="0"/>
              <a:t>Desativar </a:t>
            </a:r>
            <a:r>
              <a:rPr lang="pt-PT" sz="900" dirty="0"/>
              <a:t>privilégios de execução nos diretórios de armazenamento de ficheiros</a:t>
            </a:r>
          </a:p>
          <a:p>
            <a:r>
              <a:rPr lang="pt-PT" sz="900" dirty="0" smtClean="0"/>
              <a:t>Implantar </a:t>
            </a:r>
            <a:r>
              <a:rPr lang="pt-PT" sz="900" dirty="0"/>
              <a:t>o carregamento seguro nos ambientes UNIX por meio da montagem do diretório </a:t>
            </a:r>
            <a:r>
              <a:rPr lang="pt-PT" sz="900" dirty="0" smtClean="0"/>
              <a:t>de destino </a:t>
            </a:r>
            <a:r>
              <a:rPr lang="pt-PT" sz="900" dirty="0"/>
              <a:t>como uma unidade lógica, usando o caminho associado ou o ambiente de “</a:t>
            </a:r>
            <a:r>
              <a:rPr lang="pt-PT" sz="900" dirty="0" err="1"/>
              <a:t>chroot</a:t>
            </a:r>
            <a:r>
              <a:rPr lang="pt-PT" sz="900" dirty="0"/>
              <a:t>”</a:t>
            </a:r>
          </a:p>
          <a:p>
            <a:r>
              <a:rPr lang="pt-PT" sz="900" dirty="0" smtClean="0"/>
              <a:t>Ao </a:t>
            </a:r>
            <a:r>
              <a:rPr lang="pt-PT" sz="900" dirty="0"/>
              <a:t>referenciar ficheiros, usar uma lista branca (</a:t>
            </a:r>
            <a:r>
              <a:rPr lang="pt-PT" sz="900" i="1" dirty="0" err="1"/>
              <a:t>whitelist</a:t>
            </a:r>
            <a:r>
              <a:rPr lang="pt-PT" sz="900" dirty="0"/>
              <a:t>) de nomes e de tipos de </a:t>
            </a:r>
            <a:r>
              <a:rPr lang="pt-PT" sz="900" dirty="0" smtClean="0"/>
              <a:t>ficheiros permitidos</a:t>
            </a:r>
            <a:r>
              <a:rPr lang="pt-PT" sz="900" dirty="0"/>
              <a:t>. Realizar a validação do valor do parâmetro passado e caso ele não corresponda ao que </a:t>
            </a:r>
            <a:r>
              <a:rPr lang="pt-PT" sz="900" dirty="0" smtClean="0"/>
              <a:t>é esperado</a:t>
            </a:r>
            <a:r>
              <a:rPr lang="pt-PT" sz="900" dirty="0"/>
              <a:t>, rejeitar a entrada ou utilizar um valor padrão</a:t>
            </a:r>
          </a:p>
          <a:p>
            <a:r>
              <a:rPr lang="pt-PT" sz="900" dirty="0" smtClean="0"/>
              <a:t>Não </a:t>
            </a:r>
            <a:r>
              <a:rPr lang="pt-PT" sz="900" dirty="0"/>
              <a:t>transmitir, sem nenhum tipo de tratamento, os dados informados pelo utilizador </a:t>
            </a:r>
            <a:r>
              <a:rPr lang="pt-PT" sz="900" dirty="0" smtClean="0"/>
              <a:t>a </a:t>
            </a:r>
            <a:r>
              <a:rPr lang="pt-PT" sz="900" dirty="0" err="1" smtClean="0"/>
              <a:t>redirecionamentos</a:t>
            </a:r>
            <a:r>
              <a:rPr lang="pt-PT" sz="900" dirty="0" smtClean="0"/>
              <a:t> </a:t>
            </a:r>
            <a:r>
              <a:rPr lang="pt-PT" sz="900" dirty="0"/>
              <a:t>dinâmicos. Se isso for necessário, o </a:t>
            </a:r>
            <a:r>
              <a:rPr lang="pt-PT" sz="900" dirty="0" err="1"/>
              <a:t>redirecionamento</a:t>
            </a:r>
            <a:r>
              <a:rPr lang="pt-PT" sz="900" dirty="0"/>
              <a:t> deverá aceitar </a:t>
            </a:r>
            <a:r>
              <a:rPr lang="pt-PT" sz="900" dirty="0" smtClean="0"/>
              <a:t>apenas </a:t>
            </a:r>
            <a:r>
              <a:rPr lang="pt-PT" sz="900" dirty="0" err="1" smtClean="0"/>
              <a:t>URLs</a:t>
            </a:r>
            <a:r>
              <a:rPr lang="pt-PT" sz="900" dirty="0" smtClean="0"/>
              <a:t> </a:t>
            </a:r>
            <a:r>
              <a:rPr lang="pt-PT" sz="900" dirty="0"/>
              <a:t>relativas e validadas</a:t>
            </a:r>
          </a:p>
          <a:p>
            <a:r>
              <a:rPr lang="pt-PT" sz="900" dirty="0" smtClean="0"/>
              <a:t>Não </a:t>
            </a:r>
            <a:r>
              <a:rPr lang="pt-PT" sz="900" dirty="0"/>
              <a:t>passar caminhos de diretórios ou de ficheiros em pedidos. Usar algum mecanismo </a:t>
            </a:r>
            <a:r>
              <a:rPr lang="pt-PT" sz="900" dirty="0" smtClean="0"/>
              <a:t>de mapeamento </a:t>
            </a:r>
            <a:r>
              <a:rPr lang="pt-PT" sz="900" dirty="0"/>
              <a:t>desses recursos para índices definidos numa lista pré-definida de caminhos</a:t>
            </a:r>
          </a:p>
          <a:p>
            <a:r>
              <a:rPr lang="pt-PT" sz="900" dirty="0" smtClean="0"/>
              <a:t>Nunca </a:t>
            </a:r>
            <a:r>
              <a:rPr lang="pt-PT" sz="900" dirty="0"/>
              <a:t>enviar o caminho absoluto do ficheiro para o cliente</a:t>
            </a:r>
          </a:p>
          <a:p>
            <a:r>
              <a:rPr lang="pt-PT" sz="900" dirty="0" smtClean="0"/>
              <a:t>Certificar-se </a:t>
            </a:r>
            <a:r>
              <a:rPr lang="pt-PT" sz="900" dirty="0"/>
              <a:t>de que os ficheiros da aplicação e os recursos estão definidos somente com o atributo </a:t>
            </a:r>
            <a:r>
              <a:rPr lang="pt-PT" sz="900" dirty="0" smtClean="0"/>
              <a:t>de leitura</a:t>
            </a:r>
            <a:endParaRPr lang="pt-PT" sz="900" dirty="0"/>
          </a:p>
          <a:p>
            <a:r>
              <a:rPr lang="pt-PT" sz="900" dirty="0" smtClean="0"/>
              <a:t>Verificar </a:t>
            </a:r>
            <a:r>
              <a:rPr lang="pt-PT" sz="900" dirty="0"/>
              <a:t>os ficheiros que os utilizadores submeterem através do mecanismo de carregamento </a:t>
            </a:r>
            <a:r>
              <a:rPr lang="pt-PT" sz="900" dirty="0" smtClean="0"/>
              <a:t>em busca </a:t>
            </a:r>
            <a:r>
              <a:rPr lang="pt-PT" sz="900" dirty="0"/>
              <a:t>de vírus e </a:t>
            </a:r>
            <a:r>
              <a:rPr lang="pt-PT" sz="900" dirty="0" err="1"/>
              <a:t>malwares</a:t>
            </a:r>
            <a:endParaRPr lang="pt-PT" sz="900" dirty="0"/>
          </a:p>
        </p:txBody>
      </p:sp>
    </p:spTree>
    <p:extLst>
      <p:ext uri="{BB962C8B-B14F-4D97-AF65-F5344CB8AC3E}">
        <p14:creationId xmlns:p14="http://schemas.microsoft.com/office/powerpoint/2010/main" val="28473913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79004"/>
            <a:ext cx="6858000" cy="628650"/>
          </a:xfrm>
          <a:solidFill>
            <a:schemeClr val="bg1"/>
          </a:solidFill>
        </p:spPr>
        <p:txBody>
          <a:bodyPr anchor="ctr">
            <a:normAutofit/>
          </a:bodyPr>
          <a:lstStyle/>
          <a:p>
            <a:pPr>
              <a:spcAft>
                <a:spcPts val="450"/>
              </a:spcAft>
            </a:pPr>
            <a:r>
              <a:rPr lang="pt-PT" sz="2100" dirty="0">
                <a:solidFill>
                  <a:srgbClr val="00B0F0"/>
                </a:solidFill>
                <a:latin typeface="Arial"/>
                <a:cs typeface="Arial"/>
              </a:rPr>
              <a:t>Gestão de Memória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67544" y="1839292"/>
            <a:ext cx="8280920" cy="3108722"/>
          </a:xfrm>
        </p:spPr>
        <p:txBody>
          <a:bodyPr>
            <a:noAutofit/>
          </a:bodyPr>
          <a:lstStyle/>
          <a:p>
            <a:r>
              <a:rPr lang="pt-PT" sz="1200" dirty="0"/>
              <a:t>Utilizar controlo de entrada/saída de dados que não sejam de confiança</a:t>
            </a:r>
          </a:p>
          <a:p>
            <a:r>
              <a:rPr lang="pt-PT" sz="1200" dirty="0" smtClean="0"/>
              <a:t>Verificar </a:t>
            </a:r>
            <a:r>
              <a:rPr lang="pt-PT" sz="1200" dirty="0"/>
              <a:t>se o buffer é tão grande quanto o especificado</a:t>
            </a:r>
          </a:p>
          <a:p>
            <a:r>
              <a:rPr lang="pt-PT" sz="1200" dirty="0" smtClean="0"/>
              <a:t>Ao </a:t>
            </a:r>
            <a:r>
              <a:rPr lang="pt-PT" sz="1200" dirty="0"/>
              <a:t>usar funções que aceitem determinado número de bytes para realizar cópias, como </a:t>
            </a:r>
            <a:r>
              <a:rPr lang="pt-PT" sz="1200" dirty="0" err="1"/>
              <a:t>strncpy</a:t>
            </a:r>
            <a:r>
              <a:rPr lang="pt-PT" sz="1200" dirty="0" smtClean="0"/>
              <a:t>(), esteja </a:t>
            </a:r>
            <a:r>
              <a:rPr lang="pt-PT" sz="1200" dirty="0"/>
              <a:t>ciente de que se o tamanho do buffer de destino for igual ao tamanho do buffer de origem, </a:t>
            </a:r>
            <a:r>
              <a:rPr lang="pt-PT" sz="1200" dirty="0" smtClean="0"/>
              <a:t>ele não </a:t>
            </a:r>
            <a:r>
              <a:rPr lang="pt-PT" sz="1200" dirty="0"/>
              <a:t>pode encerrar a sequência de caracteres com valor nulo (</a:t>
            </a:r>
            <a:r>
              <a:rPr lang="pt-PT" sz="1200" dirty="0" err="1"/>
              <a:t>null</a:t>
            </a:r>
            <a:r>
              <a:rPr lang="pt-PT" sz="1200" dirty="0"/>
              <a:t>)</a:t>
            </a:r>
          </a:p>
          <a:p>
            <a:r>
              <a:rPr lang="pt-PT" sz="1200" dirty="0" smtClean="0"/>
              <a:t>Verificar </a:t>
            </a:r>
            <a:r>
              <a:rPr lang="pt-PT" sz="1200" dirty="0"/>
              <a:t>os limites do buffer caso as chamadas à função sejam realizadas em ciclos e verificar se </a:t>
            </a:r>
            <a:r>
              <a:rPr lang="pt-PT" sz="1200" dirty="0" smtClean="0"/>
              <a:t>não há </a:t>
            </a:r>
            <a:r>
              <a:rPr lang="pt-PT" sz="1200" dirty="0"/>
              <a:t>nenhum risco de ocorrer gravação de dados além do espaço reservado</a:t>
            </a:r>
          </a:p>
          <a:p>
            <a:r>
              <a:rPr lang="pt-PT" sz="1200" dirty="0" smtClean="0"/>
              <a:t>Truncar </a:t>
            </a:r>
            <a:r>
              <a:rPr lang="pt-PT" sz="1200" dirty="0"/>
              <a:t>todas as </a:t>
            </a:r>
            <a:r>
              <a:rPr lang="pt-PT" sz="1200" dirty="0" err="1"/>
              <a:t>strings</a:t>
            </a:r>
            <a:r>
              <a:rPr lang="pt-PT" sz="1200" dirty="0"/>
              <a:t> de entrada para um tamanho razoável antes de passá-las para as funções </a:t>
            </a:r>
            <a:r>
              <a:rPr lang="pt-PT" sz="1200" dirty="0" smtClean="0"/>
              <a:t>de cópia </a:t>
            </a:r>
            <a:r>
              <a:rPr lang="pt-PT" sz="1200" dirty="0"/>
              <a:t>e concatenação</a:t>
            </a:r>
          </a:p>
          <a:p>
            <a:r>
              <a:rPr lang="pt-PT" sz="1200" dirty="0" smtClean="0"/>
              <a:t>Na </a:t>
            </a:r>
            <a:r>
              <a:rPr lang="pt-PT" sz="1200" dirty="0"/>
              <a:t>liberação de recursos reservados para objetos de ligação, identificadores de ficheiro etc., </a:t>
            </a:r>
            <a:r>
              <a:rPr lang="pt-PT" sz="1200" dirty="0" smtClean="0"/>
              <a:t>não contar </a:t>
            </a:r>
            <a:r>
              <a:rPr lang="pt-PT" sz="1200" dirty="0"/>
              <a:t>com o “</a:t>
            </a:r>
            <a:r>
              <a:rPr lang="pt-PT" sz="1200" i="1" dirty="0" err="1"/>
              <a:t>garbage</a:t>
            </a:r>
            <a:r>
              <a:rPr lang="pt-PT" sz="1200" i="1" dirty="0"/>
              <a:t> </a:t>
            </a:r>
            <a:r>
              <a:rPr lang="pt-PT" sz="1200" i="1" dirty="0" err="1"/>
              <a:t>collector</a:t>
            </a:r>
            <a:r>
              <a:rPr lang="pt-PT" sz="1200" dirty="0"/>
              <a:t>” e realizar a tarefa explicitamente</a:t>
            </a:r>
          </a:p>
          <a:p>
            <a:r>
              <a:rPr lang="pt-PT" sz="1200" dirty="0" smtClean="0"/>
              <a:t>Usar </a:t>
            </a:r>
            <a:r>
              <a:rPr lang="pt-PT" sz="1200" dirty="0"/>
              <a:t>pilhas não executáveis, quando disponíveis</a:t>
            </a:r>
          </a:p>
          <a:p>
            <a:r>
              <a:rPr lang="pt-PT" sz="1200" dirty="0" smtClean="0"/>
              <a:t>Evitar </a:t>
            </a:r>
            <a:r>
              <a:rPr lang="pt-PT" sz="1200" dirty="0"/>
              <a:t>o uso de funções reconhecidamente vulneráveis como </a:t>
            </a:r>
            <a:r>
              <a:rPr lang="pt-PT" sz="1200" dirty="0" err="1"/>
              <a:t>printf</a:t>
            </a:r>
            <a:r>
              <a:rPr lang="pt-PT" sz="1200" dirty="0"/>
              <a:t>(), </a:t>
            </a:r>
            <a:r>
              <a:rPr lang="pt-PT" sz="1200" dirty="0" err="1"/>
              <a:t>strcat</a:t>
            </a:r>
            <a:r>
              <a:rPr lang="pt-PT" sz="1200" dirty="0"/>
              <a:t>(), </a:t>
            </a:r>
            <a:r>
              <a:rPr lang="pt-PT" sz="1200" dirty="0" err="1"/>
              <a:t>strcpy</a:t>
            </a:r>
            <a:r>
              <a:rPr lang="pt-PT" sz="1200" dirty="0"/>
              <a:t>() etc.</a:t>
            </a:r>
          </a:p>
          <a:p>
            <a:r>
              <a:rPr lang="pt-PT" sz="1200" dirty="0" smtClean="0"/>
              <a:t>Liberar </a:t>
            </a:r>
            <a:r>
              <a:rPr lang="pt-PT" sz="1200" dirty="0"/>
              <a:t>a memória reservada de modo apropriado após concluir a sub-rotina (função/método) e </a:t>
            </a:r>
            <a:r>
              <a:rPr lang="pt-PT" sz="1200" dirty="0" smtClean="0"/>
              <a:t>em todos </a:t>
            </a:r>
            <a:r>
              <a:rPr lang="pt-PT" sz="1200" dirty="0"/>
              <a:t>pontos de saída</a:t>
            </a:r>
          </a:p>
        </p:txBody>
      </p:sp>
    </p:spTree>
    <p:extLst>
      <p:ext uri="{BB962C8B-B14F-4D97-AF65-F5344CB8AC3E}">
        <p14:creationId xmlns:p14="http://schemas.microsoft.com/office/powerpoint/2010/main" val="5003094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79004"/>
            <a:ext cx="6858000" cy="628650"/>
          </a:xfrm>
          <a:solidFill>
            <a:schemeClr val="bg1"/>
          </a:solidFill>
        </p:spPr>
        <p:txBody>
          <a:bodyPr anchor="ctr">
            <a:normAutofit/>
          </a:bodyPr>
          <a:lstStyle/>
          <a:p>
            <a:pPr>
              <a:spcAft>
                <a:spcPts val="450"/>
              </a:spcAft>
            </a:pPr>
            <a:r>
              <a:rPr lang="pt-PT" sz="2100" dirty="0">
                <a:solidFill>
                  <a:srgbClr val="00B0F0"/>
                </a:solidFill>
                <a:latin typeface="Arial"/>
                <a:cs typeface="Arial"/>
              </a:rPr>
              <a:t>Práticas Gerais de Programação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67544" y="1839292"/>
            <a:ext cx="8280920" cy="3108722"/>
          </a:xfrm>
        </p:spPr>
        <p:txBody>
          <a:bodyPr>
            <a:noAutofit/>
          </a:bodyPr>
          <a:lstStyle/>
          <a:p>
            <a:r>
              <a:rPr lang="pt-PT" sz="900" dirty="0"/>
              <a:t>Para tarefas comuns, utilizar sempre código testado, gerido e aprovado ao invés de criar código </a:t>
            </a:r>
            <a:r>
              <a:rPr lang="pt-PT" sz="900" dirty="0" smtClean="0"/>
              <a:t>novo e </a:t>
            </a:r>
            <a:r>
              <a:rPr lang="pt-PT" sz="900" dirty="0"/>
              <a:t>não </a:t>
            </a:r>
            <a:r>
              <a:rPr lang="pt-PT" sz="900" dirty="0" smtClean="0"/>
              <a:t>gerido</a:t>
            </a:r>
          </a:p>
          <a:p>
            <a:r>
              <a:rPr lang="pt-PT" sz="900" dirty="0"/>
              <a:t>Utilizar </a:t>
            </a:r>
            <a:r>
              <a:rPr lang="pt-PT" sz="900" dirty="0" err="1"/>
              <a:t>APIs</a:t>
            </a:r>
            <a:r>
              <a:rPr lang="pt-PT" sz="900" dirty="0"/>
              <a:t> que executem tarefas específicas para realizar operações do sistema operativo. Não</a:t>
            </a:r>
          </a:p>
          <a:p>
            <a:r>
              <a:rPr lang="pt-PT" sz="900" dirty="0"/>
              <a:t>permitir que a aplicação execute comandos diretamente no sistema operativo, especialmente </a:t>
            </a:r>
            <a:r>
              <a:rPr lang="pt-PT" sz="900" dirty="0" smtClean="0"/>
              <a:t>através da </a:t>
            </a:r>
            <a:r>
              <a:rPr lang="pt-PT" sz="900" dirty="0"/>
              <a:t>utilização de “</a:t>
            </a:r>
            <a:r>
              <a:rPr lang="pt-PT" sz="900" dirty="0" err="1"/>
              <a:t>shells</a:t>
            </a:r>
            <a:r>
              <a:rPr lang="pt-PT" sz="900" dirty="0"/>
              <a:t>” de comando iniciadas pela aplicação</a:t>
            </a:r>
          </a:p>
          <a:p>
            <a:r>
              <a:rPr lang="pt-PT" sz="900" dirty="0" smtClean="0"/>
              <a:t>Utilizar </a:t>
            </a:r>
            <a:r>
              <a:rPr lang="pt-PT" sz="900" dirty="0"/>
              <a:t>mecanismos de verificação de integridade por “</a:t>
            </a:r>
            <a:r>
              <a:rPr lang="pt-PT" sz="900" dirty="0" err="1"/>
              <a:t>checksum</a:t>
            </a:r>
            <a:r>
              <a:rPr lang="pt-PT" sz="900" dirty="0"/>
              <a:t>” ou “</a:t>
            </a:r>
            <a:r>
              <a:rPr lang="pt-PT" sz="900" dirty="0" err="1"/>
              <a:t>hash</a:t>
            </a:r>
            <a:r>
              <a:rPr lang="pt-PT" sz="900" dirty="0"/>
              <a:t>” para verificar </a:t>
            </a:r>
            <a:r>
              <a:rPr lang="pt-PT" sz="900" dirty="0" smtClean="0"/>
              <a:t>a integridade </a:t>
            </a:r>
            <a:r>
              <a:rPr lang="pt-PT" sz="900" dirty="0"/>
              <a:t>do código interpretado, bibliotecas, ficheiros executáveis e ficheiros de configuração</a:t>
            </a:r>
          </a:p>
          <a:p>
            <a:r>
              <a:rPr lang="pt-PT" sz="900" dirty="0" smtClean="0"/>
              <a:t>Utilizar </a:t>
            </a:r>
            <a:r>
              <a:rPr lang="pt-PT" sz="900" dirty="0"/>
              <a:t>mecanismos de bloqueio para evitar pedidos simultâneos para a aplicação ou utilizar </a:t>
            </a:r>
            <a:r>
              <a:rPr lang="pt-PT" sz="900" dirty="0" smtClean="0"/>
              <a:t>um mecanismo </a:t>
            </a:r>
            <a:r>
              <a:rPr lang="pt-PT" sz="900" dirty="0"/>
              <a:t>de sincronização para evitar condições de concorrência (</a:t>
            </a:r>
            <a:r>
              <a:rPr lang="pt-PT" sz="900" i="1" dirty="0" err="1"/>
              <a:t>race</a:t>
            </a:r>
            <a:r>
              <a:rPr lang="pt-PT" sz="900" i="1" dirty="0"/>
              <a:t> </a:t>
            </a:r>
            <a:r>
              <a:rPr lang="pt-PT" sz="900" i="1" dirty="0" err="1"/>
              <a:t>conditions</a:t>
            </a:r>
            <a:r>
              <a:rPr lang="pt-PT" sz="900" dirty="0"/>
              <a:t>)</a:t>
            </a:r>
          </a:p>
          <a:p>
            <a:r>
              <a:rPr lang="pt-PT" sz="900" dirty="0" smtClean="0"/>
              <a:t>Proteger </a:t>
            </a:r>
            <a:r>
              <a:rPr lang="pt-PT" sz="900" dirty="0"/>
              <a:t>as variáveis partilhadas e os recursos contra acessos concorrentes inapropriados</a:t>
            </a:r>
          </a:p>
          <a:p>
            <a:r>
              <a:rPr lang="pt-PT" sz="900" dirty="0" smtClean="0"/>
              <a:t>Instanciar </a:t>
            </a:r>
            <a:r>
              <a:rPr lang="pt-PT" sz="900" dirty="0"/>
              <a:t>explicitamente todas as variáveis e dados persistentes durante a declaração, ou antes </a:t>
            </a:r>
            <a:r>
              <a:rPr lang="pt-PT" sz="900" dirty="0" smtClean="0"/>
              <a:t>da primeira </a:t>
            </a:r>
            <a:r>
              <a:rPr lang="pt-PT" sz="900" dirty="0"/>
              <a:t>utilização</a:t>
            </a:r>
          </a:p>
          <a:p>
            <a:r>
              <a:rPr lang="pt-PT" sz="900" dirty="0" smtClean="0"/>
              <a:t>Quando </a:t>
            </a:r>
            <a:r>
              <a:rPr lang="pt-PT" sz="900" dirty="0"/>
              <a:t>a aplicação tiver que ser executada com privilégios elevados, aumentar os privilégios o </a:t>
            </a:r>
            <a:r>
              <a:rPr lang="pt-PT" sz="900" dirty="0" smtClean="0"/>
              <a:t>mais tarde </a:t>
            </a:r>
            <a:r>
              <a:rPr lang="pt-PT" sz="900" dirty="0"/>
              <a:t>possível e revogá-los logo que seja possível</a:t>
            </a:r>
          </a:p>
          <a:p>
            <a:r>
              <a:rPr lang="pt-PT" sz="900" dirty="0" smtClean="0"/>
              <a:t>Evitar </a:t>
            </a:r>
            <a:r>
              <a:rPr lang="pt-PT" sz="900" dirty="0"/>
              <a:t>erros de cálculo decorrentes da falta de entendimento da representação interna da </a:t>
            </a:r>
            <a:r>
              <a:rPr lang="pt-PT" sz="900" dirty="0" smtClean="0"/>
              <a:t>linguagem de </a:t>
            </a:r>
            <a:r>
              <a:rPr lang="pt-PT" sz="900" dirty="0"/>
              <a:t>programação usada e de como é realizada a interação com os aspetos de cálculo numérico. </a:t>
            </a:r>
            <a:r>
              <a:rPr lang="pt-PT" sz="900" dirty="0" smtClean="0"/>
              <a:t>Prestar bastante </a:t>
            </a:r>
            <a:r>
              <a:rPr lang="pt-PT" sz="900" dirty="0"/>
              <a:t>atenção nas discrepâncias de tamanho de byte, precisão, distinções de </a:t>
            </a:r>
            <a:r>
              <a:rPr lang="pt-PT" sz="900" dirty="0" smtClean="0"/>
              <a:t>sinal (</a:t>
            </a:r>
            <a:r>
              <a:rPr lang="pt-PT" sz="900" dirty="0" err="1" smtClean="0"/>
              <a:t>signed</a:t>
            </a:r>
            <a:r>
              <a:rPr lang="pt-PT" sz="900" dirty="0" smtClean="0"/>
              <a:t>/</a:t>
            </a:r>
            <a:r>
              <a:rPr lang="pt-PT" sz="900" dirty="0" err="1" smtClean="0"/>
              <a:t>unsigned</a:t>
            </a:r>
            <a:r>
              <a:rPr lang="pt-PT" sz="900" dirty="0"/>
              <a:t>), truncamento, conversão e “casting” entre os tipos, cálculos que devolvam </a:t>
            </a:r>
            <a:r>
              <a:rPr lang="pt-PT" sz="900" dirty="0" smtClean="0"/>
              <a:t>erros do </a:t>
            </a:r>
            <a:r>
              <a:rPr lang="pt-PT" sz="900" dirty="0"/>
              <a:t>tipo “</a:t>
            </a:r>
            <a:r>
              <a:rPr lang="pt-PT" sz="900" dirty="0" err="1"/>
              <a:t>not</a:t>
            </a:r>
            <a:r>
              <a:rPr lang="pt-PT" sz="900" dirty="0"/>
              <a:t>-a-</a:t>
            </a:r>
            <a:r>
              <a:rPr lang="pt-PT" sz="900" dirty="0" err="1"/>
              <a:t>number</a:t>
            </a:r>
            <a:r>
              <a:rPr lang="pt-PT" sz="900" dirty="0"/>
              <a:t>” e, também, como a linguagem de programação trata a representação </a:t>
            </a:r>
            <a:r>
              <a:rPr lang="pt-PT" sz="900" dirty="0" smtClean="0"/>
              <a:t>interna de </a:t>
            </a:r>
            <a:r>
              <a:rPr lang="pt-PT" sz="900" dirty="0"/>
              <a:t>números muito grandes ou muito pequenos</a:t>
            </a:r>
          </a:p>
          <a:p>
            <a:r>
              <a:rPr lang="pt-PT" sz="900" dirty="0" smtClean="0"/>
              <a:t>Não </a:t>
            </a:r>
            <a:r>
              <a:rPr lang="pt-PT" sz="900" dirty="0"/>
              <a:t>transferir, diretamente, dados fornecidos pelo utilizador para qualquer função de </a:t>
            </a:r>
            <a:r>
              <a:rPr lang="pt-PT" sz="900" dirty="0" smtClean="0"/>
              <a:t>execução dinâmica </a:t>
            </a:r>
            <a:r>
              <a:rPr lang="pt-PT" sz="900" dirty="0"/>
              <a:t>sem realizar o </a:t>
            </a:r>
            <a:r>
              <a:rPr lang="pt-PT" sz="900" i="1" dirty="0"/>
              <a:t>tratamento dos dados </a:t>
            </a:r>
            <a:r>
              <a:rPr lang="pt-PT" sz="900" dirty="0"/>
              <a:t>de modo adequado</a:t>
            </a:r>
          </a:p>
          <a:p>
            <a:r>
              <a:rPr lang="pt-PT" sz="900" dirty="0" smtClean="0"/>
              <a:t>Restringir </a:t>
            </a:r>
            <a:r>
              <a:rPr lang="pt-PT" sz="900" dirty="0"/>
              <a:t>a geração e a alteração de código por parte dos utilizadores</a:t>
            </a:r>
          </a:p>
          <a:p>
            <a:r>
              <a:rPr lang="pt-PT" sz="900" dirty="0" smtClean="0"/>
              <a:t>Rever </a:t>
            </a:r>
            <a:r>
              <a:rPr lang="pt-PT" sz="900" dirty="0"/>
              <a:t>todas as aplicações secundárias, códigos e bibliotecas de terceiros para determinar </a:t>
            </a:r>
            <a:r>
              <a:rPr lang="pt-PT" sz="900" dirty="0" smtClean="0"/>
              <a:t>a necessidade </a:t>
            </a:r>
            <a:r>
              <a:rPr lang="pt-PT" sz="900" dirty="0"/>
              <a:t>do negócio e validar as funcionalidades de segurança, uma vez que estas </a:t>
            </a:r>
            <a:r>
              <a:rPr lang="pt-PT" sz="900" dirty="0" smtClean="0"/>
              <a:t>podem introduzir </a:t>
            </a:r>
            <a:r>
              <a:rPr lang="pt-PT" sz="900" dirty="0"/>
              <a:t>novas vulnerabilidades</a:t>
            </a:r>
          </a:p>
          <a:p>
            <a:r>
              <a:rPr lang="pt-PT" sz="900" dirty="0" smtClean="0"/>
              <a:t>Implementar </a:t>
            </a:r>
            <a:r>
              <a:rPr lang="pt-PT" sz="900" dirty="0"/>
              <a:t>atualizações de modo seguro. Se a aplicação precisar realizar atualizações automáticas,</a:t>
            </a:r>
          </a:p>
          <a:p>
            <a:r>
              <a:rPr lang="pt-PT" sz="900" dirty="0"/>
              <a:t>utilizar mecanismos de assinatura digital para garantir a integridade do código e garantir que </a:t>
            </a:r>
            <a:r>
              <a:rPr lang="pt-PT" sz="900" dirty="0" smtClean="0"/>
              <a:t>os clientes </a:t>
            </a:r>
            <a:r>
              <a:rPr lang="pt-PT" sz="900" dirty="0"/>
              <a:t>façam a verificação da assinatura após descarregarem as atualizações. Usar canais </a:t>
            </a:r>
            <a:r>
              <a:rPr lang="pt-PT" sz="900" dirty="0" smtClean="0"/>
              <a:t>cifrados para </a:t>
            </a:r>
            <a:r>
              <a:rPr lang="pt-PT" sz="900" dirty="0"/>
              <a:t>transferir o código a partir do </a:t>
            </a:r>
            <a:r>
              <a:rPr lang="pt-PT" sz="900" dirty="0" err="1"/>
              <a:t>host</a:t>
            </a:r>
            <a:r>
              <a:rPr lang="pt-PT" sz="900" dirty="0"/>
              <a:t> do servidor</a:t>
            </a:r>
          </a:p>
        </p:txBody>
      </p:sp>
    </p:spTree>
    <p:extLst>
      <p:ext uri="{BB962C8B-B14F-4D97-AF65-F5344CB8AC3E}">
        <p14:creationId xmlns:p14="http://schemas.microsoft.com/office/powerpoint/2010/main" val="35295081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79004"/>
            <a:ext cx="6858000" cy="628650"/>
          </a:xfrm>
          <a:solidFill>
            <a:schemeClr val="bg1"/>
          </a:solidFill>
        </p:spPr>
        <p:txBody>
          <a:bodyPr anchor="ctr">
            <a:normAutofit fontScale="90000"/>
          </a:bodyPr>
          <a:lstStyle/>
          <a:p>
            <a:pPr>
              <a:spcAft>
                <a:spcPts val="450"/>
              </a:spcAft>
            </a:pPr>
            <a:r>
              <a:rPr lang="pt-PT" sz="2100" dirty="0">
                <a:solidFill>
                  <a:srgbClr val="00B0F0"/>
                </a:solidFill>
                <a:latin typeface="Arial"/>
                <a:cs typeface="Arial"/>
              </a:rPr>
              <a:t>As 10 vulnerabilidades de segurança mais</a:t>
            </a:r>
            <a:br>
              <a:rPr lang="pt-PT" sz="2100" dirty="0">
                <a:solidFill>
                  <a:srgbClr val="00B0F0"/>
                </a:solidFill>
                <a:latin typeface="Arial"/>
                <a:cs typeface="Arial"/>
              </a:rPr>
            </a:br>
            <a:r>
              <a:rPr lang="pt-PT" sz="2100" dirty="0">
                <a:solidFill>
                  <a:srgbClr val="00B0F0"/>
                </a:solidFill>
                <a:latin typeface="Arial"/>
                <a:cs typeface="Arial"/>
              </a:rPr>
              <a:t>críticas em aplicações WEB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091" y="1686234"/>
            <a:ext cx="7721817" cy="3457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79175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79004"/>
            <a:ext cx="6858000" cy="628650"/>
          </a:xfrm>
          <a:solidFill>
            <a:schemeClr val="bg1"/>
          </a:solidFill>
        </p:spPr>
        <p:txBody>
          <a:bodyPr anchor="ctr">
            <a:normAutofit/>
          </a:bodyPr>
          <a:lstStyle/>
          <a:p>
            <a:pPr>
              <a:spcAft>
                <a:spcPts val="450"/>
              </a:spcAft>
            </a:pPr>
            <a:r>
              <a:rPr lang="pt-PT" sz="2100" dirty="0">
                <a:solidFill>
                  <a:srgbClr val="00B0F0"/>
                </a:solidFill>
                <a:latin typeface="Arial"/>
                <a:cs typeface="Arial"/>
              </a:rPr>
              <a:t>Práticas Gerais de Programação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612" y="1683790"/>
            <a:ext cx="6984776" cy="3282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2258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79004"/>
            <a:ext cx="6858000" cy="628650"/>
          </a:xfrm>
          <a:solidFill>
            <a:schemeClr val="bg1"/>
          </a:solidFill>
        </p:spPr>
        <p:txBody>
          <a:bodyPr anchor="ctr">
            <a:normAutofit/>
          </a:bodyPr>
          <a:lstStyle/>
          <a:p>
            <a:pPr>
              <a:spcAft>
                <a:spcPts val="450"/>
              </a:spcAft>
            </a:pPr>
            <a:r>
              <a:rPr lang="pt-PT" sz="2100" dirty="0">
                <a:solidFill>
                  <a:srgbClr val="00B0F0"/>
                </a:solidFill>
                <a:latin typeface="Arial"/>
                <a:cs typeface="Arial"/>
              </a:rPr>
              <a:t>Práticas Gerais de Programação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664" y="1851670"/>
            <a:ext cx="7000082" cy="3025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41514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79004"/>
            <a:ext cx="6858000" cy="628650"/>
          </a:xfrm>
          <a:solidFill>
            <a:schemeClr val="bg1"/>
          </a:solidFill>
        </p:spPr>
        <p:txBody>
          <a:bodyPr anchor="ctr">
            <a:normAutofit/>
          </a:bodyPr>
          <a:lstStyle/>
          <a:p>
            <a:pPr>
              <a:spcAft>
                <a:spcPts val="450"/>
              </a:spcAft>
            </a:pPr>
            <a:r>
              <a:rPr lang="pt-PT" sz="2100" dirty="0">
                <a:solidFill>
                  <a:srgbClr val="00B0F0"/>
                </a:solidFill>
                <a:latin typeface="Arial"/>
                <a:cs typeface="Arial"/>
              </a:rPr>
              <a:t>Práticas Gerais de Programação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888" y="2427734"/>
            <a:ext cx="8432224" cy="1500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06721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>
                <a:solidFill>
                  <a:srgbClr val="92D050"/>
                </a:solidFill>
              </a:rPr>
              <a:t>OWASP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200151"/>
            <a:ext cx="8363272" cy="3394472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The Open Web Application Security Project (OWASP) is </a:t>
            </a:r>
            <a:r>
              <a:rPr lang="en-US" dirty="0" smtClean="0"/>
              <a:t>a</a:t>
            </a:r>
            <a:r>
              <a:rPr lang="en-US" dirty="0"/>
              <a:t> worldwide not-for-profit charitable organization focused on improving the security of </a:t>
            </a:r>
            <a:r>
              <a:rPr lang="en-US" dirty="0" smtClean="0"/>
              <a:t>software</a:t>
            </a:r>
          </a:p>
          <a:p>
            <a:endParaRPr lang="pt-PT" dirty="0" smtClean="0"/>
          </a:p>
          <a:p>
            <a:pPr marL="0" indent="0" algn="ctr">
              <a:buNone/>
            </a:pPr>
            <a:r>
              <a:rPr lang="pt-PT" dirty="0" smtClean="0">
                <a:hlinkClick r:id="rId2"/>
              </a:rPr>
              <a:t>https</a:t>
            </a:r>
            <a:r>
              <a:rPr lang="pt-PT" dirty="0">
                <a:hlinkClick r:id="rId2"/>
              </a:rPr>
              <a:t>://</a:t>
            </a:r>
            <a:r>
              <a:rPr lang="pt-PT" dirty="0" smtClean="0">
                <a:hlinkClick r:id="rId2"/>
              </a:rPr>
              <a:t>www.owasp.org/index.php/Main_Page</a:t>
            </a:r>
            <a:endParaRPr lang="pt-PT" dirty="0" smtClean="0"/>
          </a:p>
          <a:p>
            <a:pPr marL="0" indent="0">
              <a:buNone/>
            </a:pP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69288273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>
                <a:solidFill>
                  <a:srgbClr val="92D050"/>
                </a:solidFill>
              </a:rPr>
              <a:t>OWASP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pt-PT" dirty="0"/>
              <a:t>O objetivo principal do OWASP </a:t>
            </a:r>
            <a:r>
              <a:rPr lang="pt-PT" dirty="0" smtClean="0"/>
              <a:t>é </a:t>
            </a:r>
            <a:r>
              <a:rPr lang="pt-PT" dirty="0"/>
              <a:t>educar desenvolvedores, designers, arquitetos </a:t>
            </a:r>
            <a:r>
              <a:rPr lang="pt-PT" dirty="0" smtClean="0"/>
              <a:t>e organizações </a:t>
            </a:r>
            <a:r>
              <a:rPr lang="pt-PT" dirty="0"/>
              <a:t>a respeito das </a:t>
            </a:r>
            <a:r>
              <a:rPr lang="pt-PT" dirty="0" smtClean="0"/>
              <a:t>consequências </a:t>
            </a:r>
            <a:r>
              <a:rPr lang="pt-PT" dirty="0"/>
              <a:t>das vulnerabilidades mais comuns encontradas </a:t>
            </a:r>
            <a:r>
              <a:rPr lang="pt-PT" dirty="0" smtClean="0"/>
              <a:t>em aplicações </a:t>
            </a:r>
            <a:r>
              <a:rPr lang="pt-PT" dirty="0"/>
              <a:t>WEB. O TOP 10 provê métodos básicos para se proteger dessas vulnerabilidades – um </a:t>
            </a:r>
            <a:r>
              <a:rPr lang="pt-PT" dirty="0" smtClean="0"/>
              <a:t>ótimo começo </a:t>
            </a:r>
            <a:r>
              <a:rPr lang="pt-PT" dirty="0"/>
              <a:t>para a codificação segura de um programa de segurança.</a:t>
            </a:r>
          </a:p>
          <a:p>
            <a:r>
              <a:rPr lang="pt-PT" dirty="0"/>
              <a:t>Segurança não é um evento único. Não é suficiente considerar a segurança de código uma única vez.</a:t>
            </a:r>
          </a:p>
          <a:p>
            <a:r>
              <a:rPr lang="pt-PT" dirty="0" smtClean="0"/>
              <a:t>Uma </a:t>
            </a:r>
            <a:r>
              <a:rPr lang="pt-PT" dirty="0"/>
              <a:t>iniciativa de codificação segura deve abordar todos os estágios do ciclo de vida de um programa.</a:t>
            </a:r>
          </a:p>
          <a:p>
            <a:r>
              <a:rPr lang="pt-PT" dirty="0"/>
              <a:t>As aplicações WEB seguras são possíveis apenas quando um SDLC seguro é utilizado. Os </a:t>
            </a:r>
            <a:r>
              <a:rPr lang="pt-PT" dirty="0" smtClean="0"/>
              <a:t>programas seguros </a:t>
            </a:r>
            <a:r>
              <a:rPr lang="pt-PT" dirty="0"/>
              <a:t>são seguros por </a:t>
            </a:r>
            <a:r>
              <a:rPr lang="pt-PT" dirty="0" smtClean="0"/>
              <a:t>conceção, </a:t>
            </a:r>
            <a:r>
              <a:rPr lang="pt-PT" dirty="0"/>
              <a:t>durante seu desenvolvimento e por padrão. Existem no mínimo </a:t>
            </a:r>
            <a:r>
              <a:rPr lang="pt-PT" dirty="0" smtClean="0"/>
              <a:t>300 problemas </a:t>
            </a:r>
            <a:r>
              <a:rPr lang="pt-PT" dirty="0"/>
              <a:t>que afetam a segurança das aplicações WEB como um todo.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5933014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>
                <a:solidFill>
                  <a:srgbClr val="92D050"/>
                </a:solidFill>
              </a:rPr>
              <a:t>OWASP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endParaRPr lang="pt-PT" dirty="0" smtClean="0"/>
          </a:p>
          <a:p>
            <a:r>
              <a:rPr lang="pt-PT" dirty="0" smtClean="0"/>
              <a:t>Entrada </a:t>
            </a:r>
            <a:r>
              <a:rPr lang="pt-PT" dirty="0"/>
              <a:t>de dados não validados é o maior desafio para qualquer </a:t>
            </a:r>
            <a:r>
              <a:rPr lang="pt-PT" dirty="0" smtClean="0"/>
              <a:t>equipa </a:t>
            </a:r>
            <a:r>
              <a:rPr lang="pt-PT" dirty="0"/>
              <a:t>de desenvolvimento e é a </a:t>
            </a:r>
            <a:r>
              <a:rPr lang="pt-PT" dirty="0" smtClean="0"/>
              <a:t>origem dos </a:t>
            </a:r>
            <a:r>
              <a:rPr lang="pt-PT" dirty="0"/>
              <a:t>problemas de segurança de muitas aplicações. De fato, muitos dos itens presentes na </a:t>
            </a:r>
            <a:r>
              <a:rPr lang="pt-PT" dirty="0" smtClean="0"/>
              <a:t>lista recomendam </a:t>
            </a:r>
            <a:r>
              <a:rPr lang="pt-PT" dirty="0"/>
              <a:t>a validação de entrada como parte da solução. Nós recomendamos criar um </a:t>
            </a:r>
            <a:r>
              <a:rPr lang="pt-PT" dirty="0" smtClean="0"/>
              <a:t>mecanismo de </a:t>
            </a:r>
            <a:r>
              <a:rPr lang="pt-PT" dirty="0"/>
              <a:t>validação centralizado como parte de sua aplicação. Para maiores informações, leia os </a:t>
            </a:r>
            <a:r>
              <a:rPr lang="pt-PT" dirty="0" smtClean="0"/>
              <a:t>seguintes documentos </a:t>
            </a:r>
            <a:r>
              <a:rPr lang="pt-PT" dirty="0"/>
              <a:t>de validação de dados da OWASP:</a:t>
            </a:r>
          </a:p>
          <a:p>
            <a:pPr lvl="1"/>
            <a:r>
              <a:rPr lang="pt-PT" dirty="0" smtClean="0"/>
              <a:t>http</a:t>
            </a:r>
            <a:r>
              <a:rPr lang="pt-PT" dirty="0"/>
              <a:t>://www.owasp.org/index.php/Data_Validation</a:t>
            </a:r>
          </a:p>
          <a:p>
            <a:pPr lvl="1"/>
            <a:r>
              <a:rPr lang="pt-PT" dirty="0" smtClean="0"/>
              <a:t>http</a:t>
            </a:r>
            <a:r>
              <a:rPr lang="pt-PT" dirty="0"/>
              <a:t>://www.owasp.org/index.php/Testing_for_Data_Validation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95841770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>
                <a:solidFill>
                  <a:srgbClr val="92D050"/>
                </a:solidFill>
              </a:rPr>
              <a:t>OWASP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endParaRPr lang="pt-PT" dirty="0" smtClean="0"/>
          </a:p>
          <a:p>
            <a:r>
              <a:rPr lang="pt-PT" dirty="0" smtClean="0"/>
              <a:t>Problemas </a:t>
            </a:r>
            <a:r>
              <a:rPr lang="pt-PT" dirty="0"/>
              <a:t>de estouro de pilhas, estouro de inteiros e formato de </a:t>
            </a:r>
            <a:r>
              <a:rPr lang="pt-PT" dirty="0" err="1"/>
              <a:t>strings</a:t>
            </a:r>
            <a:r>
              <a:rPr lang="pt-PT" dirty="0"/>
              <a:t> são </a:t>
            </a:r>
            <a:r>
              <a:rPr lang="pt-PT" dirty="0" smtClean="0"/>
              <a:t>vulnerabilidades extremamente </a:t>
            </a:r>
            <a:r>
              <a:rPr lang="pt-PT" dirty="0"/>
              <a:t>sérias para programas escritos em linguagem C ou C++. A </a:t>
            </a:r>
            <a:r>
              <a:rPr lang="pt-PT" dirty="0" smtClean="0"/>
              <a:t>resolução </a:t>
            </a:r>
            <a:r>
              <a:rPr lang="pt-PT" dirty="0"/>
              <a:t>para estes tipos </a:t>
            </a:r>
            <a:r>
              <a:rPr lang="pt-PT" dirty="0" smtClean="0"/>
              <a:t>de problemas </a:t>
            </a:r>
            <a:r>
              <a:rPr lang="pt-PT" dirty="0"/>
              <a:t>são tratados por comunidades de segurança de aplicações tradicionais, como o SANS, CERT </a:t>
            </a:r>
            <a:r>
              <a:rPr lang="pt-PT" dirty="0" smtClean="0"/>
              <a:t>e pelos </a:t>
            </a:r>
            <a:r>
              <a:rPr lang="pt-PT" dirty="0"/>
              <a:t>fornecedores de linguagem de programação. Se o seu código é escrito em uma linguagem que </a:t>
            </a:r>
            <a:r>
              <a:rPr lang="pt-PT" dirty="0" smtClean="0"/>
              <a:t>é passível </a:t>
            </a:r>
            <a:r>
              <a:rPr lang="pt-PT" dirty="0"/>
              <a:t>a estouros de pilha, nós </a:t>
            </a:r>
            <a:r>
              <a:rPr lang="pt-PT" dirty="0" smtClean="0"/>
              <a:t>encorajamos a </a:t>
            </a:r>
            <a:r>
              <a:rPr lang="pt-PT" dirty="0"/>
              <a:t>ler os conteúdos a este respeito no site da OWASP</a:t>
            </a:r>
            <a:r>
              <a:rPr lang="pt-PT" dirty="0" smtClean="0"/>
              <a:t>:</a:t>
            </a:r>
          </a:p>
          <a:p>
            <a:pPr lvl="1"/>
            <a:r>
              <a:rPr lang="pt-PT" dirty="0" smtClean="0"/>
              <a:t>http</a:t>
            </a:r>
            <a:r>
              <a:rPr lang="pt-PT" dirty="0"/>
              <a:t>://www.owasp.org/index.php/Buffer_overflow</a:t>
            </a:r>
          </a:p>
          <a:p>
            <a:pPr lvl="1"/>
            <a:r>
              <a:rPr lang="pt-PT" dirty="0" smtClean="0"/>
              <a:t>http</a:t>
            </a:r>
            <a:r>
              <a:rPr lang="pt-PT" dirty="0"/>
              <a:t>://www.owasp.org/index.php/Testing_for_Buffer_Overflow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20070221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>
                <a:solidFill>
                  <a:srgbClr val="92D050"/>
                </a:solidFill>
              </a:rPr>
              <a:t>OWASP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endParaRPr lang="pt-PT" dirty="0" smtClean="0"/>
          </a:p>
          <a:p>
            <a:r>
              <a:rPr lang="pt-PT" dirty="0" smtClean="0"/>
              <a:t>Gestão </a:t>
            </a:r>
            <a:r>
              <a:rPr lang="pt-PT" dirty="0"/>
              <a:t>de configuração insegura afeta todos os sistemas em alguma extensão, </a:t>
            </a:r>
            <a:r>
              <a:rPr lang="pt-PT" dirty="0" smtClean="0"/>
              <a:t>particularmente o </a:t>
            </a:r>
            <a:r>
              <a:rPr lang="pt-PT" dirty="0"/>
              <a:t>PHP. </a:t>
            </a:r>
            <a:endParaRPr lang="pt-PT" dirty="0" smtClean="0"/>
          </a:p>
          <a:p>
            <a:r>
              <a:rPr lang="pt-PT" dirty="0" smtClean="0"/>
              <a:t>Quando implementando a sua </a:t>
            </a:r>
            <a:r>
              <a:rPr lang="pt-PT" dirty="0"/>
              <a:t>aplicação, </a:t>
            </a:r>
            <a:r>
              <a:rPr lang="pt-PT" dirty="0" smtClean="0"/>
              <a:t>deve </a:t>
            </a:r>
            <a:r>
              <a:rPr lang="pt-PT" dirty="0"/>
              <a:t>consultar a última versão do OWASP Guide e o OWASP </a:t>
            </a:r>
            <a:r>
              <a:rPr lang="pt-PT" dirty="0" err="1"/>
              <a:t>testing</a:t>
            </a:r>
            <a:endParaRPr lang="pt-PT" dirty="0"/>
          </a:p>
          <a:p>
            <a:r>
              <a:rPr lang="pt-PT" dirty="0"/>
              <a:t>Guide para informações detalhadas a respeito do gerenciamento de configuração segura e testes:</a:t>
            </a:r>
          </a:p>
          <a:p>
            <a:pPr lvl="1"/>
            <a:r>
              <a:rPr lang="pt-PT" dirty="0" smtClean="0"/>
              <a:t>http</a:t>
            </a:r>
            <a:r>
              <a:rPr lang="pt-PT" dirty="0"/>
              <a:t>://www.owasp.org/index.php/Configuration</a:t>
            </a:r>
          </a:p>
          <a:p>
            <a:pPr lvl="1"/>
            <a:r>
              <a:rPr lang="pt-PT" dirty="0" smtClean="0"/>
              <a:t>http</a:t>
            </a:r>
            <a:r>
              <a:rPr lang="pt-PT" dirty="0"/>
              <a:t>://www.owasp.org/index.php/Testing_for_infrastructure_configuration_management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405625931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>
                <a:solidFill>
                  <a:srgbClr val="92D050"/>
                </a:solidFill>
              </a:rPr>
              <a:t>OWASP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pt-PT" dirty="0"/>
              <a:t>Cross Site </a:t>
            </a:r>
            <a:r>
              <a:rPr lang="pt-PT" dirty="0" err="1"/>
              <a:t>Request</a:t>
            </a:r>
            <a:r>
              <a:rPr lang="pt-PT" dirty="0"/>
              <a:t> </a:t>
            </a:r>
            <a:r>
              <a:rPr lang="pt-PT" dirty="0" err="1"/>
              <a:t>Forgery</a:t>
            </a:r>
            <a:r>
              <a:rPr lang="pt-PT" dirty="0"/>
              <a:t> (CSRF) é a maior nova inclusão nesta edição do OWASP Top 10. </a:t>
            </a:r>
            <a:endParaRPr lang="pt-PT" dirty="0" smtClean="0"/>
          </a:p>
          <a:p>
            <a:r>
              <a:rPr lang="pt-PT" dirty="0" smtClean="0"/>
              <a:t>As </a:t>
            </a:r>
            <a:r>
              <a:rPr lang="pt-PT" dirty="0"/>
              <a:t>aplicações devem iniciar seus esforços de proteção hoje, particularmente para aplicações de alto </a:t>
            </a:r>
            <a:r>
              <a:rPr lang="pt-PT" dirty="0" smtClean="0"/>
              <a:t>risco e </a:t>
            </a:r>
            <a:r>
              <a:rPr lang="pt-PT" dirty="0"/>
              <a:t>criticidade. O CSRF é mais prevalente do que sua atual classificação e pode ser mais perigoso.</a:t>
            </a:r>
          </a:p>
          <a:p>
            <a:r>
              <a:rPr lang="pt-PT" dirty="0"/>
              <a:t>Criptografia. O uso incorreto da criptografia </a:t>
            </a:r>
            <a:r>
              <a:rPr lang="pt-PT" dirty="0" smtClean="0"/>
              <a:t>representam </a:t>
            </a:r>
            <a:r>
              <a:rPr lang="pt-PT" dirty="0"/>
              <a:t>a origem de muitos problemas de quebra de privacidade </a:t>
            </a:r>
            <a:r>
              <a:rPr lang="pt-PT" dirty="0" smtClean="0"/>
              <a:t>e conformidade </a:t>
            </a:r>
            <a:r>
              <a:rPr lang="pt-PT" dirty="0"/>
              <a:t>(particularmente a conformidade com o PCI DSS 1.1).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95030990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>
                <a:solidFill>
                  <a:srgbClr val="92D050"/>
                </a:solidFill>
              </a:rPr>
              <a:t>OWASP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pt-PT" dirty="0"/>
              <a:t>Se organizações usam este documento para tornar suas aplicações </a:t>
            </a:r>
            <a:r>
              <a:rPr lang="pt-PT" dirty="0" smtClean="0"/>
              <a:t>seguras e</a:t>
            </a:r>
            <a:r>
              <a:rPr lang="pt-PT" dirty="0"/>
              <a:t>, consequentemente, reduzir o risco para seus negócios, será possível observar uma redução direta </a:t>
            </a:r>
            <a:r>
              <a:rPr lang="pt-PT" dirty="0" smtClean="0"/>
              <a:t>nos seguintes </a:t>
            </a:r>
            <a:r>
              <a:rPr lang="pt-PT" dirty="0"/>
              <a:t>pontos:</a:t>
            </a:r>
          </a:p>
          <a:p>
            <a:r>
              <a:rPr lang="pt-PT" dirty="0"/>
              <a:t>Ataques de </a:t>
            </a:r>
            <a:r>
              <a:rPr lang="pt-PT" dirty="0" err="1"/>
              <a:t>phishing</a:t>
            </a:r>
            <a:r>
              <a:rPr lang="pt-PT" dirty="0"/>
              <a:t>, que podem explorar qualquer uma dessas vulnerabilidades, particularmente, </a:t>
            </a:r>
            <a:r>
              <a:rPr lang="pt-PT" dirty="0" smtClean="0"/>
              <a:t>XSS e </a:t>
            </a:r>
            <a:r>
              <a:rPr lang="pt-PT" dirty="0"/>
              <a:t>problemas de autenticação e autorização (A1,A4,A7,A10)</a:t>
            </a:r>
          </a:p>
          <a:p>
            <a:r>
              <a:rPr lang="pt-PT" dirty="0"/>
              <a:t>Violação de privacidade devido à validação fraca, regras de negócio e verificações de autorização fracas</a:t>
            </a:r>
          </a:p>
          <a:p>
            <a:r>
              <a:rPr lang="pt-PT" dirty="0"/>
              <a:t>(A2, A4, A6, A7, A10)</a:t>
            </a:r>
          </a:p>
          <a:p>
            <a:r>
              <a:rPr lang="pt-PT" dirty="0" smtClean="0"/>
              <a:t>Roubo de identidade por meio de controles de criptografia fracos ou não existentes (A8 e A9), inclusão de arquivo remoto (A3) e autenticação, regras de negócio e verificação de autorização (A4, A7, A10)</a:t>
            </a:r>
          </a:p>
          <a:p>
            <a:r>
              <a:rPr lang="pt-PT" dirty="0" smtClean="0"/>
              <a:t>Comprometimento de sistema, alteração de informações e destruição de dados por ataques de injeção (A2) e inclusão de arquivo remoto (A3)</a:t>
            </a:r>
          </a:p>
          <a:p>
            <a:r>
              <a:rPr lang="pt-PT" dirty="0" smtClean="0"/>
              <a:t>Perda </a:t>
            </a:r>
            <a:r>
              <a:rPr lang="pt-PT" dirty="0"/>
              <a:t>financeira por meio de transações não autorizadas e ataques CSRF (A4, A5, A7, A10)</a:t>
            </a:r>
          </a:p>
          <a:p>
            <a:r>
              <a:rPr lang="pt-PT" dirty="0"/>
              <a:t>Perda de reputação devido à exploração de qualquer uma das vulnerabilidades acima (A1 à A10)</a:t>
            </a:r>
          </a:p>
          <a:p>
            <a:r>
              <a:rPr lang="pt-PT" dirty="0"/>
              <a:t>Uma vez que a organização se distancie da preocupação de controles reativos e vai de encontro à pro </a:t>
            </a:r>
            <a:r>
              <a:rPr lang="pt-PT" dirty="0" smtClean="0"/>
              <a:t>- atividade </a:t>
            </a:r>
            <a:r>
              <a:rPr lang="pt-PT" dirty="0"/>
              <a:t>na redução de riscos de seu negócio, ela melhorará a conformidade com regimes </a:t>
            </a:r>
            <a:r>
              <a:rPr lang="pt-PT" dirty="0" smtClean="0"/>
              <a:t>regulatórios, reduzirá </a:t>
            </a:r>
            <a:r>
              <a:rPr lang="pt-PT" dirty="0"/>
              <a:t>custos operacionais, e certamente terá um sistema mais robusto e seguro como resultado.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19721864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>
                <a:solidFill>
                  <a:srgbClr val="92D050"/>
                </a:solidFill>
              </a:rPr>
              <a:t>Cross Site </a:t>
            </a:r>
            <a:r>
              <a:rPr lang="pt-PT" dirty="0" err="1">
                <a:solidFill>
                  <a:srgbClr val="92D050"/>
                </a:solidFill>
              </a:rPr>
              <a:t>Scripting</a:t>
            </a:r>
            <a:endParaRPr lang="pt-PT" dirty="0">
              <a:solidFill>
                <a:srgbClr val="92D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pt-PT" dirty="0"/>
              <a:t>O Cross Site </a:t>
            </a:r>
            <a:r>
              <a:rPr lang="pt-PT" dirty="0" err="1"/>
              <a:t>Scripting</a:t>
            </a:r>
            <a:r>
              <a:rPr lang="pt-PT" dirty="0"/>
              <a:t>, mais conhecido como XSS, é de fato um subconjunto de inserções HTML. XSS é </a:t>
            </a:r>
            <a:r>
              <a:rPr lang="pt-PT" dirty="0" smtClean="0"/>
              <a:t>a questão </a:t>
            </a:r>
            <a:r>
              <a:rPr lang="pt-PT" dirty="0"/>
              <a:t>de segurança em aplicações web mais prevalente e perniciosa. Os furos XSS ocorrem </a:t>
            </a:r>
            <a:r>
              <a:rPr lang="pt-PT" dirty="0" smtClean="0"/>
              <a:t>em aplicações </a:t>
            </a:r>
            <a:r>
              <a:rPr lang="pt-PT" dirty="0"/>
              <a:t>quaisquer que receba dados originados do </a:t>
            </a:r>
            <a:r>
              <a:rPr lang="pt-PT" dirty="0" smtClean="0"/>
              <a:t>utilizador </a:t>
            </a:r>
            <a:r>
              <a:rPr lang="pt-PT" dirty="0"/>
              <a:t>e o envie ao navegador </a:t>
            </a:r>
            <a:r>
              <a:rPr lang="pt-PT" dirty="0" smtClean="0"/>
              <a:t>sem primeiramente </a:t>
            </a:r>
            <a:r>
              <a:rPr lang="pt-PT" dirty="0"/>
              <a:t>validar ou codificando aquele conteúdo.</a:t>
            </a:r>
          </a:p>
          <a:p>
            <a:r>
              <a:rPr lang="pt-PT" dirty="0"/>
              <a:t>O XSS permite atacantes executarem script no navegador da vítima, que pode </a:t>
            </a:r>
            <a:r>
              <a:rPr lang="pt-PT" dirty="0" err="1"/>
              <a:t>seqüestrar</a:t>
            </a:r>
            <a:r>
              <a:rPr lang="pt-PT" dirty="0"/>
              <a:t> sessões </a:t>
            </a:r>
            <a:r>
              <a:rPr lang="pt-PT" dirty="0" smtClean="0"/>
              <a:t>de utilizadores, </a:t>
            </a:r>
            <a:r>
              <a:rPr lang="pt-PT" dirty="0"/>
              <a:t>desfigurar web sites, inserir conteúdo hostil, conduzir ataques de roubo de </a:t>
            </a:r>
            <a:r>
              <a:rPr lang="pt-PT" dirty="0" smtClean="0"/>
              <a:t>informações pessoais </a:t>
            </a:r>
            <a:r>
              <a:rPr lang="pt-PT" dirty="0"/>
              <a:t>(</a:t>
            </a:r>
            <a:r>
              <a:rPr lang="pt-PT" dirty="0" err="1"/>
              <a:t>phishing</a:t>
            </a:r>
            <a:r>
              <a:rPr lang="pt-PT" dirty="0"/>
              <a:t>) e obter o controle do navegador do </a:t>
            </a:r>
            <a:r>
              <a:rPr lang="pt-PT" dirty="0" smtClean="0"/>
              <a:t>utilizador </a:t>
            </a:r>
            <a:r>
              <a:rPr lang="pt-PT" dirty="0"/>
              <a:t>usando um script mal </a:t>
            </a:r>
            <a:r>
              <a:rPr lang="pt-PT" dirty="0" smtClean="0"/>
              <a:t>intencionado (</a:t>
            </a:r>
            <a:r>
              <a:rPr lang="pt-PT" dirty="0" err="1" smtClean="0"/>
              <a:t>malware</a:t>
            </a:r>
            <a:r>
              <a:rPr lang="pt-PT" dirty="0"/>
              <a:t>). O script malicioso é </a:t>
            </a:r>
            <a:r>
              <a:rPr lang="pt-PT" dirty="0" err="1"/>
              <a:t>freqüentemente</a:t>
            </a:r>
            <a:r>
              <a:rPr lang="pt-PT" dirty="0"/>
              <a:t> em Java Script, mas qualquer linguagem de </a:t>
            </a:r>
            <a:r>
              <a:rPr lang="pt-PT" dirty="0" smtClean="0"/>
              <a:t>script suportada </a:t>
            </a:r>
            <a:r>
              <a:rPr lang="pt-PT" dirty="0"/>
              <a:t>pelo navegador da vítima é um alvo potencial para este ataque.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31698616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>
                <a:solidFill>
                  <a:srgbClr val="92D050"/>
                </a:solidFill>
              </a:rPr>
              <a:t>FALHAS DE INJEÇÃO</a:t>
            </a:r>
            <a:endParaRPr lang="pt-PT" dirty="0">
              <a:solidFill>
                <a:srgbClr val="92D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pt-PT" dirty="0"/>
              <a:t>As falhas de Injeção, particularmente injeção SQL, são comuns em aplicações web. Existem muitos </a:t>
            </a:r>
            <a:r>
              <a:rPr lang="pt-PT" dirty="0" smtClean="0"/>
              <a:t>tipos de </a:t>
            </a:r>
            <a:r>
              <a:rPr lang="pt-PT" dirty="0"/>
              <a:t>injeção: SQL, LDAP, </a:t>
            </a:r>
            <a:r>
              <a:rPr lang="pt-PT" dirty="0" err="1"/>
              <a:t>XPath</a:t>
            </a:r>
            <a:r>
              <a:rPr lang="pt-PT" dirty="0"/>
              <a:t>, XSLT, HTML, XML, comando de sistema operacional e muitas outras.</a:t>
            </a:r>
          </a:p>
          <a:p>
            <a:r>
              <a:rPr lang="pt-PT" dirty="0"/>
              <a:t>Falhas de Injeção acontecem quando os dados que o </a:t>
            </a:r>
            <a:r>
              <a:rPr lang="pt-PT" dirty="0" smtClean="0"/>
              <a:t>utilizador dá </a:t>
            </a:r>
            <a:r>
              <a:rPr lang="pt-PT" dirty="0"/>
              <a:t>de entrada são enviados como parte </a:t>
            </a:r>
            <a:r>
              <a:rPr lang="pt-PT" dirty="0" smtClean="0"/>
              <a:t>de um </a:t>
            </a:r>
            <a:r>
              <a:rPr lang="pt-PT" dirty="0"/>
              <a:t>comando ou consulta. Os atacantes confundem o interpretador para o mesmo executar </a:t>
            </a:r>
            <a:r>
              <a:rPr lang="pt-PT" dirty="0" smtClean="0"/>
              <a:t>comandos manipulados </a:t>
            </a:r>
            <a:r>
              <a:rPr lang="pt-PT" dirty="0"/>
              <a:t>enviando dados modificados. As falhas de Injeção habilitam o atacante a criar, ler, </a:t>
            </a:r>
            <a:r>
              <a:rPr lang="pt-PT" dirty="0" smtClean="0"/>
              <a:t>atualizar ou </a:t>
            </a:r>
            <a:r>
              <a:rPr lang="pt-PT" dirty="0"/>
              <a:t>apagar arbitrariamente qualquer dado disponível para a aplicação. No pior cenário, estes </a:t>
            </a:r>
            <a:r>
              <a:rPr lang="pt-PT" dirty="0" smtClean="0"/>
              <a:t>furos permitem </a:t>
            </a:r>
            <a:r>
              <a:rPr lang="pt-PT" dirty="0"/>
              <a:t>ao atacante comprometer completamente a aplicação e os sistemas relacionados, até </a:t>
            </a:r>
            <a:r>
              <a:rPr lang="pt-PT" dirty="0" smtClean="0"/>
              <a:t>pelo contorno </a:t>
            </a:r>
            <a:r>
              <a:rPr lang="pt-PT" dirty="0"/>
              <a:t>de ambientes controlados por firewall.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83541391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PT" dirty="0">
                <a:solidFill>
                  <a:srgbClr val="92D050"/>
                </a:solidFill>
              </a:rPr>
              <a:t>EXECUÇÃO MALICIOSA DE ARQUIVO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pt-PT" dirty="0"/>
              <a:t>As vulnerabilidades de execução de arquivos são encontradas em muitas aplicações. </a:t>
            </a:r>
            <a:r>
              <a:rPr lang="pt-PT" dirty="0" smtClean="0"/>
              <a:t>Os desenvolvedores </a:t>
            </a:r>
            <a:r>
              <a:rPr lang="pt-PT" dirty="0"/>
              <a:t>têm por hábito usar diretamente ou concatenar entradas potencialmente hostis </a:t>
            </a:r>
            <a:r>
              <a:rPr lang="pt-PT" dirty="0" smtClean="0"/>
              <a:t>com funções </a:t>
            </a:r>
            <a:r>
              <a:rPr lang="pt-PT" dirty="0"/>
              <a:t>de arquivo ou </a:t>
            </a:r>
            <a:r>
              <a:rPr lang="pt-PT" dirty="0" err="1"/>
              <a:t>stream</a:t>
            </a:r>
            <a:r>
              <a:rPr lang="pt-PT" dirty="0"/>
              <a:t>, ou confiar de maneira imprópria em arquivos de entrada. Em </a:t>
            </a:r>
            <a:r>
              <a:rPr lang="pt-PT" dirty="0" smtClean="0"/>
              <a:t>muitas plataformas</a:t>
            </a:r>
            <a:r>
              <a:rPr lang="pt-PT" dirty="0"/>
              <a:t>, </a:t>
            </a:r>
            <a:r>
              <a:rPr lang="pt-PT" dirty="0" err="1"/>
              <a:t>frameworks</a:t>
            </a:r>
            <a:r>
              <a:rPr lang="pt-PT" dirty="0"/>
              <a:t> permitem o uso de referências a objetos externos, como referências a </a:t>
            </a:r>
            <a:r>
              <a:rPr lang="pt-PT" dirty="0" err="1"/>
              <a:t>URLs</a:t>
            </a:r>
            <a:r>
              <a:rPr lang="pt-PT" dirty="0"/>
              <a:t> </a:t>
            </a:r>
            <a:r>
              <a:rPr lang="pt-PT" dirty="0" smtClean="0"/>
              <a:t>ou a </a:t>
            </a:r>
            <a:r>
              <a:rPr lang="pt-PT" dirty="0"/>
              <a:t>arquivos de sistema. Quando o dado é insuficiente verificado, isto pode levar a uma inclusão </a:t>
            </a:r>
            <a:r>
              <a:rPr lang="pt-PT" dirty="0" smtClean="0"/>
              <a:t>arbitrária remota </a:t>
            </a:r>
            <a:r>
              <a:rPr lang="pt-PT" dirty="0"/>
              <a:t>que será processado ou invocado um conteúdo hostil pelo servidor web.</a:t>
            </a:r>
          </a:p>
          <a:p>
            <a:r>
              <a:rPr lang="pt-PT" dirty="0"/>
              <a:t>Isto permite ao atacante realizar:</a:t>
            </a:r>
          </a:p>
          <a:p>
            <a:pPr lvl="1"/>
            <a:r>
              <a:rPr lang="pt-PT" dirty="0" smtClean="0"/>
              <a:t>Execução </a:t>
            </a:r>
            <a:r>
              <a:rPr lang="pt-PT" dirty="0"/>
              <a:t>de código remoto.</a:t>
            </a:r>
          </a:p>
          <a:p>
            <a:pPr lvl="1"/>
            <a:r>
              <a:rPr lang="pt-PT" dirty="0" smtClean="0"/>
              <a:t>Instalação </a:t>
            </a:r>
            <a:r>
              <a:rPr lang="pt-PT" dirty="0"/>
              <a:t>remota de </a:t>
            </a:r>
            <a:r>
              <a:rPr lang="pt-PT" dirty="0" err="1"/>
              <a:t>rootkit</a:t>
            </a:r>
            <a:r>
              <a:rPr lang="pt-PT" dirty="0"/>
              <a:t> e comprometimento total do sistema.</a:t>
            </a:r>
          </a:p>
          <a:p>
            <a:pPr lvl="1"/>
            <a:r>
              <a:rPr lang="pt-PT" dirty="0" smtClean="0"/>
              <a:t>Em </a:t>
            </a:r>
            <a:r>
              <a:rPr lang="pt-PT" dirty="0"/>
              <a:t>Windows, comprometimento interno do sistema pode ser possível a partir do uso de </a:t>
            </a:r>
            <a:r>
              <a:rPr lang="pt-PT" dirty="0" err="1"/>
              <a:t>PHP’s</a:t>
            </a:r>
            <a:r>
              <a:rPr lang="pt-PT" dirty="0"/>
              <a:t> SMB </a:t>
            </a:r>
            <a:r>
              <a:rPr lang="pt-PT" dirty="0" smtClean="0"/>
              <a:t>file </a:t>
            </a:r>
            <a:r>
              <a:rPr lang="pt-PT" dirty="0" err="1" smtClean="0"/>
              <a:t>wrappers</a:t>
            </a:r>
            <a:r>
              <a:rPr lang="pt-PT" dirty="0"/>
              <a:t>.</a:t>
            </a:r>
          </a:p>
          <a:p>
            <a:r>
              <a:rPr lang="pt-PT" dirty="0"/>
              <a:t>Este ataque é particularmente prevalecente em PHP e cuidado extremo deve ser aplicado com </a:t>
            </a:r>
            <a:r>
              <a:rPr lang="pt-PT" dirty="0" smtClean="0"/>
              <a:t>qualquer sistema </a:t>
            </a:r>
            <a:r>
              <a:rPr lang="pt-PT" dirty="0"/>
              <a:t>ou função de arquivo para garantir que a entrada fornecida pelo </a:t>
            </a:r>
            <a:r>
              <a:rPr lang="pt-PT" dirty="0" smtClean="0"/>
              <a:t>utilizador </a:t>
            </a:r>
            <a:r>
              <a:rPr lang="pt-PT" dirty="0"/>
              <a:t>não influencie </a:t>
            </a:r>
            <a:r>
              <a:rPr lang="pt-PT" dirty="0" smtClean="0"/>
              <a:t>os nomes </a:t>
            </a:r>
            <a:r>
              <a:rPr lang="pt-PT" dirty="0"/>
              <a:t>de arquivos.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91276795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PT" sz="3600" dirty="0">
                <a:solidFill>
                  <a:srgbClr val="92D050"/>
                </a:solidFill>
              </a:rPr>
              <a:t>REFERÊNCIA INSEGURA DIRETA A OBJETO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endParaRPr lang="pt-PT" dirty="0" smtClean="0"/>
          </a:p>
          <a:p>
            <a:r>
              <a:rPr lang="pt-PT" dirty="0" smtClean="0"/>
              <a:t>Uma </a:t>
            </a:r>
            <a:r>
              <a:rPr lang="pt-PT" dirty="0"/>
              <a:t>referência direta a um objeto acontece quando um desenvolvedor expõe uma referência a </a:t>
            </a:r>
            <a:r>
              <a:rPr lang="pt-PT" dirty="0" smtClean="0"/>
              <a:t>um objeto </a:t>
            </a:r>
            <a:r>
              <a:rPr lang="pt-PT" dirty="0"/>
              <a:t>de implementação interna, como por exemplo, um arquivo, diretório, registro na base de </a:t>
            </a:r>
            <a:r>
              <a:rPr lang="pt-PT" dirty="0" smtClean="0"/>
              <a:t>dados ou </a:t>
            </a:r>
            <a:r>
              <a:rPr lang="pt-PT" dirty="0"/>
              <a:t>chave, uma URL ou um parâmetro de um formulário. Um atacante pode manipular </a:t>
            </a:r>
            <a:r>
              <a:rPr lang="pt-PT" dirty="0" smtClean="0"/>
              <a:t>diretamente referências </a:t>
            </a:r>
            <a:r>
              <a:rPr lang="pt-PT" dirty="0"/>
              <a:t>a objetos para </a:t>
            </a:r>
            <a:r>
              <a:rPr lang="pt-PT" dirty="0" err="1"/>
              <a:t>acessar</a:t>
            </a:r>
            <a:r>
              <a:rPr lang="pt-PT" dirty="0"/>
              <a:t> outros objetos sem autorização, a não ser que exista um </a:t>
            </a:r>
            <a:r>
              <a:rPr lang="pt-PT" dirty="0" smtClean="0"/>
              <a:t>mecanismo de </a:t>
            </a:r>
            <a:r>
              <a:rPr lang="pt-PT" dirty="0"/>
              <a:t>controle de acesso.</a:t>
            </a:r>
          </a:p>
          <a:p>
            <a:r>
              <a:rPr lang="pt-PT" dirty="0"/>
              <a:t>Por exemplo, em aplicações de Internet </a:t>
            </a:r>
            <a:r>
              <a:rPr lang="pt-PT" dirty="0" err="1"/>
              <a:t>Banking</a:t>
            </a:r>
            <a:r>
              <a:rPr lang="pt-PT" dirty="0"/>
              <a:t> é comum o uso do número da conta como a </a:t>
            </a:r>
            <a:r>
              <a:rPr lang="pt-PT" dirty="0" smtClean="0"/>
              <a:t>chave primária</a:t>
            </a:r>
            <a:r>
              <a:rPr lang="pt-PT" dirty="0"/>
              <a:t>. </a:t>
            </a:r>
            <a:r>
              <a:rPr lang="pt-PT" dirty="0" smtClean="0"/>
              <a:t>Consequentemente, </a:t>
            </a:r>
            <a:r>
              <a:rPr lang="pt-PT" dirty="0"/>
              <a:t>pode ser tentador usar o número da conta diretamente na interface web.</a:t>
            </a:r>
          </a:p>
          <a:p>
            <a:r>
              <a:rPr lang="pt-PT" dirty="0"/>
              <a:t>Mesmo que os desenvolvedores tenham usado </a:t>
            </a:r>
            <a:r>
              <a:rPr lang="pt-PT" dirty="0" err="1"/>
              <a:t>queries</a:t>
            </a:r>
            <a:r>
              <a:rPr lang="pt-PT" dirty="0"/>
              <a:t> SQL parametrizadas para prevenir inserções </a:t>
            </a:r>
            <a:r>
              <a:rPr lang="pt-PT" dirty="0" smtClean="0"/>
              <a:t>de comandos </a:t>
            </a:r>
            <a:r>
              <a:rPr lang="pt-PT" dirty="0"/>
              <a:t>SQL (SQL </a:t>
            </a:r>
            <a:r>
              <a:rPr lang="pt-PT" dirty="0" err="1"/>
              <a:t>injection</a:t>
            </a:r>
            <a:r>
              <a:rPr lang="pt-PT" dirty="0"/>
              <a:t>), e caso não exista uma verificação adicional para garantir que o </a:t>
            </a:r>
            <a:r>
              <a:rPr lang="pt-PT" dirty="0" smtClean="0"/>
              <a:t>utilizador é o </a:t>
            </a:r>
            <a:r>
              <a:rPr lang="pt-PT" dirty="0"/>
              <a:t>proprietário da conta e que está autorizado a ver a conta, um atacante pode manipular a partir </a:t>
            </a:r>
            <a:r>
              <a:rPr lang="pt-PT" dirty="0" smtClean="0"/>
              <a:t>do parâmetro </a:t>
            </a:r>
            <a:r>
              <a:rPr lang="pt-PT" dirty="0"/>
              <a:t>do número da conta e possivelmente pode ver e modificar todas as contas.</a:t>
            </a:r>
          </a:p>
          <a:p>
            <a:r>
              <a:rPr lang="pt-PT" dirty="0"/>
              <a:t>Este tipo de ataque aconteceu no site da </a:t>
            </a:r>
            <a:r>
              <a:rPr lang="pt-PT" dirty="0" err="1"/>
              <a:t>Australian</a:t>
            </a:r>
            <a:r>
              <a:rPr lang="pt-PT" dirty="0"/>
              <a:t> </a:t>
            </a:r>
            <a:r>
              <a:rPr lang="pt-PT" dirty="0" err="1"/>
              <a:t>Taxation</a:t>
            </a:r>
            <a:r>
              <a:rPr lang="pt-PT" dirty="0"/>
              <a:t> </a:t>
            </a:r>
            <a:r>
              <a:rPr lang="pt-PT" dirty="0" err="1"/>
              <a:t>Office’s</a:t>
            </a:r>
            <a:r>
              <a:rPr lang="pt-PT" dirty="0"/>
              <a:t> GST </a:t>
            </a:r>
            <a:r>
              <a:rPr lang="pt-PT" dirty="0" err="1"/>
              <a:t>Start</a:t>
            </a:r>
            <a:r>
              <a:rPr lang="pt-PT" dirty="0"/>
              <a:t> </a:t>
            </a:r>
            <a:r>
              <a:rPr lang="pt-PT" dirty="0" err="1"/>
              <a:t>Up</a:t>
            </a:r>
            <a:r>
              <a:rPr lang="pt-PT" dirty="0"/>
              <a:t> </a:t>
            </a:r>
            <a:r>
              <a:rPr lang="pt-PT" dirty="0" err="1"/>
              <a:t>Assistance</a:t>
            </a:r>
            <a:r>
              <a:rPr lang="pt-PT" dirty="0"/>
              <a:t> em </a:t>
            </a:r>
            <a:r>
              <a:rPr lang="pt-PT" dirty="0" smtClean="0"/>
              <a:t>2000, onde </a:t>
            </a:r>
            <a:r>
              <a:rPr lang="pt-PT" dirty="0"/>
              <a:t>um </a:t>
            </a:r>
            <a:r>
              <a:rPr lang="pt-PT" dirty="0" smtClean="0"/>
              <a:t>utilizador </a:t>
            </a:r>
            <a:r>
              <a:rPr lang="pt-PT" dirty="0"/>
              <a:t>legítimo, mas hostil, simplesmente modificou o ABN (identificador da </a:t>
            </a:r>
            <a:r>
              <a:rPr lang="pt-PT" dirty="0" smtClean="0"/>
              <a:t>empresa) presente </a:t>
            </a:r>
            <a:r>
              <a:rPr lang="pt-PT" dirty="0"/>
              <a:t>na URL. O </a:t>
            </a:r>
            <a:r>
              <a:rPr lang="pt-PT" dirty="0" smtClean="0"/>
              <a:t>utilizador </a:t>
            </a:r>
            <a:r>
              <a:rPr lang="pt-PT" dirty="0"/>
              <a:t>se apossou de cerca de 17.000 registros de empresas cadastrados </a:t>
            </a:r>
            <a:r>
              <a:rPr lang="pt-PT" dirty="0" smtClean="0"/>
              <a:t>no sistema</a:t>
            </a:r>
            <a:r>
              <a:rPr lang="pt-PT" dirty="0"/>
              <a:t>, e então enviou para cada uma das 17.000 empresas detalhes do ataque. Este tipo </a:t>
            </a:r>
            <a:r>
              <a:rPr lang="pt-PT" dirty="0" smtClean="0"/>
              <a:t>de vulnerabilidade </a:t>
            </a:r>
            <a:r>
              <a:rPr lang="pt-PT" dirty="0"/>
              <a:t>é muito comum, porém não testada largamente em muitas aplicações.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08211760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rgbClr val="92D050"/>
                </a:solidFill>
              </a:rPr>
              <a:t>CROSS SITE REQUEST FORGERY (CSRF)</a:t>
            </a:r>
            <a:endParaRPr lang="pt-PT" sz="3600" dirty="0">
              <a:solidFill>
                <a:srgbClr val="92D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pt-PT" dirty="0"/>
              <a:t>Cross site </a:t>
            </a:r>
            <a:r>
              <a:rPr lang="pt-PT" dirty="0" err="1"/>
              <a:t>request</a:t>
            </a:r>
            <a:r>
              <a:rPr lang="pt-PT" dirty="0"/>
              <a:t> </a:t>
            </a:r>
            <a:r>
              <a:rPr lang="pt-PT" dirty="0" err="1"/>
              <a:t>forgery</a:t>
            </a:r>
            <a:r>
              <a:rPr lang="pt-PT" dirty="0"/>
              <a:t> não é um novo ataque, mas é simples e devastador. Um ataque CSRF força </a:t>
            </a:r>
            <a:r>
              <a:rPr lang="pt-PT" dirty="0" smtClean="0"/>
              <a:t>o navegador </a:t>
            </a:r>
            <a:r>
              <a:rPr lang="pt-PT" dirty="0" err="1"/>
              <a:t>logado</a:t>
            </a:r>
            <a:r>
              <a:rPr lang="pt-PT" dirty="0"/>
              <a:t> da vítima a enviar uma requisição para uma aplicação web vulnerável, que realiza </a:t>
            </a:r>
            <a:r>
              <a:rPr lang="pt-PT" dirty="0" smtClean="0"/>
              <a:t>a ação </a:t>
            </a:r>
            <a:r>
              <a:rPr lang="pt-PT" dirty="0"/>
              <a:t>desejada em nome da vítima.</a:t>
            </a:r>
          </a:p>
          <a:p>
            <a:r>
              <a:rPr lang="pt-PT" dirty="0"/>
              <a:t>Esta vulnerabilidade é extremamente disseminada, uma vez que qualquer aplicação web:</a:t>
            </a:r>
          </a:p>
          <a:p>
            <a:pPr lvl="1"/>
            <a:r>
              <a:rPr lang="pt-PT" dirty="0" smtClean="0"/>
              <a:t>Não </a:t>
            </a:r>
            <a:r>
              <a:rPr lang="pt-PT" dirty="0"/>
              <a:t>tenha verificação de autorização para ações vulneráveis</a:t>
            </a:r>
          </a:p>
          <a:p>
            <a:pPr lvl="1"/>
            <a:r>
              <a:rPr lang="pt-PT" dirty="0" smtClean="0"/>
              <a:t>Execute </a:t>
            </a:r>
            <a:r>
              <a:rPr lang="pt-PT" dirty="0"/>
              <a:t>uma ação caso um login padrão seja enviado na requisição (</a:t>
            </a:r>
            <a:r>
              <a:rPr lang="pt-PT" dirty="0" smtClean="0"/>
              <a:t>ex. http</a:t>
            </a:r>
            <a:r>
              <a:rPr lang="pt-PT" dirty="0"/>
              <a:t>://www.example.com/admin/doSomething.ctl?username=admin&amp;passwd=admin)</a:t>
            </a:r>
          </a:p>
          <a:p>
            <a:pPr lvl="1"/>
            <a:r>
              <a:rPr lang="pt-PT" dirty="0" smtClean="0"/>
              <a:t>Autorize </a:t>
            </a:r>
            <a:r>
              <a:rPr lang="pt-PT" dirty="0"/>
              <a:t>requisições baseadas somente em credenciais que são automaticamente submetidas como, </a:t>
            </a:r>
            <a:r>
              <a:rPr lang="pt-PT" dirty="0" smtClean="0"/>
              <a:t>por exemplo</a:t>
            </a:r>
            <a:r>
              <a:rPr lang="pt-PT" dirty="0"/>
              <a:t>, cookie de sessão, caso </a:t>
            </a:r>
            <a:r>
              <a:rPr lang="pt-PT" dirty="0" err="1"/>
              <a:t>logada</a:t>
            </a:r>
            <a:r>
              <a:rPr lang="pt-PT" dirty="0"/>
              <a:t> corretamente na aplicação, ou a funcionalidade “Relembrar-me</a:t>
            </a:r>
            <a:r>
              <a:rPr lang="pt-PT" dirty="0" smtClean="0"/>
              <a:t>”, se </a:t>
            </a:r>
            <a:r>
              <a:rPr lang="pt-PT" dirty="0"/>
              <a:t>não </a:t>
            </a:r>
            <a:r>
              <a:rPr lang="pt-PT" dirty="0" err="1"/>
              <a:t>logado</a:t>
            </a:r>
            <a:r>
              <a:rPr lang="pt-PT" dirty="0"/>
              <a:t> na aplicação, ou um </a:t>
            </a:r>
            <a:r>
              <a:rPr lang="pt-PT" dirty="0" err="1"/>
              <a:t>token</a:t>
            </a:r>
            <a:r>
              <a:rPr lang="pt-PT" dirty="0"/>
              <a:t> </a:t>
            </a:r>
            <a:r>
              <a:rPr lang="pt-PT" dirty="0" err="1"/>
              <a:t>Kerberos</a:t>
            </a:r>
            <a:r>
              <a:rPr lang="pt-PT" dirty="0"/>
              <a:t>, se parte de uma Intranet que tenha o </a:t>
            </a:r>
            <a:r>
              <a:rPr lang="pt-PT" dirty="0" err="1"/>
              <a:t>logon</a:t>
            </a:r>
            <a:r>
              <a:rPr lang="pt-PT" dirty="0"/>
              <a:t> </a:t>
            </a:r>
            <a:r>
              <a:rPr lang="pt-PT" dirty="0" smtClean="0"/>
              <a:t>integrado com </a:t>
            </a:r>
            <a:r>
              <a:rPr lang="pt-PT" dirty="0"/>
              <a:t>o Active </a:t>
            </a:r>
            <a:r>
              <a:rPr lang="pt-PT" dirty="0" err="1"/>
              <a:t>Directory</a:t>
            </a:r>
            <a:r>
              <a:rPr lang="pt-PT" dirty="0"/>
              <a:t>.</a:t>
            </a:r>
          </a:p>
          <a:p>
            <a:r>
              <a:rPr lang="pt-PT" dirty="0"/>
              <a:t>Este tipo de aplicação estará em risco. Infelizmente, hoje, a maioria das aplicações web </a:t>
            </a:r>
            <a:r>
              <a:rPr lang="pt-PT" dirty="0" smtClean="0"/>
              <a:t>confia exclusivamente </a:t>
            </a:r>
            <a:r>
              <a:rPr lang="pt-PT" dirty="0"/>
              <a:t>em credenciais submetidas automaticamente, como por exemplo, cookies de </a:t>
            </a:r>
            <a:r>
              <a:rPr lang="pt-PT" dirty="0" smtClean="0"/>
              <a:t>seção, credenciais </a:t>
            </a:r>
            <a:r>
              <a:rPr lang="pt-PT" dirty="0"/>
              <a:t>de autenticação básica, endereço de IP de origem, certificados SSL ou credenciais de um</a:t>
            </a:r>
          </a:p>
          <a:p>
            <a:r>
              <a:rPr lang="pt-PT" dirty="0"/>
              <a:t>domínio Windows.</a:t>
            </a:r>
          </a:p>
          <a:p>
            <a:r>
              <a:rPr lang="pt-PT" dirty="0"/>
              <a:t>Esta vulnerabilidade é também conhecida por outros diversos nomes incluindo </a:t>
            </a:r>
            <a:r>
              <a:rPr lang="pt-PT" dirty="0" err="1"/>
              <a:t>Session</a:t>
            </a:r>
            <a:r>
              <a:rPr lang="pt-PT" dirty="0"/>
              <a:t> </a:t>
            </a:r>
            <a:r>
              <a:rPr lang="pt-PT" dirty="0" err="1"/>
              <a:t>Riding</a:t>
            </a:r>
            <a:r>
              <a:rPr lang="pt-PT" dirty="0"/>
              <a:t>, Ataques</a:t>
            </a:r>
          </a:p>
          <a:p>
            <a:r>
              <a:rPr lang="pt-PT" dirty="0" err="1"/>
              <a:t>One-Click</a:t>
            </a:r>
            <a:r>
              <a:rPr lang="pt-PT" dirty="0"/>
              <a:t>, Cross Site </a:t>
            </a:r>
            <a:r>
              <a:rPr lang="pt-PT" dirty="0" err="1"/>
              <a:t>Reference</a:t>
            </a:r>
            <a:r>
              <a:rPr lang="pt-PT" dirty="0"/>
              <a:t> </a:t>
            </a:r>
            <a:r>
              <a:rPr lang="pt-PT" dirty="0" err="1"/>
              <a:t>Forgery</a:t>
            </a:r>
            <a:r>
              <a:rPr lang="pt-PT" dirty="0"/>
              <a:t>, </a:t>
            </a:r>
            <a:r>
              <a:rPr lang="pt-PT" dirty="0" err="1"/>
              <a:t>Hostile</a:t>
            </a:r>
            <a:r>
              <a:rPr lang="pt-PT" dirty="0"/>
              <a:t> </a:t>
            </a:r>
            <a:r>
              <a:rPr lang="pt-PT" dirty="0" err="1"/>
              <a:t>Linking</a:t>
            </a:r>
            <a:r>
              <a:rPr lang="pt-PT" dirty="0"/>
              <a:t> e </a:t>
            </a:r>
            <a:r>
              <a:rPr lang="pt-PT" dirty="0" err="1"/>
              <a:t>Automation</a:t>
            </a:r>
            <a:r>
              <a:rPr lang="pt-PT" dirty="0"/>
              <a:t> </a:t>
            </a:r>
            <a:r>
              <a:rPr lang="pt-PT" dirty="0" err="1"/>
              <a:t>Attack</a:t>
            </a:r>
            <a:r>
              <a:rPr lang="pt-PT" dirty="0"/>
              <a:t>. O acrônimo XSRF </a:t>
            </a:r>
            <a:r>
              <a:rPr lang="pt-PT" dirty="0" smtClean="0"/>
              <a:t>é frequentemente </a:t>
            </a:r>
            <a:r>
              <a:rPr lang="pt-PT" dirty="0"/>
              <a:t>usado. Ambos a OWASP e o MITRE padronizaram o uso do termo Cross Site </a:t>
            </a:r>
            <a:r>
              <a:rPr lang="pt-PT" dirty="0" err="1" smtClean="0"/>
              <a:t>Request</a:t>
            </a:r>
            <a:r>
              <a:rPr lang="pt-PT" dirty="0" smtClean="0"/>
              <a:t> </a:t>
            </a:r>
            <a:r>
              <a:rPr lang="pt-PT" dirty="0" err="1" smtClean="0"/>
              <a:t>Forgery</a:t>
            </a:r>
            <a:r>
              <a:rPr lang="pt-PT" dirty="0" smtClean="0"/>
              <a:t> </a:t>
            </a:r>
            <a:r>
              <a:rPr lang="pt-PT" dirty="0"/>
              <a:t>e CSRF.</a:t>
            </a:r>
          </a:p>
        </p:txBody>
      </p:sp>
    </p:spTree>
    <p:extLst>
      <p:ext uri="{BB962C8B-B14F-4D97-AF65-F5344CB8AC3E}">
        <p14:creationId xmlns:p14="http://schemas.microsoft.com/office/powerpoint/2010/main" val="109391450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3099"/>
            <a:ext cx="8229600" cy="857250"/>
          </a:xfrm>
        </p:spPr>
        <p:txBody>
          <a:bodyPr>
            <a:normAutofit fontScale="90000"/>
          </a:bodyPr>
          <a:lstStyle/>
          <a:p>
            <a:r>
              <a:rPr lang="pt-PT" sz="3600" dirty="0">
                <a:solidFill>
                  <a:srgbClr val="92D050"/>
                </a:solidFill>
              </a:rPr>
              <a:t>VAZAMENTO DE INFORMAÇÕES E TRATAMENTO DE ERROS INAPROPRIADO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pt-PT" dirty="0"/>
              <a:t>Diversas aplicações podem sem intenção vazar informações sobre suas configurações, </a:t>
            </a:r>
            <a:r>
              <a:rPr lang="pt-PT" dirty="0" smtClean="0"/>
              <a:t>funcionamento interno</a:t>
            </a:r>
            <a:r>
              <a:rPr lang="pt-PT" dirty="0"/>
              <a:t>, ou violar privacidade através de diversos problemas. Aplicações podem vazar o </a:t>
            </a:r>
            <a:r>
              <a:rPr lang="pt-PT" dirty="0" smtClean="0"/>
              <a:t>funcionamento interno </a:t>
            </a:r>
            <a:r>
              <a:rPr lang="pt-PT" dirty="0"/>
              <a:t>via tempo de resposta para executar determinados processos ou respostas diferentes </a:t>
            </a:r>
            <a:r>
              <a:rPr lang="pt-PT" dirty="0" smtClean="0"/>
              <a:t>para entradas </a:t>
            </a:r>
            <a:r>
              <a:rPr lang="pt-PT" dirty="0"/>
              <a:t>diversas, como exibindo mesma mensagem de erro mas com código de erros diferentes.</a:t>
            </a:r>
          </a:p>
          <a:p>
            <a:r>
              <a:rPr lang="pt-PT" dirty="0"/>
              <a:t>Aplicações Web </a:t>
            </a:r>
            <a:r>
              <a:rPr lang="pt-PT" dirty="0" smtClean="0"/>
              <a:t>frequentemente </a:t>
            </a:r>
            <a:r>
              <a:rPr lang="pt-PT" dirty="0"/>
              <a:t>vazarão informações sobre seu funcionamento interno através </a:t>
            </a:r>
            <a:r>
              <a:rPr lang="pt-PT" dirty="0" smtClean="0"/>
              <a:t>de mensagens </a:t>
            </a:r>
            <a:r>
              <a:rPr lang="pt-PT" dirty="0"/>
              <a:t>de erros detalhadas ou </a:t>
            </a:r>
            <a:r>
              <a:rPr lang="pt-PT" dirty="0" err="1"/>
              <a:t>debug</a:t>
            </a:r>
            <a:r>
              <a:rPr lang="pt-PT" dirty="0"/>
              <a:t>. </a:t>
            </a:r>
            <a:r>
              <a:rPr lang="pt-PT" dirty="0" smtClean="0"/>
              <a:t>Frequentemente, </a:t>
            </a:r>
            <a:r>
              <a:rPr lang="pt-PT" dirty="0"/>
              <a:t>essa informação pode ser o caminho </a:t>
            </a:r>
            <a:r>
              <a:rPr lang="pt-PT" dirty="0" smtClean="0"/>
              <a:t>para lançar </a:t>
            </a:r>
            <a:r>
              <a:rPr lang="pt-PT" dirty="0"/>
              <a:t>ataques ou ferramentas automáticas mais </a:t>
            </a:r>
            <a:r>
              <a:rPr lang="pt-PT" dirty="0" err="1"/>
              <a:t>poderosas.</a:t>
            </a:r>
            <a:r>
              <a:rPr lang="pt-PT" dirty="0" err="1" smtClean="0"/>
              <a:t>usado</a:t>
            </a:r>
            <a:r>
              <a:rPr lang="pt-PT" dirty="0"/>
              <a:t>. Ambos a OWASP e o MITRE padronizaram o uso do termo Cross Site </a:t>
            </a:r>
            <a:r>
              <a:rPr lang="pt-PT" dirty="0" err="1" smtClean="0"/>
              <a:t>Request</a:t>
            </a:r>
            <a:r>
              <a:rPr lang="pt-PT" dirty="0" smtClean="0"/>
              <a:t> </a:t>
            </a:r>
            <a:r>
              <a:rPr lang="pt-PT" dirty="0" err="1" smtClean="0"/>
              <a:t>Forgery</a:t>
            </a:r>
            <a:r>
              <a:rPr lang="pt-PT" dirty="0" smtClean="0"/>
              <a:t> </a:t>
            </a:r>
            <a:r>
              <a:rPr lang="pt-PT" dirty="0"/>
              <a:t>e CSRF.</a:t>
            </a:r>
          </a:p>
        </p:txBody>
      </p:sp>
    </p:spTree>
    <p:extLst>
      <p:ext uri="{BB962C8B-B14F-4D97-AF65-F5344CB8AC3E}">
        <p14:creationId xmlns:p14="http://schemas.microsoft.com/office/powerpoint/2010/main" val="219061861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3099"/>
            <a:ext cx="8229600" cy="857250"/>
          </a:xfrm>
        </p:spPr>
        <p:txBody>
          <a:bodyPr>
            <a:normAutofit fontScale="90000"/>
          </a:bodyPr>
          <a:lstStyle/>
          <a:p>
            <a:r>
              <a:rPr lang="pt-PT" sz="3200" dirty="0">
                <a:solidFill>
                  <a:srgbClr val="92D050"/>
                </a:solidFill>
              </a:rPr>
              <a:t>FURO DE AUTENTICAÇÃO E GERÊNCIA DE SESSÃO</a:t>
            </a:r>
            <a:endParaRPr lang="pt-PT" sz="3600" dirty="0">
              <a:solidFill>
                <a:srgbClr val="92D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PT" dirty="0"/>
              <a:t>Autenticação e gerência de sessão apropriadas são criticas para a segurança na web. Falhas nesta </a:t>
            </a:r>
            <a:r>
              <a:rPr lang="pt-PT" dirty="0" smtClean="0"/>
              <a:t>área geralmente </a:t>
            </a:r>
            <a:r>
              <a:rPr lang="pt-PT" dirty="0"/>
              <a:t>envolvem a falha na proteção de credenciais e nos </a:t>
            </a:r>
            <a:r>
              <a:rPr lang="pt-PT" dirty="0" err="1"/>
              <a:t>tokens</a:t>
            </a:r>
            <a:r>
              <a:rPr lang="pt-PT" dirty="0"/>
              <a:t> da sessão durante seu tempo </a:t>
            </a:r>
            <a:r>
              <a:rPr lang="pt-PT" dirty="0" smtClean="0"/>
              <a:t>de vida</a:t>
            </a:r>
            <a:r>
              <a:rPr lang="pt-PT" dirty="0"/>
              <a:t>. Estas falhas podem estar ligadas à roubo de contas de </a:t>
            </a:r>
            <a:r>
              <a:rPr lang="pt-PT" dirty="0" smtClean="0"/>
              <a:t>utilizadores </a:t>
            </a:r>
            <a:r>
              <a:rPr lang="pt-PT" dirty="0"/>
              <a:t>ou administradores, </a:t>
            </a:r>
            <a:r>
              <a:rPr lang="pt-PT" dirty="0" smtClean="0"/>
              <a:t>contornando controles </a:t>
            </a:r>
            <a:r>
              <a:rPr lang="pt-PT" dirty="0"/>
              <a:t>de autorização e de responsabilização, causando violações de privacidade.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9928068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3099"/>
            <a:ext cx="8229600" cy="857250"/>
          </a:xfrm>
        </p:spPr>
        <p:txBody>
          <a:bodyPr>
            <a:normAutofit/>
          </a:bodyPr>
          <a:lstStyle/>
          <a:p>
            <a:r>
              <a:rPr lang="pt-PT" sz="3200" dirty="0">
                <a:solidFill>
                  <a:srgbClr val="92D050"/>
                </a:solidFill>
              </a:rPr>
              <a:t>ARMAZENAMENTO CRIPTOGRTAFICO INSEGURO</a:t>
            </a:r>
            <a:endParaRPr lang="pt-PT" sz="3600" dirty="0">
              <a:solidFill>
                <a:srgbClr val="92D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PT" dirty="0"/>
              <a:t>Proteger dados sensíveis com criptografia tem sido parte chave da maioria das aplicações Web.</a:t>
            </a:r>
          </a:p>
          <a:p>
            <a:r>
              <a:rPr lang="pt-PT" dirty="0"/>
              <a:t>Simplesmente não criptografar dados sensíveis é muito comum. Ainda, aplicações que </a:t>
            </a:r>
            <a:r>
              <a:rPr lang="pt-PT" dirty="0" smtClean="0"/>
              <a:t>adotam criptografia frequentemente </a:t>
            </a:r>
            <a:r>
              <a:rPr lang="pt-PT" dirty="0"/>
              <a:t>possuem algoritmos mal concebidos, usam mecanismos de </a:t>
            </a:r>
            <a:r>
              <a:rPr lang="pt-PT" dirty="0" smtClean="0"/>
              <a:t>cifragem inapropriados </a:t>
            </a:r>
            <a:r>
              <a:rPr lang="pt-PT" dirty="0"/>
              <a:t>ou cometem sérios erros usando cifragem fortes.</a:t>
            </a:r>
          </a:p>
        </p:txBody>
      </p:sp>
    </p:spTree>
    <p:extLst>
      <p:ext uri="{BB962C8B-B14F-4D97-AF65-F5344CB8AC3E}">
        <p14:creationId xmlns:p14="http://schemas.microsoft.com/office/powerpoint/2010/main" val="52715035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3099"/>
            <a:ext cx="8229600" cy="857250"/>
          </a:xfrm>
        </p:spPr>
        <p:txBody>
          <a:bodyPr>
            <a:normAutofit/>
          </a:bodyPr>
          <a:lstStyle/>
          <a:p>
            <a:r>
              <a:rPr lang="pt-PT" sz="3200" dirty="0">
                <a:solidFill>
                  <a:srgbClr val="92D050"/>
                </a:solidFill>
              </a:rPr>
              <a:t>COMUNICAÇÕES INSEGURAS</a:t>
            </a:r>
            <a:endParaRPr lang="pt-PT" sz="3600" dirty="0">
              <a:solidFill>
                <a:srgbClr val="92D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pt-PT" dirty="0"/>
              <a:t>Aplicações geralmente falham na hora de encriptar tráfego de rede quando é necessário </a:t>
            </a:r>
            <a:r>
              <a:rPr lang="pt-PT" dirty="0" smtClean="0"/>
              <a:t>proteger comunicações </a:t>
            </a:r>
            <a:r>
              <a:rPr lang="pt-PT" dirty="0"/>
              <a:t>sensíveis. A encriptação (geralmente SSL) deve ser usada em todas as </a:t>
            </a:r>
            <a:r>
              <a:rPr lang="pt-PT" dirty="0" smtClean="0"/>
              <a:t>conexões autenticadas</a:t>
            </a:r>
            <a:r>
              <a:rPr lang="pt-PT" dirty="0"/>
              <a:t>, especialmente páginas web com acesso via internet, mas </a:t>
            </a:r>
            <a:r>
              <a:rPr lang="pt-PT" dirty="0" err="1" smtClean="0"/>
              <a:t>també</a:t>
            </a:r>
            <a:r>
              <a:rPr lang="pt-PT" dirty="0" smtClean="0"/>
              <a:t> conexões </a:t>
            </a:r>
            <a:r>
              <a:rPr lang="pt-PT" dirty="0"/>
              <a:t>com o </a:t>
            </a:r>
            <a:r>
              <a:rPr lang="pt-PT" dirty="0" err="1"/>
              <a:t>backend</a:t>
            </a:r>
            <a:r>
              <a:rPr lang="pt-PT" dirty="0"/>
              <a:t>.</a:t>
            </a:r>
          </a:p>
          <a:p>
            <a:r>
              <a:rPr lang="pt-PT" dirty="0"/>
              <a:t>Senão, o aplicativo irá expor uma autenticação ou o </a:t>
            </a:r>
            <a:r>
              <a:rPr lang="pt-PT" dirty="0" err="1"/>
              <a:t>token</a:t>
            </a:r>
            <a:r>
              <a:rPr lang="pt-PT" dirty="0"/>
              <a:t> de sessão. Adicionalmente, </a:t>
            </a:r>
            <a:r>
              <a:rPr lang="pt-PT" dirty="0" smtClean="0"/>
              <a:t>a autenticação </a:t>
            </a:r>
            <a:r>
              <a:rPr lang="pt-PT" dirty="0"/>
              <a:t>deve ser usada sempre que dados sensíveis, assim como cartões de crédito </a:t>
            </a:r>
            <a:r>
              <a:rPr lang="pt-PT" dirty="0" smtClean="0"/>
              <a:t>o informações</a:t>
            </a:r>
            <a:endParaRPr lang="pt-PT" dirty="0"/>
          </a:p>
          <a:p>
            <a:r>
              <a:rPr lang="pt-PT" dirty="0"/>
              <a:t>de saúde são transmitidos. Aplicações cujo modo de encriptação possa ser subvertido são alvos </a:t>
            </a:r>
            <a:r>
              <a:rPr lang="pt-PT" dirty="0" smtClean="0"/>
              <a:t>de ataques</a:t>
            </a:r>
            <a:r>
              <a:rPr lang="pt-PT" dirty="0"/>
              <a:t>.</a:t>
            </a:r>
          </a:p>
          <a:p>
            <a:r>
              <a:rPr lang="pt-PT" dirty="0"/>
              <a:t>Os padrões PCI requerem que todas as informações de cartões de credito que são transmitidas </a:t>
            </a:r>
            <a:r>
              <a:rPr lang="pt-PT" dirty="0" smtClean="0"/>
              <a:t>pela internet </a:t>
            </a:r>
            <a:r>
              <a:rPr lang="pt-PT" dirty="0"/>
              <a:t>sejam encriptadas.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13689418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3099"/>
            <a:ext cx="8229600" cy="857250"/>
          </a:xfrm>
        </p:spPr>
        <p:txBody>
          <a:bodyPr>
            <a:normAutofit/>
          </a:bodyPr>
          <a:lstStyle/>
          <a:p>
            <a:r>
              <a:rPr lang="pt-PT" sz="3200" dirty="0">
                <a:solidFill>
                  <a:srgbClr val="92D050"/>
                </a:solidFill>
              </a:rPr>
              <a:t>FALHA AO RESTRINGIR ACESSO À URLS</a:t>
            </a:r>
            <a:endParaRPr lang="pt-PT" sz="3600" dirty="0">
              <a:solidFill>
                <a:srgbClr val="92D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pt-PT" dirty="0"/>
              <a:t>Comumente, a única proteção para uma URL é não mostrar o link para </a:t>
            </a:r>
            <a:r>
              <a:rPr lang="pt-PT" dirty="0" smtClean="0"/>
              <a:t>utilizadores </a:t>
            </a:r>
            <a:r>
              <a:rPr lang="pt-PT" dirty="0"/>
              <a:t>não autorizados.</a:t>
            </a:r>
          </a:p>
          <a:p>
            <a:r>
              <a:rPr lang="pt-PT" dirty="0"/>
              <a:t>No entanto, um motivado, hábil ou apenas um sortudo atacante pode ser capaz de achar e </a:t>
            </a:r>
            <a:r>
              <a:rPr lang="pt-PT" dirty="0" err="1"/>
              <a:t>acessar</a:t>
            </a:r>
            <a:r>
              <a:rPr lang="pt-PT" dirty="0"/>
              <a:t> </a:t>
            </a:r>
            <a:r>
              <a:rPr lang="pt-PT" dirty="0" smtClean="0"/>
              <a:t>estas páginas</a:t>
            </a:r>
            <a:r>
              <a:rPr lang="pt-PT" dirty="0"/>
              <a:t>, executar funções e visualizar dados. Segurança por obscuridade não é suficiente para </a:t>
            </a:r>
            <a:r>
              <a:rPr lang="pt-PT" dirty="0" smtClean="0"/>
              <a:t>proteger dados </a:t>
            </a:r>
            <a:r>
              <a:rPr lang="pt-PT" dirty="0"/>
              <a:t>e funções sensíveis em uma aplicação. Verificações de controles de acesso devem ser </a:t>
            </a:r>
            <a:r>
              <a:rPr lang="pt-PT" dirty="0" smtClean="0"/>
              <a:t>executadas antes </a:t>
            </a:r>
            <a:r>
              <a:rPr lang="pt-PT" dirty="0"/>
              <a:t>de permitir uma solicitação a uma função sensível, na qual garante que somente o </a:t>
            </a:r>
            <a:r>
              <a:rPr lang="pt-PT" dirty="0" smtClean="0"/>
              <a:t>utilizador autorizado </a:t>
            </a:r>
            <a:r>
              <a:rPr lang="pt-PT" dirty="0" err="1"/>
              <a:t>acesse</a:t>
            </a:r>
            <a:r>
              <a:rPr lang="pt-PT" dirty="0"/>
              <a:t> a </a:t>
            </a:r>
            <a:r>
              <a:rPr lang="pt-PT" dirty="0" err="1"/>
              <a:t>respectiva</a:t>
            </a:r>
            <a:r>
              <a:rPr lang="pt-PT" dirty="0"/>
              <a:t> função.</a:t>
            </a:r>
            <a:r>
              <a:rPr lang="pt-PT" dirty="0" smtClean="0"/>
              <a:t>.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39029171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3099"/>
            <a:ext cx="8229600" cy="857250"/>
          </a:xfrm>
        </p:spPr>
        <p:txBody>
          <a:bodyPr>
            <a:normAutofit/>
          </a:bodyPr>
          <a:lstStyle/>
          <a:p>
            <a:r>
              <a:rPr lang="pt-PT" sz="3200" dirty="0">
                <a:solidFill>
                  <a:srgbClr val="92D050"/>
                </a:solidFill>
              </a:rPr>
              <a:t>AONDE IR A PARTIR DAQUI</a:t>
            </a:r>
            <a:endParaRPr lang="pt-PT" sz="3600" dirty="0">
              <a:solidFill>
                <a:srgbClr val="92D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pt-PT" dirty="0"/>
              <a:t>O OWASP Top 10 é apenas o primeiro passo rumo a segurança das suas aplicações </a:t>
            </a:r>
            <a:r>
              <a:rPr lang="pt-PT" dirty="0" smtClean="0"/>
              <a:t>web. Podemos </a:t>
            </a:r>
            <a:r>
              <a:rPr lang="pt-PT" dirty="0"/>
              <a:t>dividir as 6 Milhões de pessoas que vivem no mundo em dois grupos: O primeiro grupo </a:t>
            </a:r>
            <a:r>
              <a:rPr lang="pt-PT" dirty="0" smtClean="0"/>
              <a:t>é formado </a:t>
            </a:r>
            <a:r>
              <a:rPr lang="pt-PT" dirty="0"/>
              <a:t>pelas pessoas que sabem porque a grande maioria das empresas de software lançam </a:t>
            </a:r>
            <a:r>
              <a:rPr lang="pt-PT" dirty="0" smtClean="0"/>
              <a:t>seu produtos </a:t>
            </a:r>
            <a:r>
              <a:rPr lang="pt-PT" dirty="0"/>
              <a:t>com Bugs conhecidos e o segundo grupo é formado pelas pessoas que não sabem porque </a:t>
            </a:r>
            <a:r>
              <a:rPr lang="pt-PT" dirty="0" smtClean="0"/>
              <a:t>isto ocorre</a:t>
            </a:r>
            <a:r>
              <a:rPr lang="pt-PT" dirty="0"/>
              <a:t>. As pessoas do primeiro grupo geralmente têm seu otimismo juvenil estragado pela </a:t>
            </a:r>
            <a:r>
              <a:rPr lang="pt-PT" dirty="0" smtClean="0"/>
              <a:t>dura realidade</a:t>
            </a:r>
            <a:r>
              <a:rPr lang="pt-PT" dirty="0"/>
              <a:t>. Às vezes encontramos pessoas que pertencem aos dois grupos; são as pessoas que </a:t>
            </a:r>
            <a:r>
              <a:rPr lang="pt-PT" dirty="0" smtClean="0"/>
              <a:t>estão chocadas </a:t>
            </a:r>
            <a:r>
              <a:rPr lang="pt-PT" dirty="0"/>
              <a:t>por ver que existem empresas lançando seus produtos antes de testá-los e corrigir todos </a:t>
            </a:r>
            <a:r>
              <a:rPr lang="pt-PT" dirty="0" smtClean="0"/>
              <a:t>os bugs</a:t>
            </a:r>
            <a:r>
              <a:rPr lang="pt-PT" dirty="0"/>
              <a:t>.</a:t>
            </a:r>
          </a:p>
          <a:p>
            <a:r>
              <a:rPr lang="pt-PT" dirty="0" smtClean="0"/>
              <a:t>A </a:t>
            </a:r>
            <a:r>
              <a:rPr lang="pt-PT" dirty="0"/>
              <a:t>maioria dos seus clientes e </a:t>
            </a:r>
            <a:r>
              <a:rPr lang="pt-PT" dirty="0" smtClean="0"/>
              <a:t>utilizadores </a:t>
            </a:r>
            <a:r>
              <a:rPr lang="pt-PT" dirty="0"/>
              <a:t>está no primeiro grupo. O modo com o qual você encara </a:t>
            </a:r>
            <a:r>
              <a:rPr lang="pt-PT" dirty="0" smtClean="0"/>
              <a:t>este problema </a:t>
            </a:r>
            <a:r>
              <a:rPr lang="pt-PT" dirty="0"/>
              <a:t>é uma oportunidade de aumentar a segurança de suas aplicações web no modo geral </a:t>
            </a:r>
            <a:r>
              <a:rPr lang="pt-PT" dirty="0" smtClean="0"/>
              <a:t>pois Bilhões </a:t>
            </a:r>
            <a:r>
              <a:rPr lang="pt-PT" dirty="0"/>
              <a:t>de dólares são perdidos todos os anos e milhões de pessoas sofrem com fraude e roubo </a:t>
            </a:r>
            <a:r>
              <a:rPr lang="pt-PT" dirty="0" smtClean="0"/>
              <a:t>de identidade </a:t>
            </a:r>
            <a:r>
              <a:rPr lang="pt-PT" dirty="0"/>
              <a:t>devido a vulnerabilidades discutidas neste documento.</a:t>
            </a:r>
          </a:p>
        </p:txBody>
      </p:sp>
    </p:spTree>
    <p:extLst>
      <p:ext uri="{BB962C8B-B14F-4D97-AF65-F5344CB8AC3E}">
        <p14:creationId xmlns:p14="http://schemas.microsoft.com/office/powerpoint/2010/main" val="361444012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3099"/>
            <a:ext cx="8229600" cy="857250"/>
          </a:xfrm>
        </p:spPr>
        <p:txBody>
          <a:bodyPr>
            <a:normAutofit/>
          </a:bodyPr>
          <a:lstStyle/>
          <a:p>
            <a:r>
              <a:rPr lang="pt-PT" sz="3200" dirty="0">
                <a:solidFill>
                  <a:srgbClr val="92D050"/>
                </a:solidFill>
              </a:rPr>
              <a:t>AOS WEB-DESIGNERS</a:t>
            </a:r>
            <a:endParaRPr lang="pt-PT" sz="3600" dirty="0">
              <a:solidFill>
                <a:srgbClr val="92D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pt-PT" dirty="0"/>
              <a:t>Para garantir a segurança das suas aplicações você precisa saber o que você está protegendo, </a:t>
            </a:r>
            <a:r>
              <a:rPr lang="pt-PT" dirty="0" smtClean="0"/>
              <a:t>conheça todas </a:t>
            </a:r>
            <a:r>
              <a:rPr lang="pt-PT" dirty="0"/>
              <a:t>as ameaças e riscos de insegurança e classifique-os de forma estruturada. O Desenvolvimento </a:t>
            </a:r>
            <a:r>
              <a:rPr lang="pt-PT" dirty="0" smtClean="0"/>
              <a:t>de qualquer </a:t>
            </a:r>
            <a:r>
              <a:rPr lang="pt-PT" dirty="0"/>
              <a:t>tipo de aplicação requer uma boa dose de segurança.</a:t>
            </a:r>
          </a:p>
          <a:p>
            <a:pPr lvl="1"/>
            <a:r>
              <a:rPr lang="pt-PT" dirty="0" smtClean="0"/>
              <a:t>Certifique-se </a:t>
            </a:r>
            <a:r>
              <a:rPr lang="pt-PT" dirty="0"/>
              <a:t>que você está aplicando segurança baseando-se no modelo de ameaça de risco, no </a:t>
            </a:r>
            <a:r>
              <a:rPr lang="pt-PT" dirty="0" smtClean="0"/>
              <a:t>entanto como </a:t>
            </a:r>
            <a:r>
              <a:rPr lang="pt-PT" dirty="0"/>
              <a:t>os modelos de normas (SOX, HIPAA, Basel,…) estão cada vez mais caros torna-se mais </a:t>
            </a:r>
            <a:r>
              <a:rPr lang="pt-PT" dirty="0" smtClean="0"/>
              <a:t>conveniente investir </a:t>
            </a:r>
            <a:r>
              <a:rPr lang="pt-PT" dirty="0"/>
              <a:t>tempo e recurso para satisfazer o mínimo necessário para os dias atuais, porém as normas </a:t>
            </a:r>
            <a:r>
              <a:rPr lang="pt-PT" dirty="0" smtClean="0"/>
              <a:t>mais conhecidas </a:t>
            </a:r>
            <a:r>
              <a:rPr lang="pt-PT" dirty="0"/>
              <a:t>são bem mais rígidas.</a:t>
            </a:r>
          </a:p>
          <a:p>
            <a:pPr lvl="1"/>
            <a:r>
              <a:rPr lang="pt-PT" dirty="0" smtClean="0"/>
              <a:t>Faça </a:t>
            </a:r>
            <a:r>
              <a:rPr lang="pt-PT" dirty="0"/>
              <a:t>perguntas sobre necessidades empresariais, principalmente sobre requisitos não funcionais.</a:t>
            </a:r>
          </a:p>
          <a:p>
            <a:pPr lvl="1"/>
            <a:r>
              <a:rPr lang="pt-PT" dirty="0" smtClean="0"/>
              <a:t>Trabalhe </a:t>
            </a:r>
            <a:r>
              <a:rPr lang="pt-PT" dirty="0"/>
              <a:t>seguindo o contrato de segurança de Software OWASP.</a:t>
            </a:r>
          </a:p>
          <a:p>
            <a:pPr lvl="1"/>
            <a:r>
              <a:rPr lang="pt-PT" dirty="0" smtClean="0"/>
              <a:t>Incentivar </a:t>
            </a:r>
            <a:r>
              <a:rPr lang="pt-PT" dirty="0"/>
              <a:t>o desenvolvimento de Software seguro inclui uma defesa profunda e uma construção simples</a:t>
            </a:r>
          </a:p>
          <a:p>
            <a:pPr lvl="1"/>
            <a:r>
              <a:rPr lang="pt-PT" dirty="0"/>
              <a:t>do código utilizando o modelo de ameaça de risco. (ver [HOW1] no livro referências)</a:t>
            </a:r>
          </a:p>
          <a:p>
            <a:pPr lvl="1"/>
            <a:r>
              <a:rPr lang="pt-PT" dirty="0" smtClean="0"/>
              <a:t>Certifique-se </a:t>
            </a:r>
            <a:r>
              <a:rPr lang="pt-PT" dirty="0"/>
              <a:t>de ter considerado a confidencialidade, integridade, disponibilidade e não-repúdio.</a:t>
            </a:r>
          </a:p>
          <a:p>
            <a:pPr lvl="1"/>
            <a:r>
              <a:rPr lang="pt-PT" dirty="0" smtClean="0"/>
              <a:t>Certifique-se </a:t>
            </a:r>
            <a:r>
              <a:rPr lang="pt-PT" dirty="0"/>
              <a:t>de que seus Web-Designers são coerentes com a política de segurança e normas, tais </a:t>
            </a:r>
            <a:r>
              <a:rPr lang="pt-PT" dirty="0" smtClean="0"/>
              <a:t>como </a:t>
            </a:r>
            <a:r>
              <a:rPr lang="fr-FR" dirty="0" smtClean="0"/>
              <a:t>COBIT </a:t>
            </a:r>
            <a:r>
              <a:rPr lang="fr-FR" dirty="0"/>
              <a:t>ou PCI DSS 1,1.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41633239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3099"/>
            <a:ext cx="8229600" cy="857250"/>
          </a:xfrm>
        </p:spPr>
        <p:txBody>
          <a:bodyPr>
            <a:normAutofit/>
          </a:bodyPr>
          <a:lstStyle/>
          <a:p>
            <a:r>
              <a:rPr lang="pt-PT" sz="3200" dirty="0">
                <a:solidFill>
                  <a:srgbClr val="92D050"/>
                </a:solidFill>
              </a:rPr>
              <a:t>AOS DESENVOLVEDORES</a:t>
            </a:r>
            <a:endParaRPr lang="pt-PT" sz="3600" dirty="0">
              <a:solidFill>
                <a:srgbClr val="92D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PT" sz="1600" dirty="0"/>
              <a:t>Muitos desenvolvedores já possuem uma boa base sobre segurança no desenvolvimento de </a:t>
            </a:r>
            <a:r>
              <a:rPr lang="pt-PT" sz="1600" dirty="0" smtClean="0"/>
              <a:t>aplicações Web </a:t>
            </a:r>
            <a:r>
              <a:rPr lang="pt-PT" sz="1600" dirty="0"/>
              <a:t>porém para garantir uma segurança efetiva no desenvolvimento de aplicações Web requer </a:t>
            </a:r>
            <a:r>
              <a:rPr lang="pt-PT" sz="1600" dirty="0" smtClean="0"/>
              <a:t>muita experiência</a:t>
            </a:r>
            <a:r>
              <a:rPr lang="pt-PT" sz="1600" dirty="0"/>
              <a:t>, pois qualquer leigo pode atacar um sistema.</a:t>
            </a:r>
          </a:p>
          <a:p>
            <a:pPr lvl="1"/>
            <a:r>
              <a:rPr lang="pt-PT" sz="1400" dirty="0" smtClean="0"/>
              <a:t>Faça </a:t>
            </a:r>
            <a:r>
              <a:rPr lang="pt-PT" sz="1400" dirty="0"/>
              <a:t>parte da comunidade e OWASP e </a:t>
            </a:r>
            <a:r>
              <a:rPr lang="pt-PT" sz="1400" dirty="0" err="1"/>
              <a:t>freqüente</a:t>
            </a:r>
            <a:r>
              <a:rPr lang="pt-PT" sz="1400" dirty="0"/>
              <a:t> as reuniões regionais.</a:t>
            </a:r>
          </a:p>
          <a:p>
            <a:pPr lvl="1"/>
            <a:r>
              <a:rPr lang="pt-PT" sz="1400" dirty="0" smtClean="0"/>
              <a:t>Procure </a:t>
            </a:r>
            <a:r>
              <a:rPr lang="pt-PT" sz="1400" dirty="0"/>
              <a:t>por treinamentos sobre desenvolvimento de código seguro.</a:t>
            </a:r>
          </a:p>
          <a:p>
            <a:pPr lvl="1"/>
            <a:r>
              <a:rPr lang="pt-PT" sz="1400" dirty="0" smtClean="0"/>
              <a:t>Desenvolva </a:t>
            </a:r>
            <a:r>
              <a:rPr lang="pt-PT" sz="1400" dirty="0"/>
              <a:t>suas aplicações com segurança, Crie códigos simples e com profunda segurança.</a:t>
            </a:r>
          </a:p>
          <a:p>
            <a:pPr lvl="1"/>
            <a:r>
              <a:rPr lang="pt-PT" sz="1400" dirty="0" smtClean="0"/>
              <a:t>Desenvolva </a:t>
            </a:r>
            <a:r>
              <a:rPr lang="pt-PT" sz="1400" dirty="0"/>
              <a:t>com aplicações que favoreçam a segurança do código.</a:t>
            </a:r>
          </a:p>
          <a:p>
            <a:pPr lvl="1"/>
            <a:r>
              <a:rPr lang="pt-PT" sz="1400" dirty="0" smtClean="0"/>
              <a:t>Reconstrua </a:t>
            </a:r>
            <a:r>
              <a:rPr lang="pt-PT" sz="1400" dirty="0"/>
              <a:t>o código de forma segura de acordo com a sua plataforma utilizando </a:t>
            </a:r>
            <a:r>
              <a:rPr lang="pt-PT" sz="1400" dirty="0" smtClean="0"/>
              <a:t>pesquisa otimizadas</a:t>
            </a:r>
            <a:r>
              <a:rPr lang="pt-PT" sz="1400" dirty="0"/>
              <a:t>.</a:t>
            </a:r>
          </a:p>
          <a:p>
            <a:pPr lvl="1"/>
            <a:r>
              <a:rPr lang="pt-PT" sz="1400" dirty="0" smtClean="0"/>
              <a:t>Leia </a:t>
            </a:r>
            <a:r>
              <a:rPr lang="pt-PT" sz="1400" dirty="0"/>
              <a:t>o guia OWASP e comece a aplicar controles mais seguros a seu código, diferente do outros guias </a:t>
            </a:r>
            <a:r>
              <a:rPr lang="pt-PT" sz="1400" dirty="0" smtClean="0"/>
              <a:t>ele é </a:t>
            </a:r>
            <a:r>
              <a:rPr lang="pt-PT" sz="1400" dirty="0"/>
              <a:t>desenvolvido para ajudá-lo a criar aplicações seguras e não a quebrá-las.</a:t>
            </a:r>
          </a:p>
          <a:p>
            <a:pPr lvl="1"/>
            <a:r>
              <a:rPr lang="pt-PT" sz="1400" dirty="0" smtClean="0"/>
              <a:t>Faça </a:t>
            </a:r>
            <a:r>
              <a:rPr lang="pt-PT" sz="1400" dirty="0"/>
              <a:t>os testes de segurança e defeitos do seu código e torne esta prática constante no seu dia-a-dia</a:t>
            </a:r>
            <a:r>
              <a:rPr lang="pt-PT" sz="1400" dirty="0" smtClean="0"/>
              <a:t>.</a:t>
            </a:r>
          </a:p>
          <a:p>
            <a:pPr lvl="1"/>
            <a:r>
              <a:rPr lang="pt-PT" sz="1400" dirty="0"/>
              <a:t>Revise o livro de referências e veja se existem opções que se aplicam ao seu ambiente de trabalho.</a:t>
            </a:r>
            <a:endParaRPr lang="pt-PT" sz="1400" dirty="0"/>
          </a:p>
        </p:txBody>
      </p:sp>
    </p:spTree>
    <p:extLst>
      <p:ext uri="{BB962C8B-B14F-4D97-AF65-F5344CB8AC3E}">
        <p14:creationId xmlns:p14="http://schemas.microsoft.com/office/powerpoint/2010/main" val="389846706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pt-PT" sz="4950" dirty="0">
              <a:solidFill>
                <a:schemeClr val="tx2"/>
              </a:solidFill>
            </a:endParaRPr>
          </a:p>
          <a:p>
            <a:pPr marL="0" indent="0" algn="ctr">
              <a:buNone/>
            </a:pPr>
            <a:r>
              <a:rPr lang="pt-PT" sz="4950" dirty="0">
                <a:solidFill>
                  <a:schemeClr val="tx2"/>
                </a:solidFill>
              </a:rPr>
              <a:t>DÚVIDAS ?!</a:t>
            </a:r>
          </a:p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19706911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139346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1678</TotalTime>
  <Words>8697</Words>
  <Application>Microsoft Office PowerPoint</Application>
  <PresentationFormat>On-screen Show (16:9)</PresentationFormat>
  <Paragraphs>397</Paragraphs>
  <Slides>51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51</vt:i4>
      </vt:variant>
    </vt:vector>
  </HeadingPairs>
  <TitlesOfParts>
    <vt:vector size="58" baseType="lpstr">
      <vt:lpstr>Arial</vt:lpstr>
      <vt:lpstr>Calibri</vt:lpstr>
      <vt:lpstr>TimesNewRomanPS-ItalicMT</vt:lpstr>
      <vt:lpstr>TimesNewRomanPSMT</vt:lpstr>
      <vt:lpstr>Office Theme</vt:lpstr>
      <vt:lpstr>1_Office Theme</vt:lpstr>
      <vt:lpstr>2_Office Theme</vt:lpstr>
      <vt:lpstr>PowerPoint Presentation</vt:lpstr>
      <vt:lpstr>Princípios Gerais de Segurança em Aplicações e Riscos</vt:lpstr>
      <vt:lpstr>Princípios Gerais de Segurança em Aplicações e Riscos</vt:lpstr>
      <vt:lpstr>PowerPoint Presentation</vt:lpstr>
      <vt:lpstr>Lista de Verificação de Práticas de Programação Segura</vt:lpstr>
      <vt:lpstr>Validação dos Dados de Entrada</vt:lpstr>
      <vt:lpstr>Codificação de Dados de Saída</vt:lpstr>
      <vt:lpstr>Autenticação e Gestão de Credenciais</vt:lpstr>
      <vt:lpstr>Autenticação e Gestão de Credenciais</vt:lpstr>
      <vt:lpstr>Autenticação e Gestão de Credenciais</vt:lpstr>
      <vt:lpstr>Gestão de Sessões</vt:lpstr>
      <vt:lpstr>Gestão de Sessões</vt:lpstr>
      <vt:lpstr>Controlo de Acessos</vt:lpstr>
      <vt:lpstr>Controlo de Acessos</vt:lpstr>
      <vt:lpstr>Práticas de Criptografia</vt:lpstr>
      <vt:lpstr>Tratamento de Erros e Log</vt:lpstr>
      <vt:lpstr>Tratamento de Erros e Log</vt:lpstr>
      <vt:lpstr>Proteção de Dados</vt:lpstr>
      <vt:lpstr>Segurança nas comunicações</vt:lpstr>
      <vt:lpstr>Configuração do Sistema</vt:lpstr>
      <vt:lpstr>Configuração do Sistema</vt:lpstr>
      <vt:lpstr>Segurança em Base de Dados</vt:lpstr>
      <vt:lpstr>Gestão de Ficheiros</vt:lpstr>
      <vt:lpstr>Gestão de Memória</vt:lpstr>
      <vt:lpstr>Práticas Gerais de Programação</vt:lpstr>
      <vt:lpstr>As 10 vulnerabilidades de segurança mais críticas em aplicações WEB</vt:lpstr>
      <vt:lpstr>Práticas Gerais de Programação</vt:lpstr>
      <vt:lpstr>Práticas Gerais de Programação</vt:lpstr>
      <vt:lpstr>Práticas Gerais de Programação</vt:lpstr>
      <vt:lpstr>OWASP</vt:lpstr>
      <vt:lpstr>OWASP</vt:lpstr>
      <vt:lpstr>OWASP</vt:lpstr>
      <vt:lpstr>OWASP</vt:lpstr>
      <vt:lpstr>OWASP</vt:lpstr>
      <vt:lpstr>OWASP</vt:lpstr>
      <vt:lpstr>OWASP</vt:lpstr>
      <vt:lpstr>Cross Site Scripting</vt:lpstr>
      <vt:lpstr>FALHAS DE INJEÇÃO</vt:lpstr>
      <vt:lpstr>EXECUÇÃO MALICIOSA DE ARQUIVO</vt:lpstr>
      <vt:lpstr>REFERÊNCIA INSEGURA DIRETA A OBJETO</vt:lpstr>
      <vt:lpstr>CROSS SITE REQUEST FORGERY (CSRF)</vt:lpstr>
      <vt:lpstr>VAZAMENTO DE INFORMAÇÕES E TRATAMENTO DE ERROS INAPROPRIADO</vt:lpstr>
      <vt:lpstr>FURO DE AUTENTICAÇÃO E GERÊNCIA DE SESSÃO</vt:lpstr>
      <vt:lpstr>ARMAZENAMENTO CRIPTOGRTAFICO INSEGURO</vt:lpstr>
      <vt:lpstr>COMUNICAÇÕES INSEGURAS</vt:lpstr>
      <vt:lpstr>FALHA AO RESTRINGIR ACESSO À URLS</vt:lpstr>
      <vt:lpstr>AONDE IR A PARTIR DAQUI</vt:lpstr>
      <vt:lpstr>AOS WEB-DESIGNERS</vt:lpstr>
      <vt:lpstr>AOS DESENVOLVEDORES</vt:lpstr>
      <vt:lpstr>PowerPoint Presentation</vt:lpstr>
      <vt:lpstr>PowerPoint Presentation</vt:lpstr>
    </vt:vector>
  </TitlesOfParts>
  <Company>Universidade da Madeira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Marco Bruno Ferreira Câmara</dc:creator>
  <cp:lastModifiedBy>Filipe André Martins de Freitas</cp:lastModifiedBy>
  <cp:revision>175</cp:revision>
  <dcterms:created xsi:type="dcterms:W3CDTF">2015-11-24T13:06:15Z</dcterms:created>
  <dcterms:modified xsi:type="dcterms:W3CDTF">2019-01-04T11:49:28Z</dcterms:modified>
</cp:coreProperties>
</file>