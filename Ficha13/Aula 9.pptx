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40"/>
  </p:notesMasterIdLst>
  <p:sldIdLst>
    <p:sldId id="288" r:id="rId4"/>
    <p:sldId id="399" r:id="rId5"/>
    <p:sldId id="439" r:id="rId6"/>
    <p:sldId id="400" r:id="rId7"/>
    <p:sldId id="411" r:id="rId8"/>
    <p:sldId id="440" r:id="rId9"/>
    <p:sldId id="441" r:id="rId10"/>
    <p:sldId id="415" r:id="rId11"/>
    <p:sldId id="416" r:id="rId12"/>
    <p:sldId id="417" r:id="rId13"/>
    <p:sldId id="401" r:id="rId14"/>
    <p:sldId id="443" r:id="rId15"/>
    <p:sldId id="444" r:id="rId16"/>
    <p:sldId id="402" r:id="rId17"/>
    <p:sldId id="403" r:id="rId18"/>
    <p:sldId id="404" r:id="rId19"/>
    <p:sldId id="448" r:id="rId20"/>
    <p:sldId id="421" r:id="rId21"/>
    <p:sldId id="449" r:id="rId22"/>
    <p:sldId id="450" r:id="rId23"/>
    <p:sldId id="406" r:id="rId24"/>
    <p:sldId id="453" r:id="rId25"/>
    <p:sldId id="454" r:id="rId26"/>
    <p:sldId id="455" r:id="rId27"/>
    <p:sldId id="457" r:id="rId28"/>
    <p:sldId id="458" r:id="rId29"/>
    <p:sldId id="459" r:id="rId30"/>
    <p:sldId id="460" r:id="rId31"/>
    <p:sldId id="461" r:id="rId32"/>
    <p:sldId id="462" r:id="rId33"/>
    <p:sldId id="320" r:id="rId34"/>
    <p:sldId id="463" r:id="rId35"/>
    <p:sldId id="464" r:id="rId36"/>
    <p:sldId id="465" r:id="rId37"/>
    <p:sldId id="286" r:id="rId38"/>
    <p:sldId id="289" r:id="rId39"/>
  </p:sldIdLst>
  <p:sldSz cx="9144000" cy="5143500" type="screen16x9"/>
  <p:notesSz cx="6858000" cy="9144000"/>
  <p:defaultTextStyle>
    <a:defPPr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95" d="100"/>
          <a:sy n="95" d="100"/>
        </p:scale>
        <p:origin x="453" y="4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B759D-A50D-45EA-A2E1-CFE97077A116}" type="datetimeFigureOut">
              <a:rPr lang="pt-PT" smtClean="0"/>
              <a:t>25/11/2018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5229B-2441-4A1F-B51A-A7FEE15411D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5686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3.1.1.1 Authentication without AAA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54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3.1.1.1 </a:t>
            </a:r>
            <a:r>
              <a:rPr lang="en-US"/>
              <a:t>Authentication without AAA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99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3.1.1.2 AAA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9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3.1.2.1 Authentication Modes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62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3.1.2.2 Authorization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3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3.1.2.3 Accounting</a:t>
            </a:r>
          </a:p>
          <a:p>
            <a:r>
              <a:rPr lang="en-US" dirty="0"/>
              <a:t>3.1.2.4 Activity - </a:t>
            </a:r>
            <a:r>
              <a:rPr lang="en-US" dirty="0" err="1"/>
              <a:t>Indentify</a:t>
            </a:r>
            <a:r>
              <a:rPr lang="en-US" dirty="0"/>
              <a:t> the Characteristics of AAA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58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3.2.1.1 Authenticating Administrative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90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3.2.1.2 Authentication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06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3.2.1.3 Default and Named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11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3.2.1.4 Fine-Tuning the Authentication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13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3.2.2.1 Debug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66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3.2.2.2 Debugging AAA 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3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3.3.1.1 Comparing Local AAA and Server-Based</a:t>
            </a:r>
            <a:r>
              <a:rPr lang="en-US" baseline="0" dirty="0"/>
              <a:t> AAA Implementations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59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3.3.1.2 Introducing Cisco Secure Access Control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83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3.3.2.1 Introducing TACACS+ and RADIUS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66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3.3.2.2 TACACS+</a:t>
            </a:r>
            <a:r>
              <a:rPr lang="en-US" baseline="0" dirty="0"/>
              <a:t> Authentication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1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3.3.2.3 RADIUS 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398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3.3.2.4 Integration of TACACS+ and ACS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954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3.3.2.5 Integration of</a:t>
            </a:r>
            <a:r>
              <a:rPr lang="en-US" baseline="0" dirty="0"/>
              <a:t> AAA with Active Directory</a:t>
            </a:r>
          </a:p>
          <a:p>
            <a:r>
              <a:rPr lang="en-US" dirty="0"/>
              <a:t>3.3.2.6 Video - Integration of AAA with Identity Service Engine</a:t>
            </a:r>
          </a:p>
          <a:p>
            <a:r>
              <a:rPr lang="en-US" dirty="0"/>
              <a:t>3.3.2.7 Activity - Identify</a:t>
            </a:r>
            <a:r>
              <a:rPr lang="en-US" baseline="0" dirty="0"/>
              <a:t> the AAA Communication Protocol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422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3.4.1.1 Steps for Configuring Server-Based AAA Authentication with CLI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4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3.4.1.2 Configuring the</a:t>
            </a:r>
            <a:r>
              <a:rPr lang="en-US" baseline="0" dirty="0"/>
              <a:t> CLI for TACACS+ Servers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07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3.4.1.3 Configuring the CLI for RADIUS Servers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46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3.4.1.4 Configure Authentication to Use the AAA Server</a:t>
            </a:r>
          </a:p>
          <a:p>
            <a:r>
              <a:rPr lang="en-US" dirty="0"/>
              <a:t>Syntax Checker - Configure Server-Based AAA 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17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3.4.2.1 Monitoring Authentication Traffic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215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3.4.2.2 Debugging TACACS+ and RADIUS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74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3.4.2.2 Debugging TACACS+</a:t>
            </a:r>
            <a:r>
              <a:rPr lang="en-US" baseline="0" dirty="0"/>
              <a:t> and RADIUS (Cont.)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3.4.2.3</a:t>
            </a:r>
            <a:r>
              <a:rPr lang="en-US" baseline="0" dirty="0"/>
              <a:t> Video Demonstration: Configure a Cisco Router to Access a AAA RADIUS Server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68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3.5.1.1 Introduction to Server-Based AAA Authorization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380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3.5.1.2 AAA Authorization</a:t>
            </a:r>
            <a:r>
              <a:rPr lang="en-US" baseline="0" dirty="0"/>
              <a:t> Configuration with CLI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531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3.5.2.1 Introduction to Server-Based AAA Accounting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035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3.5.2.2 AAA Accounting Configuration with CLI</a:t>
            </a:r>
          </a:p>
          <a:p>
            <a:r>
              <a:rPr lang="en-US" dirty="0"/>
              <a:t>Syntax</a:t>
            </a:r>
            <a:r>
              <a:rPr lang="en-US" baseline="0" dirty="0"/>
              <a:t> Checker - Configure AAA Accounting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315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3.5.3.1 Security Using 802.1X Port-Based 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065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3.5.3.2 802.1X Port Authorization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966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3.5.3.3 Configuring 802.1X</a:t>
            </a:r>
          </a:p>
          <a:p>
            <a:r>
              <a:rPr lang="en-US" dirty="0"/>
              <a:t>Syntax Checker - Configure 802.1X Port-Authentication on a 2960 Switch</a:t>
            </a:r>
          </a:p>
          <a:p>
            <a:r>
              <a:rPr lang="en-US" dirty="0"/>
              <a:t>3.6.1.1 Packet Tracer - Configure Authentication on Cisco Routers</a:t>
            </a:r>
          </a:p>
          <a:p>
            <a:r>
              <a:rPr lang="en-US" dirty="0"/>
              <a:t>3.6.1.2 Lab - Securing Administrative</a:t>
            </a:r>
            <a:r>
              <a:rPr lang="en-US" baseline="0" dirty="0"/>
              <a:t> Access Using AAA and RADIUS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68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3" y="324161"/>
            <a:ext cx="8588861" cy="6286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008126"/>
            <a:ext cx="8577072" cy="372389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0270317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393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919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157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001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183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2681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617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14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613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5009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2402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1684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8227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600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7153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6742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4935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8873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3011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0965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120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49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2E76D-59F5-4847-9801-37181729402E}" type="datetimeFigureOut">
              <a:rPr lang="pt-PT" smtClean="0"/>
              <a:pPr/>
              <a:t>25/11/2018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8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78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25/11/2018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386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2417117"/>
            <a:ext cx="502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000" b="1" dirty="0">
                <a:solidFill>
                  <a:schemeClr val="bg1"/>
                </a:solidFill>
              </a:rPr>
              <a:t>Segurança </a:t>
            </a:r>
            <a:r>
              <a:rPr lang="pt-PT" sz="3000" b="1" dirty="0" err="1">
                <a:solidFill>
                  <a:schemeClr val="bg1"/>
                </a:solidFill>
              </a:rPr>
              <a:t>Informatica</a:t>
            </a:r>
            <a:r>
              <a:rPr lang="pt-PT" sz="3000" b="1">
                <a:solidFill>
                  <a:schemeClr val="bg1"/>
                </a:solidFill>
              </a:rPr>
              <a:t> </a:t>
            </a:r>
            <a:endParaRPr lang="pt-PT" sz="3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1962150"/>
            <a:ext cx="5029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500" dirty="0" err="1">
                <a:solidFill>
                  <a:schemeClr val="bg1"/>
                </a:solidFill>
              </a:rPr>
              <a:t>CTeSP</a:t>
            </a:r>
            <a:r>
              <a:rPr lang="pt-PT" sz="1500">
                <a:solidFill>
                  <a:schemeClr val="bg1"/>
                </a:solidFill>
              </a:rPr>
              <a:t> Tecnologias e Programação de Sistemas de Informação</a:t>
            </a:r>
            <a:endParaRPr lang="pt-PT" sz="15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400" y="3943350"/>
            <a:ext cx="5029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500" dirty="0">
                <a:solidFill>
                  <a:schemeClr val="bg1"/>
                </a:solidFill>
              </a:rPr>
              <a:t>Filipe André Martins de Freitas</a:t>
            </a:r>
          </a:p>
        </p:txBody>
      </p:sp>
    </p:spTree>
    <p:extLst>
      <p:ext uri="{BB962C8B-B14F-4D97-AF65-F5344CB8AC3E}">
        <p14:creationId xmlns:p14="http://schemas.microsoft.com/office/powerpoint/2010/main" val="181515704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Authentication without AAA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854674" y="1148791"/>
            <a:ext cx="3731619" cy="3109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Telnet is Vulnerable to Brute-Force Attacks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674" y="1459725"/>
            <a:ext cx="5434653" cy="3488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075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Authentication without AAA (Cont.)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979840" y="1167370"/>
            <a:ext cx="3731619" cy="3109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SSH and Local Database Method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840" y="1457155"/>
            <a:ext cx="5184322" cy="3490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327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AAA Components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698" y="1195122"/>
            <a:ext cx="5078606" cy="3752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65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Authentication Modes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707776" y="1794807"/>
            <a:ext cx="1456317" cy="4920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Local </a:t>
            </a:r>
            <a:r>
              <a:rPr lang="en-US" sz="1350" dirty="0"/>
              <a:t>AAA</a:t>
            </a:r>
            <a:br>
              <a:rPr lang="en-US" sz="1500" dirty="0"/>
            </a:br>
            <a:r>
              <a:rPr lang="en-US" sz="1500" dirty="0"/>
              <a:t>Authentication</a:t>
            </a:r>
            <a:endParaRPr lang="en-US" sz="135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639" y="1193156"/>
            <a:ext cx="3631607" cy="1695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842" y="3029088"/>
            <a:ext cx="3599201" cy="1718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707776" y="3955280"/>
            <a:ext cx="1792301" cy="4886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Server-Based</a:t>
            </a:r>
            <a:br>
              <a:rPr lang="en-US" sz="1500" dirty="0"/>
            </a:br>
            <a:r>
              <a:rPr lang="en-US" sz="1500" dirty="0"/>
              <a:t>AAA Authentication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91100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Authorization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768079" y="1160107"/>
            <a:ext cx="2714625" cy="3224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AAA </a:t>
            </a:r>
            <a:r>
              <a:rPr lang="en-US" sz="1350" dirty="0"/>
              <a:t>Authorization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079" y="1476534"/>
            <a:ext cx="5607844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302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Accounting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755576" y="1491630"/>
            <a:ext cx="8050096" cy="3240390"/>
          </a:xfrm>
        </p:spPr>
        <p:txBody>
          <a:bodyPr/>
          <a:lstStyle/>
          <a:p>
            <a:pPr marL="0" indent="0">
              <a:buNone/>
            </a:pPr>
            <a:r>
              <a:rPr lang="en-US" sz="1350" dirty="0"/>
              <a:t>Types of accounting information:</a:t>
            </a:r>
          </a:p>
          <a:p>
            <a:r>
              <a:rPr lang="en-US" sz="1350" dirty="0"/>
              <a:t>Network</a:t>
            </a:r>
          </a:p>
          <a:p>
            <a:r>
              <a:rPr lang="en-US" sz="1350" dirty="0"/>
              <a:t>Connection</a:t>
            </a:r>
          </a:p>
          <a:p>
            <a:r>
              <a:rPr lang="en-US" sz="1350" dirty="0"/>
              <a:t>EXEC</a:t>
            </a:r>
          </a:p>
          <a:p>
            <a:r>
              <a:rPr lang="en-US" sz="1350" dirty="0"/>
              <a:t>System</a:t>
            </a:r>
          </a:p>
          <a:p>
            <a:r>
              <a:rPr lang="en-US" sz="1350" dirty="0"/>
              <a:t>Command</a:t>
            </a:r>
          </a:p>
          <a:p>
            <a:r>
              <a:rPr lang="en-US" sz="1350" dirty="0"/>
              <a:t>Resource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3157711" y="1948170"/>
            <a:ext cx="1531236" cy="2936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AAA Accounting</a:t>
            </a:r>
            <a:endParaRPr lang="en-US" sz="135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711" y="2241814"/>
            <a:ext cx="4393774" cy="2012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285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Authenticating Administrative Access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28600" y="1563638"/>
            <a:ext cx="8577072" cy="316838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1350" dirty="0"/>
              <a:t>Add usernames and passwords to the local router database for users that need administrative access to the router.</a:t>
            </a:r>
          </a:p>
          <a:p>
            <a:pPr>
              <a:buFont typeface="+mj-lt"/>
              <a:buAutoNum type="arabicPeriod"/>
            </a:pPr>
            <a:r>
              <a:rPr lang="en-US" sz="1350" dirty="0"/>
              <a:t>Enable AAA globally on the router.</a:t>
            </a:r>
          </a:p>
          <a:p>
            <a:pPr>
              <a:buFont typeface="+mj-lt"/>
              <a:buAutoNum type="arabicPeriod"/>
            </a:pPr>
            <a:r>
              <a:rPr lang="en-US" sz="1350" dirty="0"/>
              <a:t>Configure AAA parameters on the router.</a:t>
            </a:r>
          </a:p>
          <a:p>
            <a:pPr>
              <a:buFont typeface="+mj-lt"/>
              <a:buAutoNum type="arabicPeriod"/>
            </a:pPr>
            <a:r>
              <a:rPr lang="en-US" sz="1350" dirty="0"/>
              <a:t>Confirm and troubleshoot the AAA configuration.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249" y="2893219"/>
            <a:ext cx="5000625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13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Authentication Methods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60" y="2818624"/>
            <a:ext cx="4159373" cy="212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615" y="1025792"/>
            <a:ext cx="4210611" cy="168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261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Default and Named Methods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2041078" y="1652879"/>
            <a:ext cx="3502190" cy="2936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Example Local AAA Authentication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078" y="1946523"/>
            <a:ext cx="4979194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742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Fine-Tuning the Authentication Configuration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504374" y="4171701"/>
            <a:ext cx="1485201" cy="4873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Show Unique ID of a Session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168" y="1215521"/>
            <a:ext cx="4808172" cy="155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168" y="3059930"/>
            <a:ext cx="4808172" cy="52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130" y="3882697"/>
            <a:ext cx="4793923" cy="106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1459928" y="3090517"/>
            <a:ext cx="1485201" cy="4592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Display Locked Out Users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504375" y="1751577"/>
            <a:ext cx="1440755" cy="4833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Command Syntax</a:t>
            </a:r>
          </a:p>
        </p:txBody>
      </p:sp>
    </p:spTree>
    <p:extLst>
      <p:ext uri="{BB962C8B-B14F-4D97-AF65-F5344CB8AC3E}">
        <p14:creationId xmlns:p14="http://schemas.microsoft.com/office/powerpoint/2010/main" val="893663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Debug Options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2525316" y="1167078"/>
            <a:ext cx="4467155" cy="2936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Debug</a:t>
            </a:r>
            <a:r>
              <a:rPr lang="en-US" sz="1500" dirty="0"/>
              <a:t> Local AAA Authentication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316" y="1460723"/>
            <a:ext cx="4093369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269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Debugging AAA Authentication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794471" y="1268529"/>
            <a:ext cx="3502190" cy="2936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Understanding</a:t>
            </a:r>
            <a:r>
              <a:rPr lang="en-US" sz="1500" dirty="0"/>
              <a:t> Debug Output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470" y="1562174"/>
            <a:ext cx="5657850" cy="2521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181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143000" y="1"/>
            <a:ext cx="6858000" cy="721619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Comparing Local AAA and Server-Based AAA Implementations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489551" y="2665103"/>
            <a:ext cx="2390934" cy="199262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Server-based authentication: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User establishes a connection with the router.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Router prompts the user for a username and password.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Router passes the username and password to the Cisco Secure ACS (server or engine)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The Cisco Secure ACS authenticates the user.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485" y="1223498"/>
            <a:ext cx="2362841" cy="97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485" y="2897170"/>
            <a:ext cx="3904017" cy="1769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489552" y="982569"/>
            <a:ext cx="2390933" cy="14587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/>
              <a:t>Local authentication: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User establishes a connection with the router.</a:t>
            </a:r>
          </a:p>
          <a:p>
            <a:pPr marL="257175" indent="-257175">
              <a:buFont typeface="+mj-lt"/>
              <a:buAutoNum type="arabicPeriod"/>
            </a:pPr>
            <a:r>
              <a:rPr lang="en-US" sz="1050" dirty="0"/>
              <a:t>Router prompts the user for a username and password, authentication the user using a local database.</a:t>
            </a:r>
          </a:p>
        </p:txBody>
      </p:sp>
    </p:spTree>
    <p:extLst>
      <p:ext uri="{BB962C8B-B14F-4D97-AF65-F5344CB8AC3E}">
        <p14:creationId xmlns:p14="http://schemas.microsoft.com/office/powerpoint/2010/main" val="37034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143000" y="7244"/>
            <a:ext cx="6858000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Introducing Cisco Secure Access Control System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103" y="1193656"/>
            <a:ext cx="5217795" cy="368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617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Introducing TACACS+ and RADIUS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194" y="1143000"/>
            <a:ext cx="6043613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866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TACACS+ Authentication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829872" y="1025096"/>
            <a:ext cx="3577590" cy="2864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TACACS+ </a:t>
            </a:r>
            <a:r>
              <a:rPr lang="en-US" sz="1350" dirty="0"/>
              <a:t>Authentication</a:t>
            </a:r>
            <a:r>
              <a:rPr lang="en-US" sz="1500" dirty="0"/>
              <a:t> Process</a:t>
            </a:r>
            <a:endParaRPr lang="en-US" sz="135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872" y="1311501"/>
            <a:ext cx="5484257" cy="34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861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RADIUS Authentication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721644" y="1654465"/>
            <a:ext cx="4046220" cy="2720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RADIUS</a:t>
            </a:r>
            <a:r>
              <a:rPr lang="en-US" sz="1500" dirty="0"/>
              <a:t> Authentication Process</a:t>
            </a:r>
            <a:endParaRPr lang="en-US" sz="135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644" y="1929928"/>
            <a:ext cx="5700713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60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Integration of TACACS+ and ACS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750219" y="1365314"/>
            <a:ext cx="2714625" cy="2491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Cisco Secure ACS</a:t>
            </a:r>
            <a:endParaRPr lang="en-US" sz="135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219" y="1614488"/>
            <a:ext cx="5643563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120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Integration of AAA with Active Directory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181" y="1496616"/>
            <a:ext cx="6243638" cy="215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106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18674"/>
            <a:ext cx="6441646" cy="695701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Steps for Configuring Server-Based AAA Authentication with CLI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115616" y="1779662"/>
            <a:ext cx="7690056" cy="2952358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1800" dirty="0"/>
              <a:t>Enable AAA.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Specify the IP address of the ACS server.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Configure the secret key.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Configure authentication to use either the RADIUS or TACACS+ server.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58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the CLI with TACACS+ Servers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623060" y="1835658"/>
            <a:ext cx="1932416" cy="5692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Server-Based</a:t>
            </a:r>
            <a:r>
              <a:rPr lang="en-US" sz="1500" dirty="0"/>
              <a:t> AAA Reference Topology</a:t>
            </a:r>
            <a:endParaRPr lang="en-US" sz="135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475" y="1057275"/>
            <a:ext cx="4182635" cy="2125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476" y="3400425"/>
            <a:ext cx="36576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623060" y="3744468"/>
            <a:ext cx="1628775" cy="5692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Configure</a:t>
            </a:r>
            <a:r>
              <a:rPr lang="en-US" sz="1500" dirty="0"/>
              <a:t> a AAA TACACS+ Server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6176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Configuring the CLI for RADIUS Servers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828800" y="1346740"/>
            <a:ext cx="3177540" cy="2948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Configure</a:t>
            </a:r>
            <a:r>
              <a:rPr lang="en-US" sz="1500" dirty="0"/>
              <a:t> a AAA RADIUS Server</a:t>
            </a:r>
            <a:endParaRPr lang="en-US" sz="135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41634"/>
            <a:ext cx="5486400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895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143001" y="12959"/>
            <a:ext cx="6613922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Configure Authentication to Use the AAA Server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317902" y="3773117"/>
            <a:ext cx="2114550" cy="5534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Configure</a:t>
            </a:r>
            <a:r>
              <a:rPr lang="en-US" sz="1500" dirty="0"/>
              <a:t> Server-Based AAA Authentication</a:t>
            </a:r>
            <a:endParaRPr lang="en-US" sz="135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451" y="1084518"/>
            <a:ext cx="4146233" cy="2026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452" y="3223656"/>
            <a:ext cx="4308516" cy="165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317902" y="1959295"/>
            <a:ext cx="1588770" cy="2767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Command</a:t>
            </a:r>
            <a:r>
              <a:rPr lang="en-US" sz="1500" dirty="0"/>
              <a:t> Syntax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9637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Monitoring Authentication Traffic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2353866" y="1329595"/>
            <a:ext cx="4509135" cy="2948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Troubleshooting</a:t>
            </a:r>
            <a:r>
              <a:rPr lang="en-US" sz="1500" dirty="0"/>
              <a:t> Server-Based AAA Authentication</a:t>
            </a:r>
            <a:endParaRPr lang="en-US" sz="135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866" y="1624489"/>
            <a:ext cx="4436269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685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Debugging TACACS+ and RADIUS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519" y="1290876"/>
            <a:ext cx="3614738" cy="1407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519" y="3485436"/>
            <a:ext cx="3300413" cy="1007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698107" y="1859375"/>
            <a:ext cx="2103872" cy="2703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Troubleshooting RADIUS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1698107" y="3853910"/>
            <a:ext cx="2452412" cy="2703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Troubleshooting TACACS+</a:t>
            </a:r>
          </a:p>
        </p:txBody>
      </p:sp>
    </p:spTree>
    <p:extLst>
      <p:ext uri="{BB962C8B-B14F-4D97-AF65-F5344CB8AC3E}">
        <p14:creationId xmlns:p14="http://schemas.microsoft.com/office/powerpoint/2010/main" val="380425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Debugging TACACS+ and RADIUS (Cont.)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263015" y="3735475"/>
            <a:ext cx="1834515" cy="5406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AAA Server-Based Authentication Failure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930" y="1074672"/>
            <a:ext cx="4605211" cy="188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3063577"/>
            <a:ext cx="4617720" cy="188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263016" y="1746327"/>
            <a:ext cx="1960784" cy="5406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AAA Server-Based Authentication Success</a:t>
            </a:r>
          </a:p>
        </p:txBody>
      </p:sp>
    </p:spTree>
    <p:extLst>
      <p:ext uri="{BB962C8B-B14F-4D97-AF65-F5344CB8AC3E}">
        <p14:creationId xmlns:p14="http://schemas.microsoft.com/office/powerpoint/2010/main" val="24463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143001" y="12959"/>
            <a:ext cx="6613922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Introduction to Server-Based AAA Authorization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67544" y="1923678"/>
            <a:ext cx="8338128" cy="2808342"/>
          </a:xfrm>
        </p:spPr>
        <p:txBody>
          <a:bodyPr/>
          <a:lstStyle/>
          <a:p>
            <a:pPr marL="0" indent="0">
              <a:buNone/>
            </a:pPr>
            <a:r>
              <a:rPr lang="en-US" sz="1500" dirty="0"/>
              <a:t>Authentication vs. Authorization</a:t>
            </a:r>
          </a:p>
          <a:p>
            <a:pPr marL="385763" indent="-214313"/>
            <a:r>
              <a:rPr lang="en-US" sz="1350" b="1" dirty="0"/>
              <a:t>Authentication</a:t>
            </a:r>
            <a:r>
              <a:rPr lang="en-US" sz="1350" dirty="0"/>
              <a:t> ensures a device or end-user is legitimate</a:t>
            </a:r>
          </a:p>
          <a:p>
            <a:pPr marL="385763" indent="-214313"/>
            <a:r>
              <a:rPr lang="en-US" sz="1350" b="1" dirty="0"/>
              <a:t>Authorization</a:t>
            </a:r>
            <a:r>
              <a:rPr lang="en-US" sz="1350" dirty="0"/>
              <a:t> allows or disallows authenticated users access to certain areas and programs on the network.</a:t>
            </a:r>
          </a:p>
          <a:p>
            <a:pPr marL="171450" indent="0">
              <a:buNone/>
            </a:pPr>
            <a:endParaRPr lang="en-US" sz="1350" dirty="0"/>
          </a:p>
          <a:p>
            <a:pPr marL="17145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500" dirty="0"/>
              <a:t>TACACS+ vs. RADIUS</a:t>
            </a:r>
          </a:p>
          <a:p>
            <a:pPr marL="385763" indent="-214313"/>
            <a:r>
              <a:rPr lang="en-US" sz="1350" b="1" dirty="0"/>
              <a:t>TACACS+ </a:t>
            </a:r>
            <a:r>
              <a:rPr lang="en-US" sz="1350" dirty="0"/>
              <a:t>separates authentication from authorization</a:t>
            </a:r>
          </a:p>
          <a:p>
            <a:pPr marL="385763" indent="-214313"/>
            <a:r>
              <a:rPr lang="en-US" sz="1350" b="1" dirty="0"/>
              <a:t>RADIUS</a:t>
            </a:r>
            <a:r>
              <a:rPr lang="en-US" sz="1350" dirty="0"/>
              <a:t> does </a:t>
            </a:r>
            <a:r>
              <a:rPr lang="en-US" sz="1350" b="1" dirty="0"/>
              <a:t>not</a:t>
            </a:r>
            <a:r>
              <a:rPr lang="en-US" sz="1350" dirty="0"/>
              <a:t> separate authentication from authorization</a:t>
            </a:r>
          </a:p>
        </p:txBody>
      </p:sp>
    </p:spTree>
    <p:extLst>
      <p:ext uri="{BB962C8B-B14F-4D97-AF65-F5344CB8AC3E}">
        <p14:creationId xmlns:p14="http://schemas.microsoft.com/office/powerpoint/2010/main" val="85983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AAA Authorization Configuration with CLI</a:t>
            </a:r>
          </a:p>
        </p:txBody>
      </p:sp>
      <p:sp>
        <p:nvSpPr>
          <p:cNvPr id="3" name="Text Placeholder 6"/>
          <p:cNvSpPr txBox="1">
            <a:spLocks/>
          </p:cNvSpPr>
          <p:nvPr/>
        </p:nvSpPr>
        <p:spPr>
          <a:xfrm>
            <a:off x="1357313" y="4439094"/>
            <a:ext cx="2288857" cy="29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Example AAA Authorization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192" y="1126240"/>
            <a:ext cx="3906917" cy="909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192" y="2233606"/>
            <a:ext cx="3906917" cy="186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619" y="4294124"/>
            <a:ext cx="3906918" cy="581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1357312" y="3034235"/>
            <a:ext cx="2174558" cy="2668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Authorization Method Lists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357312" y="1433868"/>
            <a:ext cx="1523048" cy="2945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Command Syntax</a:t>
            </a:r>
          </a:p>
        </p:txBody>
      </p:sp>
    </p:spTree>
    <p:extLst>
      <p:ext uri="{BB962C8B-B14F-4D97-AF65-F5344CB8AC3E}">
        <p14:creationId xmlns:p14="http://schemas.microsoft.com/office/powerpoint/2010/main" val="386282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Introduction to Server-Based AAA Accounting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760" y="1098932"/>
            <a:ext cx="4998482" cy="3777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965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AAA Accounting Configuration with CLI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85" y="1076366"/>
            <a:ext cx="3429000" cy="117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85" y="2410138"/>
            <a:ext cx="3429000" cy="157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685" y="4122235"/>
            <a:ext cx="3429000" cy="82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1443037" y="4389154"/>
            <a:ext cx="2117408" cy="29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Example AAA Accounting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443037" y="3029088"/>
            <a:ext cx="2037398" cy="3397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Accounting Method Lists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1443037" y="1513645"/>
            <a:ext cx="1511618" cy="3043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Command Syntax</a:t>
            </a:r>
          </a:p>
        </p:txBody>
      </p:sp>
    </p:spTree>
    <p:extLst>
      <p:ext uri="{BB962C8B-B14F-4D97-AF65-F5344CB8AC3E}">
        <p14:creationId xmlns:p14="http://schemas.microsoft.com/office/powerpoint/2010/main" val="388813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143000" y="12959"/>
            <a:ext cx="6858000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Security Using 802.1X Port-Based Authentication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745" y="1128720"/>
            <a:ext cx="3719751" cy="185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105" y="2481452"/>
            <a:ext cx="3440430" cy="253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6"/>
          <p:cNvSpPr txBox="1">
            <a:spLocks/>
          </p:cNvSpPr>
          <p:nvPr/>
        </p:nvSpPr>
        <p:spPr>
          <a:xfrm>
            <a:off x="1568767" y="3604767"/>
            <a:ext cx="2468879" cy="29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802.1X Message Exchange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5314950" y="1590451"/>
            <a:ext cx="2383155" cy="3397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802.1X Roles</a:t>
            </a:r>
          </a:p>
        </p:txBody>
      </p:sp>
    </p:spTree>
    <p:extLst>
      <p:ext uri="{BB962C8B-B14F-4D97-AF65-F5344CB8AC3E}">
        <p14:creationId xmlns:p14="http://schemas.microsoft.com/office/powerpoint/2010/main" val="345853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802.1X Port Authorization State</a:t>
            </a: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874389" y="1150844"/>
            <a:ext cx="3575917" cy="29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/>
              <a:t>Command Syntax for dot1x port-control</a:t>
            </a:r>
            <a:endParaRPr lang="en-US" sz="13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389" y="1442785"/>
            <a:ext cx="5395223" cy="3269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950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 vert="horz" lIns="61722" tIns="34290" rIns="61722" bIns="34290" rtlCol="0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Configuring 802.1X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794" y="1351285"/>
            <a:ext cx="5586413" cy="3164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87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PT" sz="495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pt-PT" sz="4950" dirty="0">
                <a:solidFill>
                  <a:schemeClr val="tx2"/>
                </a:solidFill>
              </a:rPr>
              <a:t>DÚVIDAS ?!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97069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3934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763</Words>
  <Application>Microsoft Office PowerPoint</Application>
  <PresentationFormat>Apresentação no Ecrã (16:9)</PresentationFormat>
  <Paragraphs>178</Paragraphs>
  <Slides>36</Slides>
  <Notes>33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36</vt:i4>
      </vt:variant>
    </vt:vector>
  </HeadingPairs>
  <TitlesOfParts>
    <vt:vector size="41" baseType="lpstr">
      <vt:lpstr>Arial</vt:lpstr>
      <vt:lpstr>Calibri</vt:lpstr>
      <vt:lpstr>Office Theme</vt:lpstr>
      <vt:lpstr>1_Office Theme</vt:lpstr>
      <vt:lpstr>2_Office Theme</vt:lpstr>
      <vt:lpstr>Apresentação do PowerPoint</vt:lpstr>
      <vt:lpstr>Authentication without AAA</vt:lpstr>
      <vt:lpstr>Authentication without AAA (Cont.)</vt:lpstr>
      <vt:lpstr>AAA Components</vt:lpstr>
      <vt:lpstr>Authentication Modes</vt:lpstr>
      <vt:lpstr>Authorization</vt:lpstr>
      <vt:lpstr>Accounting</vt:lpstr>
      <vt:lpstr>Authenticating Administrative Access</vt:lpstr>
      <vt:lpstr>Authentication Methods</vt:lpstr>
      <vt:lpstr>Default and Named Methods</vt:lpstr>
      <vt:lpstr>Fine-Tuning the Authentication Configuration</vt:lpstr>
      <vt:lpstr>Debug Options</vt:lpstr>
      <vt:lpstr>Debugging AAA Authentication</vt:lpstr>
      <vt:lpstr>Comparing Local AAA and Server-Based AAA Implementations</vt:lpstr>
      <vt:lpstr>Introducing Cisco Secure Access Control System</vt:lpstr>
      <vt:lpstr>Introducing TACACS+ and RADIUS</vt:lpstr>
      <vt:lpstr>TACACS+ Authentication</vt:lpstr>
      <vt:lpstr>RADIUS Authentication</vt:lpstr>
      <vt:lpstr>Integration of TACACS+ and ACS</vt:lpstr>
      <vt:lpstr>Integration of AAA with Active Directory</vt:lpstr>
      <vt:lpstr>Steps for Configuring Server-Based AAA Authentication with CLI</vt:lpstr>
      <vt:lpstr>Configuring the CLI with TACACS+ Servers</vt:lpstr>
      <vt:lpstr>Configuring the CLI for RADIUS Servers</vt:lpstr>
      <vt:lpstr>Configure Authentication to Use the AAA Server</vt:lpstr>
      <vt:lpstr>Monitoring Authentication Traffic</vt:lpstr>
      <vt:lpstr>Debugging TACACS+ and RADIUS</vt:lpstr>
      <vt:lpstr>Debugging TACACS+ and RADIUS (Cont.)</vt:lpstr>
      <vt:lpstr>Introduction to Server-Based AAA Authorization</vt:lpstr>
      <vt:lpstr>AAA Authorization Configuration with CLI</vt:lpstr>
      <vt:lpstr>Introduction to Server-Based AAA Accounting</vt:lpstr>
      <vt:lpstr>AAA Accounting Configuration with CLI</vt:lpstr>
      <vt:lpstr>Security Using 802.1X Port-Based Authentication</vt:lpstr>
      <vt:lpstr>802.1X Port Authorization State</vt:lpstr>
      <vt:lpstr>Configuring 802.1X </vt:lpstr>
      <vt:lpstr>Apresentação do PowerPoint</vt:lpstr>
      <vt:lpstr>Apresentação do PowerPoint</vt:lpstr>
    </vt:vector>
  </TitlesOfParts>
  <Company>Universidade da Madeira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Marco Bruno Ferreira Câmara</dc:creator>
  <cp:lastModifiedBy>Filipe André Martins de Freitas</cp:lastModifiedBy>
  <cp:revision>166</cp:revision>
  <dcterms:created xsi:type="dcterms:W3CDTF">2015-11-24T13:06:15Z</dcterms:created>
  <dcterms:modified xsi:type="dcterms:W3CDTF">2018-11-25T12:24:07Z</dcterms:modified>
</cp:coreProperties>
</file>