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41"/>
  </p:notesMasterIdLst>
  <p:sldIdLst>
    <p:sldId id="288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323" r:id="rId18"/>
    <p:sldId id="324" r:id="rId19"/>
    <p:sldId id="325" r:id="rId20"/>
    <p:sldId id="326" r:id="rId21"/>
    <p:sldId id="327" r:id="rId22"/>
    <p:sldId id="328" r:id="rId23"/>
    <p:sldId id="329" r:id="rId24"/>
    <p:sldId id="330" r:id="rId25"/>
    <p:sldId id="331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286" r:id="rId39"/>
    <p:sldId id="289" r:id="rId40"/>
  </p:sldIdLst>
  <p:sldSz cx="9144000" cy="5143500" type="screen16x9"/>
  <p:notesSz cx="6858000" cy="9144000"/>
  <p:defaultTextStyle>
    <a:defPPr>
      <a:defRPr lang="pt-P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95" d="100"/>
          <a:sy n="95" d="100"/>
        </p:scale>
        <p:origin x="453" y="4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41B013-7F01-4A48-9046-7E174229480E}" type="datetimeFigureOut">
              <a:rPr lang="pt-PT" smtClean="0"/>
              <a:t>28/10/2018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B599D-D392-4687-BE3B-24ABEAF7176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650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4.2.1.1 Defining Firewalls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36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4.2.1.2</a:t>
            </a:r>
            <a:r>
              <a:rPr lang="en-US" baseline="0" dirty="0"/>
              <a:t> Benefits and Limitations of </a:t>
            </a:r>
            <a:r>
              <a:rPr lang="en-US" dirty="0"/>
              <a:t>Firewalls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09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4.2.2.1 Firewall Type Descriptions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13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4.2.2.2 Packet Filtering Firewall Benefits and Limitations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41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4.2.2.3 </a:t>
            </a:r>
            <a:r>
              <a:rPr lang="en-US" dirty="0" err="1"/>
              <a:t>Stateful</a:t>
            </a:r>
            <a:r>
              <a:rPr lang="en-US" baseline="0" dirty="0"/>
              <a:t> Firewalls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445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4.2.2.4 </a:t>
            </a:r>
            <a:r>
              <a:rPr lang="en-US" dirty="0" err="1"/>
              <a:t>Stateful</a:t>
            </a:r>
            <a:r>
              <a:rPr lang="en-US" baseline="0" dirty="0"/>
              <a:t> Firewall Benefits and Limitations</a:t>
            </a:r>
          </a:p>
          <a:p>
            <a:r>
              <a:rPr lang="en-US" baseline="0" dirty="0"/>
              <a:t>4.2.2.5 Next Generation Firewalls</a:t>
            </a:r>
          </a:p>
          <a:p>
            <a:r>
              <a:rPr lang="en-US" baseline="0" dirty="0"/>
              <a:t>4.2.2.6 Video Tutorial - Cisco ASA with </a:t>
            </a:r>
            <a:r>
              <a:rPr lang="en-US" baseline="0" dirty="0" err="1"/>
              <a:t>FirePOWER</a:t>
            </a:r>
            <a:r>
              <a:rPr lang="en-US" baseline="0" dirty="0"/>
              <a:t> Services</a:t>
            </a:r>
          </a:p>
          <a:p>
            <a:r>
              <a:rPr lang="en-US" baseline="0" dirty="0"/>
              <a:t>4.2.2.7 Activity - Identify the Type of Firewall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022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4.2.3.1 Introducing Classic Firewall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30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4.2.3.2 Classic Firewall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988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4.2.3.3 Classic Firewall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271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4.2.4.1 Inside and Outside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26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4.2.4.2 Demilitarized Zones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190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4.2.4.3 Zone-Based Policy Firewalls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839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4.2.4.4 Layered Defense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754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4.3.1.1 Benefits of ZPF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778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4.3.1.2 ZPF Design</a:t>
            </a:r>
          </a:p>
          <a:p>
            <a:r>
              <a:rPr lang="en-US" dirty="0"/>
              <a:t>4.3.1.3 Activity - Compare Classic Firewall and ZPF Operation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601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4.3.2.1 ZPF 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678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4.3.2.2 Rules for Transit Traffic</a:t>
            </a:r>
          </a:p>
          <a:p>
            <a:r>
              <a:rPr lang="en-US" dirty="0"/>
              <a:t>4.3.2.3 Rules for Traffic to the Self Zone</a:t>
            </a:r>
          </a:p>
          <a:p>
            <a:r>
              <a:rPr lang="en-US" dirty="0"/>
              <a:t>4.3.2.4 Activity - Rules for Transit Traffic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685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4.3.3.1 Configure ZPF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848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4.3.3.2 Create Zones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8651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4.3.3.3 Identify Traffic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4887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4.3.3.3 </a:t>
            </a:r>
            <a:r>
              <a:rPr lang="en-US"/>
              <a:t>Identify Traffic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22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4.3.3.4 Define an 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230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4.3.3.5 Identify a Zone-Pair and Match to a Policy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308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4.3.3.6 Assign Zones to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07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4.3.3.7 Verify a ZPF Configuration</a:t>
            </a:r>
          </a:p>
          <a:p>
            <a:r>
              <a:rPr lang="en-US" dirty="0"/>
              <a:t>Syntax Checker - Configure</a:t>
            </a:r>
            <a:r>
              <a:rPr lang="en-US" baseline="0" dirty="0"/>
              <a:t> Zone-Based Policy Firewall with CLI</a:t>
            </a:r>
          </a:p>
          <a:p>
            <a:r>
              <a:rPr lang="en-US" baseline="0" dirty="0"/>
              <a:t>4.3.3.8 ZPF Configuration Considerations</a:t>
            </a:r>
          </a:p>
          <a:p>
            <a:r>
              <a:rPr lang="en-US" baseline="0" dirty="0"/>
              <a:t>4.3.3.9 Video Demonstration - ZPFs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72CD79-D36A-4E01-AE1C-064887FE954D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45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lterna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ctrTitle" hasCustomPrompt="1"/>
          </p:nvPr>
        </p:nvSpPr>
        <p:spPr>
          <a:xfrm>
            <a:off x="221394" y="936172"/>
            <a:ext cx="8112125" cy="2180429"/>
          </a:xfrm>
        </p:spPr>
        <p:txBody>
          <a:bodyPr/>
          <a:lstStyle>
            <a:lvl1pPr marL="0" indent="0" algn="l" defTabSz="6858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50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477657296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Seg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3376" y="3522284"/>
            <a:ext cx="8477250" cy="1383655"/>
          </a:xfrm>
          <a:prstGeom prst="rect">
            <a:avLst/>
          </a:prstGeom>
        </p:spPr>
      </p:pic>
      <p:sp>
        <p:nvSpPr>
          <p:cNvPr id="27" name="Rectangle 3"/>
          <p:cNvSpPr>
            <a:spLocks noChangeArrowheads="1"/>
          </p:cNvSpPr>
          <p:nvPr/>
        </p:nvSpPr>
        <p:spPr bwMode="white">
          <a:xfrm>
            <a:off x="0" y="0"/>
            <a:ext cx="9144000" cy="133350"/>
          </a:xfrm>
          <a:prstGeom prst="rect">
            <a:avLst/>
          </a:prstGeom>
          <a:solidFill>
            <a:schemeClr val="bg2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latin typeface="+mj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1393" y="299356"/>
            <a:ext cx="8548802" cy="3101069"/>
          </a:xfrm>
        </p:spPr>
        <p:txBody>
          <a:bodyPr/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050" b="0" kern="1200" spc="0" dirty="0">
                <a:gradFill flip="none" rotWithShape="1">
                  <a:gsLst>
                    <a:gs pos="16000">
                      <a:srgbClr val="6B308D">
                        <a:lumMod val="80000"/>
                        <a:lumOff val="20000"/>
                      </a:srgbClr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latin typeface="+mj-lt"/>
                <a:ea typeface="+mj-ea"/>
                <a:cs typeface="Arial" pitchFamily="34" charset="0"/>
              </a:defRPr>
            </a:lvl1pPr>
          </a:lstStyle>
          <a:p>
            <a:pPr marL="0" lvl="0" indent="0" algn="l" defTabSz="685800" rtl="0" eaLnBrk="1" latinLnBrk="0" hangingPunct="1">
              <a:lnSpc>
                <a:spcPct val="85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</a:pPr>
            <a:r>
              <a:rPr lang="en-US" dirty="0"/>
              <a:t>Segue Title Here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hidden">
          <a:xfrm>
            <a:off x="0" y="0"/>
            <a:ext cx="9144000" cy="133350"/>
          </a:xfrm>
          <a:prstGeom prst="rect">
            <a:avLst/>
          </a:prstGeom>
          <a:solidFill>
            <a:srgbClr val="FFFFFF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latin typeface="+mj-lt"/>
            </a:endParaRPr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ltGray">
          <a:xfrm>
            <a:off x="7763787" y="4938384"/>
            <a:ext cx="398503" cy="131443"/>
          </a:xfrm>
          <a:prstGeom prst="rect">
            <a:avLst/>
          </a:prstGeom>
        </p:spPr>
        <p:txBody>
          <a:bodyPr wrap="none" lIns="61593" tIns="30796" rIns="61593" bIns="30796" anchor="b">
            <a:spAutoFit/>
          </a:bodyPr>
          <a:lstStyle/>
          <a:p>
            <a:pPr marL="0" algn="l" defTabSz="610791" rtl="0" eaLnBrk="1" latinLnBrk="0" hangingPunct="1">
              <a:lnSpc>
                <a:spcPct val="100000"/>
              </a:lnSpc>
            </a:pPr>
            <a:r>
              <a:rPr lang="en-US" sz="45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Cisco Public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251374" y="4939685"/>
            <a:ext cx="3420515" cy="131443"/>
          </a:xfrm>
          <a:prstGeom prst="rect">
            <a:avLst/>
          </a:prstGeom>
        </p:spPr>
        <p:txBody>
          <a:bodyPr wrap="square" lIns="61593" tIns="30796" rIns="61593" bIns="30796" anchor="b" anchorCtr="0">
            <a:spAutoFit/>
          </a:bodyPr>
          <a:lstStyle/>
          <a:p>
            <a:pPr marL="0" algn="l" defTabSz="610791" rtl="0" eaLnBrk="1" latinLnBrk="0" hangingPunct="1">
              <a:lnSpc>
                <a:spcPct val="100000"/>
              </a:lnSpc>
            </a:pPr>
            <a:r>
              <a:rPr lang="en-US" sz="450" kern="1200" dirty="0">
                <a:solidFill>
                  <a:srgbClr val="808080"/>
                </a:solidFill>
                <a:latin typeface="+mj-lt"/>
                <a:ea typeface="+mn-ea"/>
                <a:cs typeface="+mn-cs"/>
              </a:rPr>
              <a:t>© 2013 Cisco and/or its affiliates. All rights reserved.</a:t>
            </a:r>
          </a:p>
        </p:txBody>
      </p:sp>
      <p:sp>
        <p:nvSpPr>
          <p:cNvPr id="12" name="Rectangle 7"/>
          <p:cNvSpPr>
            <a:spLocks noChangeArrowheads="1"/>
          </p:cNvSpPr>
          <p:nvPr userDrawn="1"/>
        </p:nvSpPr>
        <p:spPr bwMode="ltGray">
          <a:xfrm>
            <a:off x="8683047" y="4935306"/>
            <a:ext cx="217363" cy="1314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93" tIns="30796" rIns="61593" bIns="30796" anchor="b">
            <a:spAutoFit/>
          </a:bodyPr>
          <a:lstStyle/>
          <a:p>
            <a:pPr algn="r" defTabSz="610791">
              <a:lnSpc>
                <a:spcPct val="100000"/>
              </a:lnSpc>
            </a:pPr>
            <a:fld id="{DFCF27A5-1A5B-48D3-A060-2758FFBB1ADD}" type="slidenum">
              <a:rPr lang="en-US" sz="450">
                <a:solidFill>
                  <a:srgbClr val="808080"/>
                </a:solidFill>
                <a:latin typeface="+mj-lt"/>
              </a:rPr>
              <a:pPr algn="r" defTabSz="610791">
                <a:lnSpc>
                  <a:spcPct val="100000"/>
                </a:lnSpc>
              </a:pPr>
              <a:t>‹nº›</a:t>
            </a:fld>
            <a:endParaRPr lang="en-US" sz="450" dirty="0">
              <a:solidFill>
                <a:srgbClr val="80808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29151818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9703" y="4121"/>
            <a:ext cx="8588861" cy="6286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Slide Title Goes Here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008126"/>
            <a:ext cx="8577072" cy="3723894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Body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505790"/>
      </p:ext>
    </p:extLst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3936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919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91572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8001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5183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2681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6170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51146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76131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35009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2402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21684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38227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6008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7153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6742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4935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28873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03011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10965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51206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6490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2E76D-59F5-4847-9801-37181729402E}" type="datetimeFigureOut">
              <a:rPr lang="pt-PT" smtClean="0"/>
              <a:pPr/>
              <a:t>28/10/2018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2376D-DD23-1341-9887-282CF172C372}" type="slidenum">
              <a:rPr lang="pt-PT" smtClean="0"/>
              <a:pPr/>
              <a:t>‹nº›</a:t>
            </a:fld>
            <a:endParaRPr lang="pt-P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6" r:id="rId12"/>
    <p:sldLayoutId id="2147483687" r:id="rId13"/>
    <p:sldLayoutId id="2147483688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783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B2E76D-59F5-4847-9801-37181729402E}" type="datetimeFigureOut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28/10/2018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2376D-DD23-1341-9887-282CF172C372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9386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57400" y="2417117"/>
            <a:ext cx="502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3000" b="1">
                <a:solidFill>
                  <a:schemeClr val="bg1"/>
                </a:solidFill>
              </a:rPr>
              <a:t>Segurança Informática</a:t>
            </a:r>
            <a:endParaRPr lang="pt-PT" sz="3000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1962150"/>
            <a:ext cx="5029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500" dirty="0" err="1">
                <a:solidFill>
                  <a:schemeClr val="bg1"/>
                </a:solidFill>
              </a:rPr>
              <a:t>CTeSP</a:t>
            </a:r>
            <a:r>
              <a:rPr lang="pt-PT" sz="1500">
                <a:solidFill>
                  <a:schemeClr val="bg1"/>
                </a:solidFill>
              </a:rPr>
              <a:t> Tecnologias e Programação de Sistemas de Informação</a:t>
            </a:r>
            <a:endParaRPr lang="pt-PT" sz="15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57400" y="3943350"/>
            <a:ext cx="5029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1500" dirty="0">
                <a:solidFill>
                  <a:schemeClr val="bg1"/>
                </a:solidFill>
              </a:rPr>
              <a:t>Filipe André Martins de Freitas</a:t>
            </a:r>
          </a:p>
        </p:txBody>
      </p:sp>
    </p:spTree>
    <p:extLst>
      <p:ext uri="{BB962C8B-B14F-4D97-AF65-F5344CB8AC3E}">
        <p14:creationId xmlns:p14="http://schemas.microsoft.com/office/powerpoint/2010/main" val="181515704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309045" y="1263015"/>
            <a:ext cx="6084094" cy="889722"/>
          </a:xfrm>
        </p:spPr>
        <p:txBody>
          <a:bodyPr/>
          <a:lstStyle/>
          <a:p>
            <a:br>
              <a:rPr lang="en-US" sz="3000" dirty="0"/>
            </a:br>
            <a:r>
              <a:rPr lang="en-US" sz="3000" dirty="0"/>
              <a:t>Firewall Technologies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457325" y="2339721"/>
            <a:ext cx="6432804" cy="16852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Upon completion of this section, you should be able to:</a:t>
            </a:r>
          </a:p>
          <a:p>
            <a:r>
              <a:rPr lang="en-US" sz="1350" dirty="0"/>
              <a:t>Explain how firewalls are used to help secure networks.</a:t>
            </a:r>
          </a:p>
          <a:p>
            <a:r>
              <a:rPr lang="en-US" sz="1350" dirty="0"/>
              <a:t>Describe the various types of firewalls.</a:t>
            </a:r>
          </a:p>
          <a:p>
            <a:r>
              <a:rPr lang="en-US" sz="1350" dirty="0"/>
              <a:t>Configure a classic firewall.</a:t>
            </a:r>
          </a:p>
          <a:p>
            <a:r>
              <a:rPr lang="en-US" sz="1350" dirty="0"/>
              <a:t>Explain design considerations for implementing firewall technologies.</a:t>
            </a:r>
          </a:p>
        </p:txBody>
      </p:sp>
    </p:spTree>
    <p:extLst>
      <p:ext uri="{BB962C8B-B14F-4D97-AF65-F5344CB8AC3E}">
        <p14:creationId xmlns:p14="http://schemas.microsoft.com/office/powerpoint/2010/main" val="404761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100" dirty="0"/>
            </a:br>
            <a:r>
              <a:rPr lang="en-US" sz="2100" dirty="0"/>
              <a:t>Securing Networks with Firewalls</a:t>
            </a:r>
          </a:p>
        </p:txBody>
      </p:sp>
    </p:spTree>
    <p:extLst>
      <p:ext uri="{BB962C8B-B14F-4D97-AF65-F5344CB8AC3E}">
        <p14:creationId xmlns:p14="http://schemas.microsoft.com/office/powerpoint/2010/main" val="173593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Defining Firewalls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9055" y="1019364"/>
            <a:ext cx="3863340" cy="3585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1405890" y="1693115"/>
            <a:ext cx="2463165" cy="223799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None/>
            </a:pPr>
            <a:r>
              <a:rPr lang="en-US" sz="1350" dirty="0"/>
              <a:t>All firewalls:</a:t>
            </a:r>
          </a:p>
          <a:p>
            <a:pPr marL="385763" indent="-214313"/>
            <a:r>
              <a:rPr lang="en-US" sz="1350" dirty="0"/>
              <a:t>Are resistant to attack</a:t>
            </a:r>
          </a:p>
          <a:p>
            <a:pPr marL="385763" indent="-214313"/>
            <a:r>
              <a:rPr lang="en-US" sz="1350" dirty="0"/>
              <a:t>Are the only transit point between networks because all traffic flows through the firewall</a:t>
            </a:r>
          </a:p>
          <a:p>
            <a:pPr marL="385763" indent="-214313"/>
            <a:r>
              <a:rPr lang="en-US" sz="1350" dirty="0"/>
              <a:t>Enforce the access control policy</a:t>
            </a:r>
          </a:p>
        </p:txBody>
      </p:sp>
    </p:spTree>
    <p:extLst>
      <p:ext uri="{BB962C8B-B14F-4D97-AF65-F5344CB8AC3E}">
        <p14:creationId xmlns:p14="http://schemas.microsoft.com/office/powerpoint/2010/main" val="264284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Benefits and Limitations of Firewalls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338" y="1096962"/>
            <a:ext cx="6029325" cy="37790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016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100" dirty="0"/>
            </a:br>
            <a:r>
              <a:rPr lang="en-US" sz="2100" dirty="0"/>
              <a:t>Types of Firewalls</a:t>
            </a:r>
          </a:p>
        </p:txBody>
      </p:sp>
    </p:spTree>
    <p:extLst>
      <p:ext uri="{BB962C8B-B14F-4D97-AF65-F5344CB8AC3E}">
        <p14:creationId xmlns:p14="http://schemas.microsoft.com/office/powerpoint/2010/main" val="1303393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Firewall Type Descriptions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585" y="1286555"/>
            <a:ext cx="2486259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585" y="3377530"/>
            <a:ext cx="2228393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183" y="1286555"/>
            <a:ext cx="257175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9183" y="3377530"/>
            <a:ext cx="2185059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07585" y="1053311"/>
            <a:ext cx="184742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435153"/>
                </a:solidFill>
                <a:latin typeface="+mj-lt"/>
              </a:rPr>
              <a:t>Packet Filtering Firewall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7585" y="3141251"/>
            <a:ext cx="131542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435153"/>
                </a:solidFill>
                <a:latin typeface="+mj-lt"/>
              </a:rPr>
              <a:t>Stateful Firewall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9183" y="1038131"/>
            <a:ext cx="222060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435153"/>
                </a:solidFill>
                <a:latin typeface="+mj-lt"/>
              </a:rPr>
              <a:t>Application Gateway Firewall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9182" y="3140536"/>
            <a:ext cx="10557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rgbClr val="435153"/>
                </a:solidFill>
                <a:latin typeface="+mj-lt"/>
              </a:rPr>
              <a:t>NAT Firewall</a:t>
            </a:r>
          </a:p>
        </p:txBody>
      </p:sp>
    </p:spTree>
    <p:extLst>
      <p:ext uri="{BB962C8B-B14F-4D97-AF65-F5344CB8AC3E}">
        <p14:creationId xmlns:p14="http://schemas.microsoft.com/office/powerpoint/2010/main" val="3864069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Packet Filtering Firewall Benefits &amp; Limitations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63886"/>
            <a:ext cx="4572000" cy="2736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6576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/>
              <a:t>Stateful</a:t>
            </a:r>
            <a:r>
              <a:rPr lang="en-US" sz="2400" dirty="0"/>
              <a:t> Firewalls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220" y="1349111"/>
            <a:ext cx="2157089" cy="1815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403" y="1349111"/>
            <a:ext cx="2793896" cy="1548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8725" y="3484621"/>
            <a:ext cx="4086551" cy="1463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6"/>
          <p:cNvSpPr txBox="1">
            <a:spLocks/>
          </p:cNvSpPr>
          <p:nvPr/>
        </p:nvSpPr>
        <p:spPr>
          <a:xfrm>
            <a:off x="4791403" y="1140842"/>
            <a:ext cx="1135053" cy="2277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State Tables</a:t>
            </a:r>
          </a:p>
        </p:txBody>
      </p:sp>
      <p:sp>
        <p:nvSpPr>
          <p:cNvPr id="8" name="Text Placeholder 6"/>
          <p:cNvSpPr txBox="1">
            <a:spLocks/>
          </p:cNvSpPr>
          <p:nvPr/>
        </p:nvSpPr>
        <p:spPr>
          <a:xfrm>
            <a:off x="1760219" y="1140842"/>
            <a:ext cx="1445897" cy="2277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 err="1"/>
              <a:t>Stateful</a:t>
            </a:r>
            <a:r>
              <a:rPr lang="en-US" sz="1350" dirty="0"/>
              <a:t> Firewalls </a:t>
            </a:r>
          </a:p>
        </p:txBody>
      </p:sp>
      <p:sp>
        <p:nvSpPr>
          <p:cNvPr id="9" name="Text Placeholder 6"/>
          <p:cNvSpPr txBox="1">
            <a:spLocks/>
          </p:cNvSpPr>
          <p:nvPr/>
        </p:nvSpPr>
        <p:spPr>
          <a:xfrm>
            <a:off x="2528725" y="3285881"/>
            <a:ext cx="2180436" cy="22774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 err="1"/>
              <a:t>Stateful</a:t>
            </a:r>
            <a:r>
              <a:rPr lang="en-US" sz="1350" dirty="0"/>
              <a:t> Firewall Operation</a:t>
            </a:r>
          </a:p>
        </p:txBody>
      </p:sp>
    </p:spTree>
    <p:extLst>
      <p:ext uri="{BB962C8B-B14F-4D97-AF65-F5344CB8AC3E}">
        <p14:creationId xmlns:p14="http://schemas.microsoft.com/office/powerpoint/2010/main" val="1339783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/>
              <a:t>Stateful</a:t>
            </a:r>
            <a:r>
              <a:rPr lang="en-US" sz="2400" dirty="0"/>
              <a:t> Firewall Benefits and Limitations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6729" y="1141859"/>
            <a:ext cx="4350544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1"/>
          <p:cNvSpPr txBox="1">
            <a:spLocks/>
          </p:cNvSpPr>
          <p:nvPr/>
        </p:nvSpPr>
        <p:spPr>
          <a:xfrm>
            <a:off x="1315276" y="2318696"/>
            <a:ext cx="6617144" cy="628650"/>
          </a:xfrm>
          <a:prstGeom prst="rect">
            <a:avLst/>
          </a:prstGeom>
        </p:spPr>
        <p:txBody>
          <a:bodyPr vert="horz" lIns="61722" tIns="34290" rIns="61722" bIns="3429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sz="2400" dirty="0"/>
              <a:t>Next Generation Firewalls</a:t>
            </a:r>
          </a:p>
        </p:txBody>
      </p:sp>
      <p:sp>
        <p:nvSpPr>
          <p:cNvPr id="11" name="Text Placeholder 6"/>
          <p:cNvSpPr txBox="1">
            <a:spLocks/>
          </p:cNvSpPr>
          <p:nvPr/>
        </p:nvSpPr>
        <p:spPr>
          <a:xfrm>
            <a:off x="1383030" y="2947346"/>
            <a:ext cx="6040755" cy="17275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763" indent="-214313"/>
            <a:r>
              <a:rPr lang="en-US" sz="1050" dirty="0"/>
              <a:t>Granular identification, visibility, and control of behaviors within applications</a:t>
            </a:r>
          </a:p>
          <a:p>
            <a:pPr marL="385763" indent="-214313"/>
            <a:r>
              <a:rPr lang="en-US" sz="1050" dirty="0"/>
              <a:t>Restricting web and web application use based on the reputation of the site</a:t>
            </a:r>
          </a:p>
          <a:p>
            <a:pPr marL="385763" indent="-214313"/>
            <a:r>
              <a:rPr lang="en-US" sz="1050" dirty="0"/>
              <a:t>Proactive protection against Internet threats</a:t>
            </a:r>
          </a:p>
          <a:p>
            <a:pPr marL="385763" indent="-214313"/>
            <a:r>
              <a:rPr lang="en-US" sz="1050" dirty="0"/>
              <a:t>Enforcement of policies based on the user, device, role, application type, and threat profile</a:t>
            </a:r>
          </a:p>
          <a:p>
            <a:pPr marL="385763" indent="-214313"/>
            <a:r>
              <a:rPr lang="en-US" sz="1050" dirty="0"/>
              <a:t>Performance of NAT, VPN, and SPI</a:t>
            </a:r>
          </a:p>
          <a:p>
            <a:pPr marL="385763" indent="-214313"/>
            <a:r>
              <a:rPr lang="en-US" sz="1050" dirty="0"/>
              <a:t>Use of an IPS</a:t>
            </a:r>
          </a:p>
        </p:txBody>
      </p:sp>
    </p:spTree>
    <p:extLst>
      <p:ext uri="{BB962C8B-B14F-4D97-AF65-F5344CB8AC3E}">
        <p14:creationId xmlns:p14="http://schemas.microsoft.com/office/powerpoint/2010/main" val="419320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100" dirty="0"/>
            </a:br>
            <a:r>
              <a:rPr lang="en-US" sz="2100" dirty="0"/>
              <a:t>Classic Firewall</a:t>
            </a:r>
          </a:p>
        </p:txBody>
      </p:sp>
    </p:spTree>
    <p:extLst>
      <p:ext uri="{BB962C8B-B14F-4D97-AF65-F5344CB8AC3E}">
        <p14:creationId xmlns:p14="http://schemas.microsoft.com/office/powerpoint/2010/main" val="324529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Introducing Classic Firewall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666" y="1435298"/>
            <a:ext cx="5350669" cy="286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44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Classic Firewall Operation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06" y="1273274"/>
            <a:ext cx="6300788" cy="33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545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Classic Firewall Configuration</a:t>
            </a:r>
          </a:p>
        </p:txBody>
      </p:sp>
      <p:sp>
        <p:nvSpPr>
          <p:cNvPr id="14" name="Text Placeholder 6"/>
          <p:cNvSpPr txBox="1">
            <a:spLocks/>
          </p:cNvSpPr>
          <p:nvPr/>
        </p:nvSpPr>
        <p:spPr>
          <a:xfrm>
            <a:off x="3992802" y="1899666"/>
            <a:ext cx="1668780" cy="27774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Inspection Rules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2802" y="2177415"/>
            <a:ext cx="3708876" cy="2561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Placeholder 6"/>
          <p:cNvSpPr txBox="1">
            <a:spLocks/>
          </p:cNvSpPr>
          <p:nvPr/>
        </p:nvSpPr>
        <p:spPr>
          <a:xfrm>
            <a:off x="1280160" y="1091566"/>
            <a:ext cx="2434590" cy="19430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28625" indent="-257175">
              <a:buFont typeface="+mj-lt"/>
              <a:buAutoNum type="arabicPeriod"/>
            </a:pPr>
            <a:r>
              <a:rPr lang="en-US" sz="1350" dirty="0"/>
              <a:t>Choose the internal and external interfaces.</a:t>
            </a:r>
          </a:p>
          <a:p>
            <a:pPr marL="428625" indent="-257175">
              <a:buFont typeface="+mj-lt"/>
              <a:buAutoNum type="arabicPeriod"/>
            </a:pPr>
            <a:r>
              <a:rPr lang="en-US" sz="1350" dirty="0"/>
              <a:t>Configure ACLs for each interface.</a:t>
            </a:r>
          </a:p>
          <a:p>
            <a:pPr marL="428625" indent="-257175">
              <a:buFont typeface="+mj-lt"/>
              <a:buAutoNum type="arabicPeriod"/>
            </a:pPr>
            <a:r>
              <a:rPr lang="en-US" sz="1350" dirty="0"/>
              <a:t>Define inspection rules.</a:t>
            </a:r>
          </a:p>
          <a:p>
            <a:pPr marL="428625" indent="-257175">
              <a:buFont typeface="+mj-lt"/>
              <a:buAutoNum type="arabicPeriod"/>
            </a:pPr>
            <a:r>
              <a:rPr lang="en-US" sz="1350" dirty="0"/>
              <a:t>Apply an inspection rule to an interface.</a:t>
            </a:r>
          </a:p>
        </p:txBody>
      </p:sp>
    </p:spTree>
    <p:extLst>
      <p:ext uri="{BB962C8B-B14F-4D97-AF65-F5344CB8AC3E}">
        <p14:creationId xmlns:p14="http://schemas.microsoft.com/office/powerpoint/2010/main" val="3322274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100" dirty="0"/>
            </a:br>
            <a:r>
              <a:rPr lang="en-US" sz="2100" dirty="0"/>
              <a:t>Firewalls in Network Design</a:t>
            </a:r>
          </a:p>
        </p:txBody>
      </p:sp>
    </p:spTree>
    <p:extLst>
      <p:ext uri="{BB962C8B-B14F-4D97-AF65-F5344CB8AC3E}">
        <p14:creationId xmlns:p14="http://schemas.microsoft.com/office/powerpoint/2010/main" val="199099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Inside and Outside Networks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735" y="1746771"/>
            <a:ext cx="6536531" cy="2193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652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Demilitarized Zones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855" y="1164600"/>
            <a:ext cx="5764292" cy="3783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631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Zone-Based Policy Firewalls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095" y="1164772"/>
            <a:ext cx="5337810" cy="3783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533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Layered Defense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355527" y="1221829"/>
            <a:ext cx="6432947" cy="4086225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Considerations for network defense:</a:t>
            </a:r>
          </a:p>
          <a:p>
            <a:r>
              <a:rPr lang="en-US" sz="1200" dirty="0"/>
              <a:t>Network core security</a:t>
            </a:r>
          </a:p>
          <a:p>
            <a:r>
              <a:rPr lang="en-US" sz="1200" dirty="0"/>
              <a:t>Perimeter security</a:t>
            </a:r>
          </a:p>
          <a:p>
            <a:r>
              <a:rPr lang="en-US" sz="1200" dirty="0"/>
              <a:t>Endpoint security</a:t>
            </a:r>
          </a:p>
          <a:p>
            <a:r>
              <a:rPr lang="en-US" sz="1200" dirty="0"/>
              <a:t>Communications security</a:t>
            </a:r>
          </a:p>
          <a:p>
            <a:pPr marL="0" indent="0">
              <a:buNone/>
            </a:pPr>
            <a:r>
              <a:rPr lang="en-US" sz="1200" dirty="0"/>
              <a:t>Firewall best practices include:</a:t>
            </a:r>
          </a:p>
          <a:p>
            <a:r>
              <a:rPr lang="en-US" sz="1200" dirty="0"/>
              <a:t>Position firewalls at security boundaries.</a:t>
            </a:r>
          </a:p>
          <a:p>
            <a:r>
              <a:rPr lang="en-US" sz="1200" dirty="0"/>
              <a:t>It is unwise to rely exclusively on a firewall for security.</a:t>
            </a:r>
          </a:p>
          <a:p>
            <a:r>
              <a:rPr lang="en-US" sz="1200" dirty="0"/>
              <a:t>Deny all traffic by default. Permit only services that are needed.</a:t>
            </a:r>
          </a:p>
          <a:p>
            <a:r>
              <a:rPr lang="en-US" sz="1200" dirty="0"/>
              <a:t>Ensure that physical access to the firewall is controlled.</a:t>
            </a:r>
          </a:p>
          <a:p>
            <a:r>
              <a:rPr lang="en-US" sz="1200" dirty="0"/>
              <a:t>Monitor firewall logs.</a:t>
            </a:r>
          </a:p>
          <a:p>
            <a:r>
              <a:rPr lang="en-US" sz="1200" dirty="0"/>
              <a:t>Practice change management for firewall configuration changes.</a:t>
            </a:r>
          </a:p>
          <a:p>
            <a:r>
              <a:rPr lang="en-US" sz="1200" dirty="0"/>
              <a:t>Remember that firewalls primarily protect from technical attacks originating from the outside. </a:t>
            </a:r>
          </a:p>
        </p:txBody>
      </p:sp>
    </p:spTree>
    <p:extLst>
      <p:ext uri="{BB962C8B-B14F-4D97-AF65-F5344CB8AC3E}">
        <p14:creationId xmlns:p14="http://schemas.microsoft.com/office/powerpoint/2010/main" val="495166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309045" y="1273629"/>
            <a:ext cx="6084094" cy="879109"/>
          </a:xfrm>
        </p:spPr>
        <p:txBody>
          <a:bodyPr/>
          <a:lstStyle/>
          <a:p>
            <a:br>
              <a:rPr lang="en-US" sz="3000" dirty="0"/>
            </a:br>
            <a:r>
              <a:rPr lang="en-US" sz="3000" dirty="0"/>
              <a:t>Zone-Based Policy Firewalls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457325" y="2339721"/>
            <a:ext cx="6432804" cy="15179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Upon completion of this section, you should be able to:</a:t>
            </a:r>
          </a:p>
          <a:p>
            <a:r>
              <a:rPr lang="en-US" sz="1350" dirty="0"/>
              <a:t>Explain how Zone-Based Policy Firewalls are used to help secure a network.</a:t>
            </a:r>
          </a:p>
          <a:p>
            <a:r>
              <a:rPr lang="en-US" sz="1350" dirty="0"/>
              <a:t>Explain the operation of a Zone-Based Policy Firewall.</a:t>
            </a:r>
          </a:p>
          <a:p>
            <a:r>
              <a:rPr lang="en-US" sz="1350" dirty="0"/>
              <a:t>Configure a Zone-Based Policy Firewall with CLI.</a:t>
            </a:r>
          </a:p>
        </p:txBody>
      </p:sp>
    </p:spTree>
    <p:extLst>
      <p:ext uri="{BB962C8B-B14F-4D97-AF65-F5344CB8AC3E}">
        <p14:creationId xmlns:p14="http://schemas.microsoft.com/office/powerpoint/2010/main" val="70269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100" dirty="0"/>
            </a:br>
            <a:r>
              <a:rPr lang="en-US" sz="2100" dirty="0"/>
              <a:t>Zone-Based Policy Firewall Overview</a:t>
            </a:r>
          </a:p>
        </p:txBody>
      </p:sp>
    </p:spTree>
    <p:extLst>
      <p:ext uri="{BB962C8B-B14F-4D97-AF65-F5344CB8AC3E}">
        <p14:creationId xmlns:p14="http://schemas.microsoft.com/office/powerpoint/2010/main" val="3267644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Benefits of ZPF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23010" y="1294210"/>
            <a:ext cx="2190750" cy="2665809"/>
          </a:xfrm>
          <a:prstGeom prst="rect">
            <a:avLst/>
          </a:prstGeom>
        </p:spPr>
        <p:txBody>
          <a:bodyPr/>
          <a:lstStyle/>
          <a:p>
            <a:r>
              <a:rPr lang="en-US" sz="1350" dirty="0"/>
              <a:t>Not dependent on ACLs</a:t>
            </a:r>
          </a:p>
          <a:p>
            <a:r>
              <a:rPr lang="en-US" sz="1350" dirty="0"/>
              <a:t>Router security posture is to block unless explicitly allowed</a:t>
            </a:r>
          </a:p>
          <a:p>
            <a:r>
              <a:rPr lang="en-US" sz="1350" dirty="0"/>
              <a:t>Policies are easy to read and troubleshoot with C3PL</a:t>
            </a:r>
          </a:p>
          <a:p>
            <a:r>
              <a:rPr lang="en-US" sz="1350" dirty="0"/>
              <a:t>One policy affects any given traffic, instead of needing multiple ACLs and inspection actions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018" y="1411605"/>
            <a:ext cx="4381681" cy="2393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172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ZPF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355598" y="1296128"/>
            <a:ext cx="6432804" cy="3723894"/>
          </a:xfrm>
        </p:spPr>
        <p:txBody>
          <a:bodyPr/>
          <a:lstStyle/>
          <a:p>
            <a:pPr marL="0" indent="0">
              <a:buNone/>
            </a:pPr>
            <a:r>
              <a:rPr lang="en-US" sz="1350" dirty="0"/>
              <a:t>Common designs include:</a:t>
            </a:r>
          </a:p>
          <a:p>
            <a:r>
              <a:rPr lang="en-US" sz="1350" dirty="0"/>
              <a:t>LAN-to-Internet</a:t>
            </a:r>
          </a:p>
          <a:p>
            <a:r>
              <a:rPr lang="en-US" sz="1350" dirty="0"/>
              <a:t>Firewalls between public servers</a:t>
            </a:r>
          </a:p>
          <a:p>
            <a:r>
              <a:rPr lang="en-US" sz="1350" dirty="0"/>
              <a:t>Redundant firewalls</a:t>
            </a:r>
          </a:p>
          <a:p>
            <a:r>
              <a:rPr lang="en-US" sz="1350" dirty="0"/>
              <a:t>Complex firewalls</a:t>
            </a:r>
          </a:p>
          <a:p>
            <a:pPr marL="0" indent="0">
              <a:buNone/>
            </a:pPr>
            <a:r>
              <a:rPr lang="en-US" sz="1350" dirty="0"/>
              <a:t>Design steps:</a:t>
            </a:r>
          </a:p>
          <a:p>
            <a:pPr>
              <a:buFont typeface="+mj-lt"/>
              <a:buAutoNum type="arabicPeriod"/>
            </a:pPr>
            <a:r>
              <a:rPr lang="en-US" sz="1350" dirty="0"/>
              <a:t>Determine the zones</a:t>
            </a:r>
          </a:p>
          <a:p>
            <a:pPr>
              <a:buFont typeface="+mj-lt"/>
              <a:buAutoNum type="arabicPeriod"/>
            </a:pPr>
            <a:r>
              <a:rPr lang="en-US" sz="1350" dirty="0"/>
              <a:t>Establish policies between zones</a:t>
            </a:r>
          </a:p>
          <a:p>
            <a:pPr>
              <a:buFont typeface="+mj-lt"/>
              <a:buAutoNum type="arabicPeriod"/>
            </a:pPr>
            <a:r>
              <a:rPr lang="en-US" sz="1350" dirty="0"/>
              <a:t>Design the physical infrastructure</a:t>
            </a:r>
          </a:p>
          <a:p>
            <a:pPr>
              <a:buFont typeface="+mj-lt"/>
              <a:buAutoNum type="arabicPeriod"/>
            </a:pPr>
            <a:r>
              <a:rPr lang="en-US" sz="1350" dirty="0"/>
              <a:t>Identify subsets within zones and merge traffic requirements</a:t>
            </a:r>
          </a:p>
        </p:txBody>
      </p:sp>
    </p:spTree>
    <p:extLst>
      <p:ext uri="{BB962C8B-B14F-4D97-AF65-F5344CB8AC3E}">
        <p14:creationId xmlns:p14="http://schemas.microsoft.com/office/powerpoint/2010/main" val="386868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100" dirty="0"/>
            </a:br>
            <a:r>
              <a:rPr lang="en-US" sz="2100" dirty="0"/>
              <a:t>ZPF Operation</a:t>
            </a:r>
          </a:p>
        </p:txBody>
      </p:sp>
    </p:spTree>
    <p:extLst>
      <p:ext uri="{BB962C8B-B14F-4D97-AF65-F5344CB8AC3E}">
        <p14:creationId xmlns:p14="http://schemas.microsoft.com/office/powerpoint/2010/main" val="222075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ZPF Actions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28600" y="1656168"/>
            <a:ext cx="8577072" cy="3723894"/>
          </a:xfrm>
        </p:spPr>
        <p:txBody>
          <a:bodyPr/>
          <a:lstStyle/>
          <a:p>
            <a:r>
              <a:rPr lang="en-US" sz="1350" b="1" dirty="0"/>
              <a:t>Inspect</a:t>
            </a:r>
            <a:r>
              <a:rPr lang="en-US" sz="1350" dirty="0"/>
              <a:t> - Configures Cisco IOS </a:t>
            </a:r>
            <a:r>
              <a:rPr lang="en-US" sz="1350" dirty="0" err="1"/>
              <a:t>stateful</a:t>
            </a:r>
            <a:r>
              <a:rPr lang="en-US" sz="1350" dirty="0"/>
              <a:t> packet inspections.</a:t>
            </a:r>
          </a:p>
          <a:p>
            <a:r>
              <a:rPr lang="en-US" sz="1350" b="1" dirty="0"/>
              <a:t>Drop</a:t>
            </a:r>
            <a:r>
              <a:rPr lang="en-US" sz="1350" dirty="0"/>
              <a:t> - Analogous to a deny statement in an ACL. A log option is available to log the rejected packets.</a:t>
            </a:r>
          </a:p>
          <a:p>
            <a:r>
              <a:rPr lang="en-US" sz="1350" b="1" dirty="0"/>
              <a:t>Pass</a:t>
            </a:r>
            <a:r>
              <a:rPr lang="en-US" sz="1350" dirty="0"/>
              <a:t> - Analogous to a permit statement in an ACL. The pass action does not track the state of connections or sessions within the traffic.</a:t>
            </a:r>
          </a:p>
        </p:txBody>
      </p:sp>
    </p:spTree>
    <p:extLst>
      <p:ext uri="{BB962C8B-B14F-4D97-AF65-F5344CB8AC3E}">
        <p14:creationId xmlns:p14="http://schemas.microsoft.com/office/powerpoint/2010/main" val="164811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Rules for Transit Traffic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273" y="1012067"/>
            <a:ext cx="4783456" cy="1508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1"/>
          <p:cNvSpPr txBox="1">
            <a:spLocks/>
          </p:cNvSpPr>
          <p:nvPr/>
        </p:nvSpPr>
        <p:spPr>
          <a:xfrm>
            <a:off x="1315277" y="2633021"/>
            <a:ext cx="6441646" cy="628650"/>
          </a:xfrm>
          <a:prstGeom prst="rect">
            <a:avLst/>
          </a:prstGeom>
        </p:spPr>
        <p:txBody>
          <a:bodyPr vert="horz" lIns="61722" tIns="34290" rIns="61722" bIns="3429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Rules for Traffic to the Self Zone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491" y="3301541"/>
            <a:ext cx="490701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889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2100" dirty="0"/>
            </a:br>
            <a:r>
              <a:rPr lang="en-US" sz="2100" dirty="0"/>
              <a:t>Configuring a ZPF</a:t>
            </a:r>
          </a:p>
        </p:txBody>
      </p:sp>
    </p:spTree>
    <p:extLst>
      <p:ext uri="{BB962C8B-B14F-4D97-AF65-F5344CB8AC3E}">
        <p14:creationId xmlns:p14="http://schemas.microsoft.com/office/powerpoint/2010/main" val="404623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Configure ZPF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700" y="1069347"/>
            <a:ext cx="5948601" cy="3562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56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Step 1: Create Zones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166" y="1154683"/>
            <a:ext cx="6493669" cy="3793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889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Step 2: Identify Traffic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605914" y="1699646"/>
            <a:ext cx="1903095" cy="552450"/>
          </a:xfrm>
        </p:spPr>
        <p:txBody>
          <a:bodyPr/>
          <a:lstStyle/>
          <a:p>
            <a:pPr marL="0" indent="0">
              <a:buNone/>
            </a:pPr>
            <a:r>
              <a:rPr lang="en-US" sz="1350" dirty="0"/>
              <a:t>Command Syntax for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class-map</a:t>
            </a:r>
            <a:endParaRPr lang="en-US" sz="1350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009" y="1187201"/>
            <a:ext cx="4216550" cy="1577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008" y="3127600"/>
            <a:ext cx="4216550" cy="1676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1"/>
          <p:cNvSpPr txBox="1">
            <a:spLocks/>
          </p:cNvSpPr>
          <p:nvPr/>
        </p:nvSpPr>
        <p:spPr>
          <a:xfrm>
            <a:off x="1594483" y="3629601"/>
            <a:ext cx="1914525" cy="78638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Sub-Configuration Command Syntax for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class-map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09182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Step 2: Identify Traffic (Cont.)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963041" y="1100756"/>
            <a:ext cx="4317206" cy="2581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dirty="0"/>
              <a:t>Example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class-map </a:t>
            </a:r>
            <a:r>
              <a:rPr lang="en-US" sz="1350" dirty="0"/>
              <a:t>Configuration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040" y="1358932"/>
            <a:ext cx="521792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303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Step 3: Define an Action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514475" y="3656960"/>
            <a:ext cx="1931670" cy="572691"/>
          </a:xfrm>
        </p:spPr>
        <p:txBody>
          <a:bodyPr/>
          <a:lstStyle/>
          <a:p>
            <a:pPr marL="0" indent="0">
              <a:buNone/>
            </a:pPr>
            <a:r>
              <a:rPr lang="en-US" sz="1350" dirty="0"/>
              <a:t>Example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policy-map </a:t>
            </a:r>
            <a:r>
              <a:rPr lang="en-US" sz="1350" dirty="0"/>
              <a:t>Configuration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455" y="1102021"/>
            <a:ext cx="4114086" cy="1746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455" y="2938598"/>
            <a:ext cx="4114086" cy="2009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514475" y="1688948"/>
            <a:ext cx="1805940" cy="57273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Command Syntax for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policy-map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8893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143000" y="4121"/>
            <a:ext cx="6858000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Step 4: Identify a Zone-Pair and Match to a Policy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308735" y="3689354"/>
            <a:ext cx="2326005" cy="572691"/>
          </a:xfrm>
        </p:spPr>
        <p:txBody>
          <a:bodyPr/>
          <a:lstStyle/>
          <a:p>
            <a:pPr marL="0" indent="0">
              <a:buNone/>
            </a:pPr>
            <a:r>
              <a:rPr lang="en-US" sz="1350" dirty="0"/>
              <a:t>Example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service-policy </a:t>
            </a:r>
            <a:r>
              <a:rPr lang="en-US" sz="1350" dirty="0"/>
              <a:t>Configuration</a:t>
            </a: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400175" y="1488753"/>
            <a:ext cx="1777365" cy="796616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50" dirty="0"/>
              <a:t>Command Syntax for 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zone-pair </a:t>
            </a:r>
            <a:r>
              <a:rPr lang="en-US" sz="1350" dirty="0"/>
              <a:t>and</a:t>
            </a:r>
            <a:r>
              <a:rPr lang="en-US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service-policy</a:t>
            </a:r>
            <a:endParaRPr lang="en-US" sz="135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6061" y="1138709"/>
            <a:ext cx="4124195" cy="1562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740" y="2980615"/>
            <a:ext cx="4097655" cy="1895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1822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Step 5: Assign Zones to Interfaces</a:t>
            </a: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391" y="1141040"/>
            <a:ext cx="6317219" cy="3806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84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315277" y="142900"/>
            <a:ext cx="6441646" cy="62865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Verify a ZPF Configuration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377315" y="966970"/>
            <a:ext cx="6432804" cy="2180844"/>
          </a:xfrm>
        </p:spPr>
        <p:txBody>
          <a:bodyPr/>
          <a:lstStyle/>
          <a:p>
            <a:pPr marL="0" indent="0">
              <a:buNone/>
            </a:pPr>
            <a:r>
              <a:rPr lang="en-US" sz="1200" dirty="0"/>
              <a:t>Verification commands:</a:t>
            </a:r>
          </a:p>
          <a:p>
            <a:r>
              <a:rPr lang="en-US" sz="1200" dirty="0"/>
              <a:t>show run | begin class-map</a:t>
            </a:r>
          </a:p>
          <a:p>
            <a:r>
              <a:rPr lang="en-US" sz="1200" dirty="0"/>
              <a:t>show policy-map type inspect zone-pair sessions</a:t>
            </a:r>
          </a:p>
          <a:p>
            <a:r>
              <a:rPr lang="en-US" sz="1200" dirty="0"/>
              <a:t>show class-map type inspect</a:t>
            </a:r>
          </a:p>
          <a:p>
            <a:r>
              <a:rPr lang="en-US" sz="1200" dirty="0"/>
              <a:t>show zone security</a:t>
            </a:r>
          </a:p>
          <a:p>
            <a:r>
              <a:rPr lang="en-US" sz="1200" dirty="0"/>
              <a:t>show zone-pair security</a:t>
            </a:r>
          </a:p>
          <a:p>
            <a:r>
              <a:rPr lang="en-US" sz="1200" dirty="0"/>
              <a:t>show policy-map type inspect</a:t>
            </a:r>
          </a:p>
        </p:txBody>
      </p:sp>
      <p:sp>
        <p:nvSpPr>
          <p:cNvPr id="11" name="Title 11"/>
          <p:cNvSpPr txBox="1">
            <a:spLocks/>
          </p:cNvSpPr>
          <p:nvPr/>
        </p:nvSpPr>
        <p:spPr>
          <a:xfrm>
            <a:off x="1315277" y="2364416"/>
            <a:ext cx="6441646" cy="628650"/>
          </a:xfrm>
          <a:prstGeom prst="rect">
            <a:avLst/>
          </a:prstGeom>
        </p:spPr>
        <p:txBody>
          <a:bodyPr vert="horz" lIns="61722" tIns="34290" rIns="61722" bIns="3429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0" lang="en-US" sz="3600" b="0" i="0" u="none" strike="noStrike" kern="1200" cap="none" spc="0" normalizeH="0" baseline="0">
                <a:ln>
                  <a:noFill/>
                </a:ln>
                <a:gradFill flip="none" rotWithShape="1">
                  <a:gsLst>
                    <a:gs pos="16000">
                      <a:schemeClr val="tx2"/>
                    </a:gs>
                    <a:gs pos="100000">
                      <a:srgbClr val="28A7DF"/>
                    </a:gs>
                  </a:gsLst>
                  <a:lin ang="1800000" scaled="0"/>
                  <a:tileRect/>
                </a:gradFill>
                <a:effectLst/>
                <a:uLnTx/>
                <a:uFillTx/>
                <a:latin typeface="+mj-lt"/>
                <a:ea typeface="+mj-ea"/>
                <a:cs typeface="Arial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ZPF Configuration Considerations</a:t>
            </a: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1417320" y="3019806"/>
            <a:ext cx="6432804" cy="1746504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5000"/>
              </a:lnSpc>
              <a:spcBef>
                <a:spcPts val="1440"/>
              </a:spcBef>
              <a:buClr>
                <a:srgbClr val="493B93"/>
              </a:buClr>
              <a:buSzPct val="90000"/>
              <a:buFont typeface="Arial" pitchFamily="34" charset="0"/>
              <a:buChar char="•"/>
              <a:tabLst/>
              <a:defRPr lang="en-US" sz="22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1pPr>
            <a:lvl2pPr marL="406400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Clr>
                <a:schemeClr val="tx2"/>
              </a:buClr>
              <a:buFontTx/>
              <a:buNone/>
              <a:defRPr lang="en-US" sz="18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2pPr>
            <a:lvl3pPr marL="571500" indent="-1588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6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3pPr>
            <a:lvl4pPr marL="688975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 smtClean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4pPr>
            <a:lvl5pPr marL="801688" indent="0" algn="l" defTabSz="914400" rtl="0" eaLnBrk="1" latinLnBrk="0" hangingPunct="1">
              <a:lnSpc>
                <a:spcPct val="95000"/>
              </a:lnSpc>
              <a:spcBef>
                <a:spcPts val="840"/>
              </a:spcBef>
              <a:buFont typeface="Arial" pitchFamily="34" charset="0"/>
              <a:buNone/>
              <a:defRPr lang="en-US" sz="1400" kern="1200" dirty="0">
                <a:solidFill>
                  <a:srgbClr val="435153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/>
              <a:t>No filtering is applied for intra-zone traffic</a:t>
            </a:r>
          </a:p>
          <a:p>
            <a:r>
              <a:rPr lang="en-US" sz="1200" dirty="0"/>
              <a:t>Only one zone is allowed per interface.</a:t>
            </a:r>
          </a:p>
          <a:p>
            <a:r>
              <a:rPr lang="en-US" sz="1200" dirty="0"/>
              <a:t>No Classic Firewall and ZPF configuration on same interface.</a:t>
            </a:r>
          </a:p>
          <a:p>
            <a:r>
              <a:rPr lang="en-US" sz="1200" dirty="0"/>
              <a:t>If only one zone member is assigned, all traffic is dropped.</a:t>
            </a:r>
          </a:p>
          <a:p>
            <a:r>
              <a:rPr lang="en-US" sz="1200" dirty="0"/>
              <a:t>Only explicitly allowed traffic is forwarded between zones.</a:t>
            </a:r>
          </a:p>
          <a:p>
            <a:r>
              <a:rPr lang="en-US" sz="1200" dirty="0"/>
              <a:t>Traffic to the self zone is not filtered.</a:t>
            </a:r>
          </a:p>
        </p:txBody>
      </p:sp>
    </p:spTree>
    <p:extLst>
      <p:ext uri="{BB962C8B-B14F-4D97-AF65-F5344CB8AC3E}">
        <p14:creationId xmlns:p14="http://schemas.microsoft.com/office/powerpoint/2010/main" val="143457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pt-PT" sz="495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pt-PT" sz="4950" dirty="0">
                <a:solidFill>
                  <a:schemeClr val="tx2"/>
                </a:solidFill>
              </a:rPr>
              <a:t>DÚVIDAS ?!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970691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3934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1543</TotalTime>
  <Words>866</Words>
  <Application>Microsoft Office PowerPoint</Application>
  <PresentationFormat>Apresentação no Ecrã (16:9)</PresentationFormat>
  <Paragraphs>182</Paragraphs>
  <Slides>37</Slides>
  <Notes>25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dos diapositivos</vt:lpstr>
      </vt:variant>
      <vt:variant>
        <vt:i4>37</vt:i4>
      </vt:variant>
    </vt:vector>
  </HeadingPairs>
  <TitlesOfParts>
    <vt:vector size="44" baseType="lpstr">
      <vt:lpstr>Arial</vt:lpstr>
      <vt:lpstr>Calibri</vt:lpstr>
      <vt:lpstr>Ciscolight</vt:lpstr>
      <vt:lpstr>Courier New</vt:lpstr>
      <vt:lpstr>Office Theme</vt:lpstr>
      <vt:lpstr>1_Office Theme</vt:lpstr>
      <vt:lpstr>2_Office Theme</vt:lpstr>
      <vt:lpstr>Apresentação do PowerPoint</vt:lpstr>
      <vt:lpstr> Firewall Technologies</vt:lpstr>
      <vt:lpstr> Securing Networks with Firewalls</vt:lpstr>
      <vt:lpstr>Defining Firewalls</vt:lpstr>
      <vt:lpstr>Benefits and Limitations of Firewalls</vt:lpstr>
      <vt:lpstr> Types of Firewalls</vt:lpstr>
      <vt:lpstr>Firewall Type Descriptions</vt:lpstr>
      <vt:lpstr>Packet Filtering Firewall Benefits &amp; Limitations</vt:lpstr>
      <vt:lpstr>Stateful Firewalls</vt:lpstr>
      <vt:lpstr>Stateful Firewall Benefits and Limitations</vt:lpstr>
      <vt:lpstr> Classic Firewall</vt:lpstr>
      <vt:lpstr>Introducing Classic Firewall</vt:lpstr>
      <vt:lpstr>Classic Firewall Operation</vt:lpstr>
      <vt:lpstr>Classic Firewall Configuration</vt:lpstr>
      <vt:lpstr> Firewalls in Network Design</vt:lpstr>
      <vt:lpstr>Inside and Outside Networks</vt:lpstr>
      <vt:lpstr>Demilitarized Zones</vt:lpstr>
      <vt:lpstr>Zone-Based Policy Firewalls</vt:lpstr>
      <vt:lpstr>Layered Defense</vt:lpstr>
      <vt:lpstr> Zone-Based Policy Firewalls</vt:lpstr>
      <vt:lpstr> Zone-Based Policy Firewall Overview</vt:lpstr>
      <vt:lpstr>Benefits of ZPF</vt:lpstr>
      <vt:lpstr>ZPF Design</vt:lpstr>
      <vt:lpstr> ZPF Operation</vt:lpstr>
      <vt:lpstr>ZPF Actions</vt:lpstr>
      <vt:lpstr>Rules for Transit Traffic</vt:lpstr>
      <vt:lpstr> Configuring a ZPF</vt:lpstr>
      <vt:lpstr>Configure ZPF</vt:lpstr>
      <vt:lpstr>Step 1: Create Zones</vt:lpstr>
      <vt:lpstr>Step 2: Identify Traffic</vt:lpstr>
      <vt:lpstr>Step 2: Identify Traffic (Cont.)</vt:lpstr>
      <vt:lpstr>Step 3: Define an Action</vt:lpstr>
      <vt:lpstr>Step 4: Identify a Zone-Pair and Match to a Policy</vt:lpstr>
      <vt:lpstr>Step 5: Assign Zones to Interfaces</vt:lpstr>
      <vt:lpstr>Verify a ZPF Configuration</vt:lpstr>
      <vt:lpstr>Apresentação do PowerPoint</vt:lpstr>
      <vt:lpstr>Apresentação do PowerPoint</vt:lpstr>
    </vt:vector>
  </TitlesOfParts>
  <Company>Universidade da Madeira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Marco Bruno Ferreira Câmara</dc:creator>
  <cp:lastModifiedBy> </cp:lastModifiedBy>
  <cp:revision>160</cp:revision>
  <dcterms:created xsi:type="dcterms:W3CDTF">2015-11-24T13:06:15Z</dcterms:created>
  <dcterms:modified xsi:type="dcterms:W3CDTF">2018-10-28T13:14:39Z</dcterms:modified>
</cp:coreProperties>
</file>