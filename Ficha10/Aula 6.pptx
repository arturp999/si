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69"/>
  </p:notesMasterIdLst>
  <p:sldIdLst>
    <p:sldId id="259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335" r:id="rId50"/>
    <p:sldId id="336" r:id="rId51"/>
    <p:sldId id="337" r:id="rId52"/>
    <p:sldId id="338" r:id="rId53"/>
    <p:sldId id="339" r:id="rId54"/>
    <p:sldId id="340" r:id="rId55"/>
    <p:sldId id="341" r:id="rId56"/>
    <p:sldId id="342" r:id="rId57"/>
    <p:sldId id="343" r:id="rId58"/>
    <p:sldId id="344" r:id="rId59"/>
    <p:sldId id="345" r:id="rId60"/>
    <p:sldId id="346" r:id="rId61"/>
    <p:sldId id="347" r:id="rId62"/>
    <p:sldId id="348" r:id="rId63"/>
    <p:sldId id="349" r:id="rId64"/>
    <p:sldId id="350" r:id="rId65"/>
    <p:sldId id="351" r:id="rId66"/>
    <p:sldId id="352" r:id="rId67"/>
    <p:sldId id="260" r:id="rId6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2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1D70C-5579-4FA3-A216-37FB05A5C833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BD991-0BC2-42A7-8A44-B12B2B9D2B4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918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5.1.1.1 Zero</a:t>
            </a:r>
            <a:r>
              <a:rPr lang="en-US" baseline="0" dirty="0"/>
              <a:t> Day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2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5.1.1.2 Monitor</a:t>
            </a:r>
            <a:r>
              <a:rPr lang="en-US" baseline="0" dirty="0"/>
              <a:t> for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26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5.1.1.3 Detect</a:t>
            </a:r>
            <a:r>
              <a:rPr lang="en-US" baseline="0" dirty="0"/>
              <a:t> and Stop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1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5.1.1.4 Similarities</a:t>
            </a:r>
            <a:r>
              <a:rPr lang="en-US" baseline="0" dirty="0"/>
              <a:t> Between IDS and IPS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35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5.1.1.5 Advantages and Disadvantages of IDS and 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4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5.1.2.1 Host-Based and Network-Based 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71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5.1.2.2 Network</a:t>
            </a:r>
            <a:r>
              <a:rPr lang="en-US" baseline="0" dirty="0"/>
              <a:t>-Based IPS Sensors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19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5.1.2.5 Choose an IPS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31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5.1.2.6</a:t>
            </a:r>
            <a:r>
              <a:rPr lang="en-US" baseline="0" dirty="0"/>
              <a:t> IPS Advantages and Disadvantages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10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5.1.2.7 Modes of Deployment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96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49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5.1.3.1 Port Mirroring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90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5.1.3.2 Cisco SPAN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01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5.1.3.3 Configuring</a:t>
            </a:r>
            <a:r>
              <a:rPr lang="en-US" baseline="0" dirty="0"/>
              <a:t> Cisco SPAN Using Intrusion Detection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88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5.2.1.1 Signature Attributes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67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5.2.1.2 Signature Types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4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5.2.1.3 Signature File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03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5.2.1.4 Signature Micro</a:t>
            </a:r>
            <a:r>
              <a:rPr lang="en-US" baseline="0" dirty="0"/>
              <a:t>-Engines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671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5.2.1.5 Acquire the Signature File</a:t>
            </a:r>
          </a:p>
          <a:p>
            <a:r>
              <a:rPr lang="en-US" dirty="0"/>
              <a:t>5.2.1.6 Activity – Identify IPS Signature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544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5.2.2.1 Signature</a:t>
            </a:r>
            <a:r>
              <a:rPr lang="en-US" baseline="0" dirty="0"/>
              <a:t> Alarm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54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5.2.2.2 Pattern-Based</a:t>
            </a:r>
            <a:r>
              <a:rPr lang="en-US" baseline="0" dirty="0"/>
              <a:t> Detection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247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5.2.2.3 Anomaly-Based</a:t>
            </a:r>
            <a:r>
              <a:rPr lang="en-US" baseline="0" dirty="0"/>
              <a:t> Detection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208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5.2.2.4 Policy-Based and Honey Pot-Based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59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5.2.2.5 Benefits of the</a:t>
            </a:r>
            <a:r>
              <a:rPr lang="en-US" baseline="0" dirty="0"/>
              <a:t> Cisco IOS IPS 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941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5.2.2.6 Alarm Triggering Mechanisms</a:t>
            </a:r>
          </a:p>
          <a:p>
            <a:r>
              <a:rPr lang="en-US" dirty="0"/>
              <a:t>5.2.2.7 Activity – IPS Signature Alarms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182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5.2.3.1</a:t>
            </a:r>
            <a:r>
              <a:rPr lang="en-US" baseline="0" dirty="0"/>
              <a:t> Signature 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939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5.2.3.2</a:t>
            </a:r>
            <a:r>
              <a:rPr lang="en-US" baseline="0" dirty="0"/>
              <a:t> Manage Generated Alerts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062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5.2.3.3</a:t>
            </a:r>
            <a:r>
              <a:rPr lang="en-US" baseline="0" dirty="0"/>
              <a:t> Log Activities for Later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362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5.2.3.4</a:t>
            </a:r>
            <a:r>
              <a:rPr lang="en-US" baseline="0" dirty="0"/>
              <a:t> Deny the Activity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755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5.2.3.5</a:t>
            </a:r>
            <a:r>
              <a:rPr lang="en-US" baseline="0" dirty="0"/>
              <a:t> Reset, Block, and Allow Traffic</a:t>
            </a:r>
          </a:p>
          <a:p>
            <a:r>
              <a:rPr lang="en-US" baseline="0" dirty="0"/>
              <a:t>5.2.3.6 Activity – Identify the IPS Signature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158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5.2.4.1</a:t>
            </a:r>
            <a:r>
              <a:rPr lang="en-US" baseline="0" dirty="0"/>
              <a:t> Monitor Activity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264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5.2.4.2 Monitoring Considerations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057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5.2.4.3 Secure Device Event Exchange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4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5.2.4.4 IPS</a:t>
            </a:r>
            <a:r>
              <a:rPr lang="en-US" baseline="0" dirty="0"/>
              <a:t> Configuration Best 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113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5.2.5.1</a:t>
            </a:r>
            <a:r>
              <a:rPr lang="en-US" baseline="0" dirty="0"/>
              <a:t> Cisco Global Correlation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683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5.2.5.2 Cisco </a:t>
            </a:r>
            <a:r>
              <a:rPr lang="en-US" dirty="0" err="1"/>
              <a:t>SensorBase</a:t>
            </a:r>
            <a:r>
              <a:rPr lang="en-US" dirty="0"/>
              <a:t>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701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5.2.5.3 Cisco Security Intelligence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605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5.2.5.4 Reputations, Blacklists,</a:t>
            </a:r>
            <a:r>
              <a:rPr lang="en-US" baseline="0" dirty="0"/>
              <a:t> and Traffic Filters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5.2.5.5 Reputations, Blacklists,</a:t>
            </a:r>
            <a:r>
              <a:rPr lang="en-US" baseline="0" dirty="0"/>
              <a:t> and Traffic Filters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17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5.2.5.4 Reputations, Blacklists,</a:t>
            </a:r>
            <a:r>
              <a:rPr lang="en-US" baseline="0" dirty="0"/>
              <a:t> and Traffic Filters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5.2.5.5 Reputations, Blacklists,</a:t>
            </a:r>
            <a:r>
              <a:rPr lang="en-US" baseline="0" dirty="0"/>
              <a:t> and Traffic Filters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342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5.3.1.1 Implement</a:t>
            </a:r>
            <a:r>
              <a:rPr lang="en-US" baseline="0" dirty="0"/>
              <a:t> </a:t>
            </a:r>
            <a:r>
              <a:rPr lang="en-US" dirty="0"/>
              <a:t>IOS 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651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5.3.1.2 Download</a:t>
            </a:r>
            <a:r>
              <a:rPr lang="en-US" baseline="0" dirty="0"/>
              <a:t> the IOS IPS Files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5.3.1.3 IPS Crypto Key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5.3.1.4 Enable</a:t>
            </a:r>
            <a:r>
              <a:rPr lang="en-US" baseline="0" dirty="0"/>
              <a:t> IOS IPS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5.3.1.5 Load the IPS Signature Package in RAM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239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5.3.1.3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582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5.3.1.4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449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5.3.1.4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415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5.3.1.5 Load the IPS Signature Package in 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057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5.3.1.5 Load the IPS Signature Package in RAM (Cont.)</a:t>
            </a:r>
          </a:p>
          <a:p>
            <a:r>
              <a:rPr lang="en-US" dirty="0"/>
              <a:t>5.3.1.6 Activity – Implementing 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437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5.3.2.1</a:t>
            </a:r>
            <a:r>
              <a:rPr lang="en-US" baseline="0" dirty="0"/>
              <a:t> Retire and </a:t>
            </a:r>
            <a:r>
              <a:rPr lang="en-US" baseline="0" dirty="0" err="1"/>
              <a:t>Unretire</a:t>
            </a:r>
            <a:r>
              <a:rPr lang="en-US" baseline="0" dirty="0"/>
              <a:t> Signatures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207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5.3.2.2 Change Signature</a:t>
            </a:r>
            <a:r>
              <a:rPr lang="en-US" baseline="0" dirty="0"/>
              <a:t> 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3238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5.3.3.1 Verify IOS 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450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5.3.3.2</a:t>
            </a:r>
            <a:r>
              <a:rPr lang="en-US" baseline="0" dirty="0"/>
              <a:t> Report IPS Alerts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804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5.3.3.3</a:t>
            </a:r>
            <a:r>
              <a:rPr lang="en-US" baseline="0" dirty="0"/>
              <a:t> Enable SDEE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7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do subtítulo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976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132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750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385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583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888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1716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084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43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711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1306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85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157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524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44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331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3203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1460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41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8838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5564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8268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501" y="4696380"/>
            <a:ext cx="11303000" cy="1844873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399142"/>
            <a:ext cx="11398403" cy="4134759"/>
          </a:xfrm>
        </p:spPr>
        <p:txBody>
          <a:bodyPr/>
          <a:lstStyle>
            <a:lvl1pPr algn="l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12192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10351717" y="6584513"/>
            <a:ext cx="532940" cy="175257"/>
          </a:xfrm>
          <a:prstGeom prst="rect">
            <a:avLst/>
          </a:prstGeom>
        </p:spPr>
        <p:txBody>
          <a:bodyPr wrap="none" lIns="82124" tIns="41061" rIns="82124" bIns="41061" anchor="b">
            <a:spAutoFit/>
          </a:bodyPr>
          <a:lstStyle/>
          <a:p>
            <a:pPr marL="0" algn="l" defTabSz="81436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335166" y="6586247"/>
            <a:ext cx="4560687" cy="175257"/>
          </a:xfrm>
          <a:prstGeom prst="rect">
            <a:avLst/>
          </a:prstGeom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6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11577931" y="6580409"/>
            <a:ext cx="289283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6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68">
                <a:lnSpc>
                  <a:spcPct val="100000"/>
                </a:lnSpc>
              </a:pPr>
              <a:t>‹nº›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6495859"/>
      </p:ext>
    </p:extLst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71" y="432215"/>
            <a:ext cx="11451815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344168"/>
            <a:ext cx="11436096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3127616"/>
      </p:ext>
    </p:extLst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95193" y="1248230"/>
            <a:ext cx="10816167" cy="2907239"/>
          </a:xfrm>
        </p:spPr>
        <p:txBody>
          <a:bodyPr/>
          <a:lstStyle>
            <a:lvl1pPr marL="0" indent="0" algn="l" defTabSz="914377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314848699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41C6C-55B3-4828-9232-C80B2CB7BB32}" type="datetimeFigureOut">
              <a:rPr lang="pt-PT" smtClean="0"/>
              <a:t>11/11/2018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9339A-CD4A-4C05-A5CB-A48FF196BE9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7183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FAB2E76D-59F5-4847-9801-37181729402E}" type="datetimeFigureOut">
              <a:rPr lang="pt-PT" smtClean="0">
                <a:solidFill>
                  <a:prstClr val="black">
                    <a:tint val="75000"/>
                  </a:prstClr>
                </a:solidFill>
              </a:rPr>
              <a:pPr defTabSz="609585"/>
              <a:t>11/11/2018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585"/>
            <a:fld id="{EBD2376D-DD23-1341-9887-282CF172C372}" type="slidenum">
              <a:rPr lang="pt-PT" smtClean="0">
                <a:solidFill>
                  <a:prstClr val="black">
                    <a:tint val="75000"/>
                  </a:prstClr>
                </a:solidFill>
              </a:rPr>
              <a:pPr defTabSz="609585"/>
              <a:t>‹nº›</a:t>
            </a:fld>
            <a:endParaRPr lang="pt-PT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27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3222824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pt-PT" sz="4000" b="1" dirty="0">
                <a:solidFill>
                  <a:prstClr val="white"/>
                </a:solidFill>
              </a:rPr>
              <a:t>Segurança Informática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616200"/>
            <a:ext cx="670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pt-PT" sz="2000" dirty="0" err="1">
                <a:solidFill>
                  <a:prstClr val="white"/>
                </a:solidFill>
              </a:rPr>
              <a:t>CTeSP</a:t>
            </a:r>
            <a:r>
              <a:rPr lang="pt-PT" sz="2000" dirty="0">
                <a:solidFill>
                  <a:prstClr val="white"/>
                </a:solidFill>
              </a:rPr>
              <a:t> Redes e Sistemas Informáticos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581128"/>
            <a:ext cx="670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/>
            <a:r>
              <a:rPr lang="pt-PT" sz="2000" dirty="0">
                <a:solidFill>
                  <a:prstClr val="white"/>
                </a:solidFill>
              </a:rPr>
              <a:t>Filipe André Martins de Freitas</a:t>
            </a:r>
          </a:p>
        </p:txBody>
      </p:sp>
    </p:spTree>
    <p:extLst>
      <p:ext uri="{BB962C8B-B14F-4D97-AF65-F5344CB8AC3E}">
        <p14:creationId xmlns:p14="http://schemas.microsoft.com/office/powerpoint/2010/main" val="392671034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IDS and IPS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53358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Zero-Day Attacks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118" y="1725863"/>
            <a:ext cx="7024967" cy="4199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274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Monitor for Attacks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2" y="1663535"/>
            <a:ext cx="4176713" cy="454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1922034" y="1675190"/>
            <a:ext cx="3619500" cy="27787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Advantages of an IDS:</a:t>
            </a:r>
          </a:p>
          <a:p>
            <a:r>
              <a:rPr lang="en-US" sz="1800" dirty="0"/>
              <a:t>Works passively</a:t>
            </a:r>
          </a:p>
          <a:p>
            <a:r>
              <a:rPr lang="en-US" sz="1800" dirty="0"/>
              <a:t>Requires traffic to be mirrored in order to reach it</a:t>
            </a:r>
          </a:p>
          <a:p>
            <a:r>
              <a:rPr lang="en-US" sz="1800" dirty="0"/>
              <a:t>Network traffic does not pass through the IDS unless it is mirrored</a:t>
            </a:r>
          </a:p>
        </p:txBody>
      </p:sp>
    </p:spTree>
    <p:extLst>
      <p:ext uri="{BB962C8B-B14F-4D97-AF65-F5344CB8AC3E}">
        <p14:creationId xmlns:p14="http://schemas.microsoft.com/office/powerpoint/2010/main" val="82642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Detect and Stop Attacks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2164081" y="1723379"/>
            <a:ext cx="3619500" cy="25344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IPS:</a:t>
            </a:r>
          </a:p>
          <a:p>
            <a:r>
              <a:rPr lang="en-US" sz="1800" dirty="0"/>
              <a:t>Implemented in an inline mode</a:t>
            </a:r>
          </a:p>
          <a:p>
            <a:r>
              <a:rPr lang="en-US" sz="1800" dirty="0"/>
              <a:t>Monitors Layer 3 and Layer 4 traffic</a:t>
            </a:r>
          </a:p>
          <a:p>
            <a:r>
              <a:rPr lang="en-US" sz="1800" dirty="0"/>
              <a:t>Can stop single packet attacks from reaching target</a:t>
            </a:r>
          </a:p>
          <a:p>
            <a:r>
              <a:rPr lang="en-US" sz="1800" dirty="0"/>
              <a:t>Responds immediately, not allowing any malicious traffic to pass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256" y="1651662"/>
            <a:ext cx="4100513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7703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Similarities Between IDS and IPS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724" y="1563445"/>
            <a:ext cx="7138555" cy="5129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43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20846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Advantages and Disadvantages of IDS and IPS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975821" y="1529930"/>
            <a:ext cx="3931920" cy="2288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Advantages IDS:</a:t>
            </a:r>
          </a:p>
          <a:p>
            <a:r>
              <a:rPr lang="en-US" sz="1800" dirty="0"/>
              <a:t>No impact on network</a:t>
            </a:r>
          </a:p>
          <a:p>
            <a:r>
              <a:rPr lang="en-US" sz="1800" dirty="0"/>
              <a:t>No network impact if there is a sensor failure</a:t>
            </a:r>
          </a:p>
          <a:p>
            <a:r>
              <a:rPr lang="en-US" sz="1800" dirty="0"/>
              <a:t>No network impact if there is a sensor overload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6207163" y="1529931"/>
            <a:ext cx="3931920" cy="16456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Advantages IPS:</a:t>
            </a:r>
          </a:p>
          <a:p>
            <a:r>
              <a:rPr lang="en-US" sz="1800" dirty="0"/>
              <a:t>Stops trigger packets</a:t>
            </a:r>
          </a:p>
          <a:p>
            <a:r>
              <a:rPr lang="en-US" sz="1800" dirty="0"/>
              <a:t>Can use stream normalization techniques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975821" y="3925023"/>
            <a:ext cx="3931920" cy="2288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Disadvantages IDS:</a:t>
            </a:r>
          </a:p>
          <a:p>
            <a:r>
              <a:rPr lang="en-US" sz="1800" dirty="0"/>
              <a:t>Response action cannot stop trigger</a:t>
            </a:r>
          </a:p>
          <a:p>
            <a:r>
              <a:rPr lang="en-US" sz="1800" dirty="0"/>
              <a:t>Correct tuning required for response actions</a:t>
            </a:r>
          </a:p>
          <a:p>
            <a:r>
              <a:rPr lang="en-US" sz="1800" dirty="0"/>
              <a:t>More vulnerable to network security evasion techniques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6207163" y="3914633"/>
            <a:ext cx="3931920" cy="2288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Disadvantages IPS:</a:t>
            </a:r>
          </a:p>
          <a:p>
            <a:r>
              <a:rPr lang="en-US" sz="1800" dirty="0"/>
              <a:t>Sensor issues might affect network traffic</a:t>
            </a:r>
          </a:p>
          <a:p>
            <a:r>
              <a:rPr lang="en-US" sz="1800" dirty="0"/>
              <a:t>Sensor overloading impacts the network</a:t>
            </a:r>
          </a:p>
          <a:p>
            <a:r>
              <a:rPr lang="en-US" sz="1800" dirty="0"/>
              <a:t>Some impact on network</a:t>
            </a:r>
          </a:p>
        </p:txBody>
      </p:sp>
    </p:spTree>
    <p:extLst>
      <p:ext uri="{BB962C8B-B14F-4D97-AF65-F5344CB8AC3E}">
        <p14:creationId xmlns:p14="http://schemas.microsoft.com/office/powerpoint/2010/main" val="104628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Network-Based IPS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46015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Host-Based and Network-Based IPS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578" y="2051423"/>
            <a:ext cx="8179719" cy="275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836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Network-Based IPS Sensors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278" y="1583039"/>
            <a:ext cx="7785447" cy="463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797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Choose an IPS Solution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2164080" y="1636738"/>
            <a:ext cx="7863840" cy="45765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Factors affecting the IPS sensor selection and deployment:</a:t>
            </a:r>
          </a:p>
          <a:p>
            <a:r>
              <a:rPr lang="en-US" sz="1800" dirty="0"/>
              <a:t>Amount of network traffic</a:t>
            </a:r>
          </a:p>
          <a:p>
            <a:r>
              <a:rPr lang="en-US" sz="1800" dirty="0"/>
              <a:t>Network topology</a:t>
            </a:r>
          </a:p>
          <a:p>
            <a:r>
              <a:rPr lang="en-US" sz="1800" dirty="0"/>
              <a:t>Security budget</a:t>
            </a:r>
          </a:p>
          <a:p>
            <a:r>
              <a:rPr lang="en-US" sz="1800" dirty="0"/>
              <a:t>Available security staff to manage IPS</a:t>
            </a:r>
          </a:p>
        </p:txBody>
      </p:sp>
    </p:spTree>
    <p:extLst>
      <p:ext uri="{BB962C8B-B14F-4D97-AF65-F5344CB8AC3E}">
        <p14:creationId xmlns:p14="http://schemas.microsoft.com/office/powerpoint/2010/main" val="15651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301984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IPS Advantages and Disadvantages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323" y="2579762"/>
            <a:ext cx="8799355" cy="1698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942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Modes of Deployment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2015144" y="4838804"/>
            <a:ext cx="7863840" cy="3938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Inline Mode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2015144" y="1489464"/>
            <a:ext cx="7863840" cy="3938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Promiscuous Mode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763" y="1920091"/>
            <a:ext cx="4792663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893" y="5377525"/>
            <a:ext cx="47244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78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Cisco Switched Port Analyzer</a:t>
            </a:r>
          </a:p>
        </p:txBody>
      </p:sp>
    </p:spTree>
    <p:extLst>
      <p:ext uri="{BB962C8B-B14F-4D97-AF65-F5344CB8AC3E}">
        <p14:creationId xmlns:p14="http://schemas.microsoft.com/office/powerpoint/2010/main" val="251610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Port Mirroring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2015144" y="4792587"/>
            <a:ext cx="2657301" cy="10485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Traffic Sniffing Using a Switch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7467601" y="2313305"/>
            <a:ext cx="2566553" cy="906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Traffic Sniffing Using a Hub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742" y="1596957"/>
            <a:ext cx="5452823" cy="2339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993" y="4132339"/>
            <a:ext cx="5174671" cy="2369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182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Cisco SPAN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747" y="1555331"/>
            <a:ext cx="6238509" cy="485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2098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250029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Configuring Cisco SPAN Using Intrusion Detection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922033" y="1719585"/>
            <a:ext cx="8330331" cy="10890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Cisco SPAN Commands:</a:t>
            </a:r>
          </a:p>
          <a:p>
            <a:r>
              <a:rPr lang="en-US" sz="1800" dirty="0"/>
              <a:t>Monitor session command – used to associate a source port and a destination port with a SPAN session.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847" y="2867529"/>
            <a:ext cx="8324517" cy="948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033" y="3992635"/>
            <a:ext cx="8324519" cy="992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927846" y="5344180"/>
            <a:ext cx="6695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Show monitor command – used to verify the SPAN session.</a:t>
            </a:r>
          </a:p>
        </p:txBody>
      </p:sp>
    </p:spTree>
    <p:extLst>
      <p:ext uri="{BB962C8B-B14F-4D97-AF65-F5344CB8AC3E}">
        <p14:creationId xmlns:p14="http://schemas.microsoft.com/office/powerpoint/2010/main" val="425858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745394" y="2057401"/>
            <a:ext cx="8112125" cy="680748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000" dirty="0"/>
              <a:t>IPS Signatures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943100" y="2921508"/>
            <a:ext cx="8577072" cy="26186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Upon completion of the section, you should be able to:</a:t>
            </a:r>
          </a:p>
          <a:p>
            <a:r>
              <a:rPr lang="en-US" sz="1800" dirty="0"/>
              <a:t>Understand IPS signature characteristics</a:t>
            </a:r>
          </a:p>
          <a:p>
            <a:r>
              <a:rPr lang="en-US" sz="1800" dirty="0"/>
              <a:t>Explain IPS signature alarms</a:t>
            </a:r>
          </a:p>
          <a:p>
            <a:r>
              <a:rPr lang="en-US" sz="1800" dirty="0"/>
              <a:t>Manage and monitor IPS</a:t>
            </a:r>
          </a:p>
          <a:p>
            <a:r>
              <a:rPr lang="en-US" sz="1800" dirty="0"/>
              <a:t>Understand the global correlation of Cisco IPS devices</a:t>
            </a:r>
          </a:p>
        </p:txBody>
      </p:sp>
    </p:spTree>
    <p:extLst>
      <p:ext uri="{BB962C8B-B14F-4D97-AF65-F5344CB8AC3E}">
        <p14:creationId xmlns:p14="http://schemas.microsoft.com/office/powerpoint/2010/main" val="238005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IPS Signature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15856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Signature Attributes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922033" y="1898437"/>
            <a:ext cx="8403067" cy="27787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 signature is a set of rules that an IDS and an IPS use to detect typical intrusion activity.</a:t>
            </a:r>
          </a:p>
          <a:p>
            <a:pPr marL="0" indent="0">
              <a:buNone/>
            </a:pPr>
            <a:r>
              <a:rPr lang="en-US" sz="2000" dirty="0"/>
              <a:t>Signatures have three distinct attributes:</a:t>
            </a:r>
          </a:p>
          <a:p>
            <a:r>
              <a:rPr lang="en-US" sz="1800" dirty="0"/>
              <a:t>Type </a:t>
            </a:r>
          </a:p>
          <a:p>
            <a:r>
              <a:rPr lang="en-US" sz="1800" dirty="0"/>
              <a:t>Trigger (alarm)</a:t>
            </a:r>
          </a:p>
          <a:p>
            <a:r>
              <a:rPr lang="en-US" sz="1800" dirty="0"/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358544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Signature Types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922033" y="2378490"/>
            <a:ext cx="8403067" cy="27787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Signatures are categorized as either:</a:t>
            </a:r>
          </a:p>
          <a:p>
            <a:r>
              <a:rPr lang="en-US" sz="1800" dirty="0"/>
              <a:t>Atomic – this simplest type of signature consists of a single packet, activity, or event that is examined to determine if it matches a configured signature.  If yes, an alarm is triggered and a signature action is performed.</a:t>
            </a:r>
          </a:p>
          <a:p>
            <a:r>
              <a:rPr lang="en-US" sz="1800" dirty="0"/>
              <a:t>Composite – this type of signature identifies a sequence of operations distributed across multiple hosts over an arbitrary period of time.</a:t>
            </a:r>
          </a:p>
        </p:txBody>
      </p:sp>
    </p:spTree>
    <p:extLst>
      <p:ext uri="{BB962C8B-B14F-4D97-AF65-F5344CB8AC3E}">
        <p14:creationId xmlns:p14="http://schemas.microsoft.com/office/powerpoint/2010/main" val="8497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Signature File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922033" y="1442954"/>
            <a:ext cx="8403067" cy="27787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As new threats are identified, new signatures must be created and uploaded to an IPS. </a:t>
            </a:r>
          </a:p>
          <a:p>
            <a:r>
              <a:rPr lang="en-US" sz="2000" dirty="0"/>
              <a:t>A signature file contains a package of network signatures.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538" y="2832304"/>
            <a:ext cx="8188927" cy="366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239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Signature Micro-Engines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1922033" y="2282479"/>
            <a:ext cx="8403067" cy="27787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Cisco IOS defines five micro-engines:</a:t>
            </a:r>
          </a:p>
          <a:p>
            <a:r>
              <a:rPr lang="en-US" sz="1800" dirty="0"/>
              <a:t>Atomic – Signatures that examine simple packets.</a:t>
            </a:r>
          </a:p>
          <a:p>
            <a:r>
              <a:rPr lang="en-US" sz="1800" dirty="0"/>
              <a:t>Service – Signatures that examine the many services that are attacked.</a:t>
            </a:r>
          </a:p>
          <a:p>
            <a:r>
              <a:rPr lang="en-US" sz="1800" dirty="0"/>
              <a:t>String - Signatures that use regular expression-based patterns to detect intrusions.</a:t>
            </a:r>
          </a:p>
          <a:p>
            <a:r>
              <a:rPr lang="en-US" sz="1800" dirty="0"/>
              <a:t>Multi-string – Supports flexible pattern matching and Trend Labs signatures.</a:t>
            </a:r>
          </a:p>
          <a:p>
            <a:r>
              <a:rPr lang="en-US" sz="1800" dirty="0"/>
              <a:t>Other – Internal engine that handles miscellaneous signatures.</a:t>
            </a:r>
          </a:p>
        </p:txBody>
      </p:sp>
    </p:spTree>
    <p:extLst>
      <p:ext uri="{BB962C8B-B14F-4D97-AF65-F5344CB8AC3E}">
        <p14:creationId xmlns:p14="http://schemas.microsoft.com/office/powerpoint/2010/main" val="36853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Download a Signature File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538" y="1872198"/>
            <a:ext cx="8188927" cy="366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114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IPS Signature Alarms</a:t>
            </a:r>
          </a:p>
        </p:txBody>
      </p:sp>
    </p:spTree>
    <p:extLst>
      <p:ext uri="{BB962C8B-B14F-4D97-AF65-F5344CB8AC3E}">
        <p14:creationId xmlns:p14="http://schemas.microsoft.com/office/powerpoint/2010/main" val="36492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Signature Alarm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558" y="1386805"/>
            <a:ext cx="5051233" cy="252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694" y="3979093"/>
            <a:ext cx="5068151" cy="252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524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Pattern-Based Detection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238" y="2062307"/>
            <a:ext cx="8537527" cy="27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4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Anomaly-Based Detection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156" y="2311113"/>
            <a:ext cx="8463688" cy="2235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660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Policy-Based and Honey Pot-Based Detection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65" y="2223367"/>
            <a:ext cx="8323915" cy="245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731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Benefits of the Cisco IOS IPS Solution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922033" y="1419680"/>
            <a:ext cx="3862240" cy="49856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Benefits:</a:t>
            </a:r>
          </a:p>
          <a:p>
            <a:r>
              <a:rPr lang="en-US" sz="1800" dirty="0"/>
              <a:t>It uses underlying routing infrastructure to provide an additional layer of security.</a:t>
            </a:r>
          </a:p>
          <a:p>
            <a:r>
              <a:rPr lang="en-US" sz="1800" dirty="0"/>
              <a:t>It is inline and is supported on a broad range of routing platforms.</a:t>
            </a:r>
          </a:p>
          <a:p>
            <a:r>
              <a:rPr lang="en-US" sz="1800" dirty="0"/>
              <a:t>It provides threat protection at all entry points to the network when used in combination with Cisco IDS, Cisco IOS Firewall, VPN, and NAC solutions</a:t>
            </a:r>
          </a:p>
          <a:p>
            <a:r>
              <a:rPr lang="en-US" sz="1800" dirty="0"/>
              <a:t>The size of the signature database used by the devices can be adapted to the amount of available memory in the router.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551" y="2157232"/>
            <a:ext cx="4273820" cy="2581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512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Alarm Triggering Mechanisms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962165" y="1810004"/>
            <a:ext cx="8260456" cy="49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Understanding Alarm Types: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66" y="2306783"/>
            <a:ext cx="8286217" cy="161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32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IPS Signature Actions</a:t>
            </a:r>
          </a:p>
        </p:txBody>
      </p:sp>
    </p:spTree>
    <p:extLst>
      <p:ext uri="{BB962C8B-B14F-4D97-AF65-F5344CB8AC3E}">
        <p14:creationId xmlns:p14="http://schemas.microsoft.com/office/powerpoint/2010/main" val="40774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Signature Actions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962165" y="1373172"/>
            <a:ext cx="8260456" cy="49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Summary of Action Categories: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755" y="1869949"/>
            <a:ext cx="7500491" cy="4631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52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Manage Generated Alerts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962165" y="1810004"/>
            <a:ext cx="8260456" cy="49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Generating an Alert: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66" y="2306783"/>
            <a:ext cx="834789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963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Log Activities for Later Analysis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962165" y="1810004"/>
            <a:ext cx="8260456" cy="49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Logging the Activity: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66" y="2410114"/>
            <a:ext cx="8430308" cy="2691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608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Deny the Activity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962165" y="1311236"/>
            <a:ext cx="8260456" cy="49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Dropping or Preventing the Activity: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66" y="1808014"/>
            <a:ext cx="8355887" cy="3678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765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Reset, Block, and Allow Traffic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962165" y="1810004"/>
            <a:ext cx="8260456" cy="49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Resetting the Connection and Blocking the Activity: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66" y="2306782"/>
            <a:ext cx="8299940" cy="2296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277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Manage and Monitor IPS</a:t>
            </a:r>
          </a:p>
        </p:txBody>
      </p:sp>
    </p:spTree>
    <p:extLst>
      <p:ext uri="{BB962C8B-B14F-4D97-AF65-F5344CB8AC3E}">
        <p14:creationId xmlns:p14="http://schemas.microsoft.com/office/powerpoint/2010/main" val="19208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Monitor Activity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962165" y="1990789"/>
            <a:ext cx="8260456" cy="2398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IPS Planning and Monitoring Considerations:</a:t>
            </a:r>
          </a:p>
          <a:p>
            <a:r>
              <a:rPr lang="en-US" sz="2000" dirty="0"/>
              <a:t>Management method</a:t>
            </a:r>
          </a:p>
          <a:p>
            <a:r>
              <a:rPr lang="en-US" sz="2000" dirty="0"/>
              <a:t>Event correlation</a:t>
            </a:r>
          </a:p>
          <a:p>
            <a:r>
              <a:rPr lang="en-US" sz="2000" dirty="0"/>
              <a:t>Security staff</a:t>
            </a:r>
          </a:p>
          <a:p>
            <a:r>
              <a:rPr lang="en-US" sz="2000" dirty="0"/>
              <a:t>Incident response plan</a:t>
            </a:r>
          </a:p>
        </p:txBody>
      </p:sp>
    </p:spTree>
    <p:extLst>
      <p:ext uri="{BB962C8B-B14F-4D97-AF65-F5344CB8AC3E}">
        <p14:creationId xmlns:p14="http://schemas.microsoft.com/office/powerpoint/2010/main" val="40350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Monitoring Considerations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272" y="1587346"/>
            <a:ext cx="4885459" cy="4913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21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Secure Device Event Exchange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935" y="1997685"/>
            <a:ext cx="8280132" cy="3639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692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IPS Configuration Best Practices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376" y="1472227"/>
            <a:ext cx="6459248" cy="4933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01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IPS Global Correlation</a:t>
            </a:r>
          </a:p>
        </p:txBody>
      </p:sp>
    </p:spTree>
    <p:extLst>
      <p:ext uri="{BB962C8B-B14F-4D97-AF65-F5344CB8AC3E}">
        <p14:creationId xmlns:p14="http://schemas.microsoft.com/office/powerpoint/2010/main" val="218827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Cisco Global Correlation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922033" y="1994447"/>
            <a:ext cx="8403067" cy="27787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Goals of global correlation:</a:t>
            </a:r>
          </a:p>
          <a:p>
            <a:r>
              <a:rPr lang="en-US" sz="1800" dirty="0"/>
              <a:t>Dealing intelligently with alerts to improve effectiveness</a:t>
            </a:r>
          </a:p>
          <a:p>
            <a:r>
              <a:rPr lang="en-US" sz="1800" dirty="0"/>
              <a:t>Improving protection against known malicious sites</a:t>
            </a:r>
          </a:p>
          <a:p>
            <a:r>
              <a:rPr lang="en-US" sz="1800" dirty="0"/>
              <a:t>Sharing telemetry data with the </a:t>
            </a:r>
            <a:r>
              <a:rPr lang="en-US" sz="1800" dirty="0" err="1"/>
              <a:t>SensorBase</a:t>
            </a:r>
            <a:r>
              <a:rPr lang="en-US" sz="1800" dirty="0"/>
              <a:t> Network to improve visibility of alerts and sensor actions on a global scale</a:t>
            </a:r>
          </a:p>
          <a:p>
            <a:r>
              <a:rPr lang="en-US" sz="1800" dirty="0"/>
              <a:t>Simplifying configuration settings</a:t>
            </a:r>
          </a:p>
          <a:p>
            <a:r>
              <a:rPr lang="en-US" sz="1800" dirty="0"/>
              <a:t>Automatic handling of security information uploads and downloads</a:t>
            </a:r>
          </a:p>
        </p:txBody>
      </p:sp>
    </p:spTree>
    <p:extLst>
      <p:ext uri="{BB962C8B-B14F-4D97-AF65-F5344CB8AC3E}">
        <p14:creationId xmlns:p14="http://schemas.microsoft.com/office/powerpoint/2010/main" val="220273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Cisco </a:t>
            </a:r>
            <a:r>
              <a:rPr lang="en-US" sz="3200" dirty="0" err="1"/>
              <a:t>SensorBase</a:t>
            </a:r>
            <a:r>
              <a:rPr lang="en-US" sz="3200" dirty="0"/>
              <a:t> Network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739" y="1835117"/>
            <a:ext cx="8438525" cy="3994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751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Cisco Security Intelligence Operation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922033" y="1322373"/>
            <a:ext cx="8403067" cy="27787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Network participation gathers the following data:</a:t>
            </a:r>
          </a:p>
          <a:p>
            <a:r>
              <a:rPr lang="en-US" sz="1800" dirty="0"/>
              <a:t>Signature ID</a:t>
            </a:r>
          </a:p>
          <a:p>
            <a:r>
              <a:rPr lang="en-US" sz="1800" dirty="0"/>
              <a:t>Attacker IP address</a:t>
            </a:r>
          </a:p>
          <a:p>
            <a:r>
              <a:rPr lang="en-US" sz="1800" dirty="0"/>
              <a:t>Attacker port</a:t>
            </a:r>
          </a:p>
          <a:p>
            <a:r>
              <a:rPr lang="en-US" sz="1800" dirty="0"/>
              <a:t>Maximum segment size</a:t>
            </a:r>
          </a:p>
          <a:p>
            <a:r>
              <a:rPr lang="en-US" sz="1800" dirty="0"/>
              <a:t>Victim IP address</a:t>
            </a:r>
          </a:p>
          <a:p>
            <a:r>
              <a:rPr lang="en-US" sz="1800" dirty="0"/>
              <a:t>Victim port</a:t>
            </a:r>
          </a:p>
          <a:p>
            <a:r>
              <a:rPr lang="en-US" sz="1800" dirty="0"/>
              <a:t>Signature version</a:t>
            </a:r>
          </a:p>
          <a:p>
            <a:r>
              <a:rPr lang="en-US" sz="1800" dirty="0"/>
              <a:t>TCP options string</a:t>
            </a:r>
          </a:p>
          <a:p>
            <a:r>
              <a:rPr lang="en-US" sz="1800" dirty="0"/>
              <a:t>Reputation score</a:t>
            </a:r>
          </a:p>
          <a:p>
            <a:r>
              <a:rPr lang="en-US" sz="1800" dirty="0"/>
              <a:t>Risk rating</a:t>
            </a:r>
          </a:p>
        </p:txBody>
      </p:sp>
    </p:spTree>
    <p:extLst>
      <p:ext uri="{BB962C8B-B14F-4D97-AF65-F5344CB8AC3E}">
        <p14:creationId xmlns:p14="http://schemas.microsoft.com/office/powerpoint/2010/main" val="121142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Reputations, Blacklists, and Traffic Filters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748" y="1532394"/>
            <a:ext cx="5172507" cy="5064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999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Reputations, Blacklists, and Traffic Filters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827" y="1746306"/>
            <a:ext cx="7640349" cy="4851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311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745394" y="2174124"/>
            <a:ext cx="8112125" cy="696192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000" dirty="0"/>
              <a:t>Implement IPS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943100" y="3119628"/>
            <a:ext cx="8577072" cy="2023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Upon completion of this section, you should be able to:</a:t>
            </a:r>
          </a:p>
          <a:p>
            <a:r>
              <a:rPr lang="en-US" sz="1800" dirty="0"/>
              <a:t>Understand how to configure Cisco IOS IPS with CLI</a:t>
            </a:r>
          </a:p>
          <a:p>
            <a:r>
              <a:rPr lang="en-US" sz="1800" dirty="0"/>
              <a:t>Explain how to verify and monitor IPS</a:t>
            </a:r>
          </a:p>
        </p:txBody>
      </p:sp>
    </p:spTree>
    <p:extLst>
      <p:ext uri="{BB962C8B-B14F-4D97-AF65-F5344CB8AC3E}">
        <p14:creationId xmlns:p14="http://schemas.microsoft.com/office/powerpoint/2010/main" val="91645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Configure Cisco IOS IPS with CLI</a:t>
            </a:r>
          </a:p>
        </p:txBody>
      </p:sp>
    </p:spTree>
    <p:extLst>
      <p:ext uri="{BB962C8B-B14F-4D97-AF65-F5344CB8AC3E}">
        <p14:creationId xmlns:p14="http://schemas.microsoft.com/office/powerpoint/2010/main" val="406108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Implement IOS IPS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2164081" y="1697691"/>
            <a:ext cx="7917180" cy="4995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Step 1. Download the IOS IPS files.</a:t>
            </a:r>
          </a:p>
          <a:p>
            <a:pPr marL="0" indent="0">
              <a:buNone/>
            </a:pPr>
            <a:r>
              <a:rPr lang="en-US" sz="1800" dirty="0"/>
              <a:t>Step 2. Create an IOS IPS configuration directory in Flash.</a:t>
            </a:r>
          </a:p>
          <a:p>
            <a:pPr marL="0" indent="0">
              <a:buNone/>
            </a:pPr>
            <a:r>
              <a:rPr lang="en-US" sz="1800" dirty="0"/>
              <a:t>Step 3. Configure an IOS IPS crypto key.</a:t>
            </a:r>
          </a:p>
          <a:p>
            <a:pPr marL="0" indent="0">
              <a:buNone/>
            </a:pPr>
            <a:r>
              <a:rPr lang="en-US" sz="1800" dirty="0"/>
              <a:t>Step 4. Enable IOS IPS.</a:t>
            </a:r>
          </a:p>
          <a:p>
            <a:pPr marL="0" indent="0">
              <a:buNone/>
            </a:pPr>
            <a:r>
              <a:rPr lang="en-US" sz="1800" dirty="0"/>
              <a:t>Step 5. Load the IOS IPS signature package to the router.</a:t>
            </a:r>
          </a:p>
        </p:txBody>
      </p:sp>
    </p:spTree>
    <p:extLst>
      <p:ext uri="{BB962C8B-B14F-4D97-AF65-F5344CB8AC3E}">
        <p14:creationId xmlns:p14="http://schemas.microsoft.com/office/powerpoint/2010/main" val="31961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Download the IOS IPS Files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342" y="1412777"/>
            <a:ext cx="4708353" cy="2106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300" y="3189625"/>
            <a:ext cx="3864601" cy="2106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603" y="5057101"/>
            <a:ext cx="4411663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678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IPS Crypto Key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721" y="1652323"/>
            <a:ext cx="6013451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412" y="3720475"/>
            <a:ext cx="5183521" cy="2780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67542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IOS IPS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454" y="1295112"/>
            <a:ext cx="4641273" cy="2952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056" y="2721169"/>
            <a:ext cx="4479205" cy="3611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04023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IOS IPS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401475"/>
            <a:ext cx="4567980" cy="2505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411" y="2575996"/>
            <a:ext cx="4738976" cy="3720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7843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the IPS Signature Package in RAM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683" y="1507405"/>
            <a:ext cx="7626636" cy="4664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67984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the IPS Signature Package in RAM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891" y="1511875"/>
            <a:ext cx="8126221" cy="1148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084" y="2784765"/>
            <a:ext cx="5757835" cy="353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49469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Retire and </a:t>
            </a:r>
            <a:r>
              <a:rPr lang="en-US" sz="3200" dirty="0" err="1"/>
              <a:t>Unretire</a:t>
            </a:r>
            <a:r>
              <a:rPr lang="en-US" sz="3200" dirty="0"/>
              <a:t> Signatures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354" y="4267298"/>
            <a:ext cx="5626903" cy="2234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685" y="1764820"/>
            <a:ext cx="5648715" cy="224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11049" y="1296773"/>
            <a:ext cx="3175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Retiring an Individual Signature: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10354" y="3897965"/>
            <a:ext cx="2971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Retiring a Signature Category:</a:t>
            </a:r>
          </a:p>
        </p:txBody>
      </p:sp>
    </p:spTree>
    <p:extLst>
      <p:ext uri="{BB962C8B-B14F-4D97-AF65-F5344CB8AC3E}">
        <p14:creationId xmlns:p14="http://schemas.microsoft.com/office/powerpoint/2010/main" val="75833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Modifying Cisco IOS IPS Signatures</a:t>
            </a:r>
          </a:p>
        </p:txBody>
      </p:sp>
    </p:spTree>
    <p:extLst>
      <p:ext uri="{BB962C8B-B14F-4D97-AF65-F5344CB8AC3E}">
        <p14:creationId xmlns:p14="http://schemas.microsoft.com/office/powerpoint/2010/main" val="269271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Change Signature Actions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876" y="1780709"/>
            <a:ext cx="8438248" cy="4048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654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Verify and Monitor IPS</a:t>
            </a:r>
          </a:p>
        </p:txBody>
      </p:sp>
    </p:spTree>
    <p:extLst>
      <p:ext uri="{BB962C8B-B14F-4D97-AF65-F5344CB8AC3E}">
        <p14:creationId xmlns:p14="http://schemas.microsoft.com/office/powerpoint/2010/main" val="409929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Verify IOS IPS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922033" y="1514394"/>
            <a:ext cx="8403067" cy="27787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Show</a:t>
            </a:r>
            <a:r>
              <a:rPr lang="en-US" sz="2000" dirty="0"/>
              <a:t> commands to verify the IOS IPS configuration:</a:t>
            </a:r>
          </a:p>
          <a:p>
            <a:r>
              <a:rPr lang="en-US" sz="1800" dirty="0"/>
              <a:t>show </a:t>
            </a:r>
            <a:r>
              <a:rPr lang="en-US" sz="1800" dirty="0" err="1"/>
              <a:t>ip</a:t>
            </a:r>
            <a:r>
              <a:rPr lang="en-US" sz="1800" dirty="0"/>
              <a:t> </a:t>
            </a:r>
            <a:r>
              <a:rPr lang="en-US" sz="1800" dirty="0" err="1"/>
              <a:t>ips</a:t>
            </a:r>
            <a:endParaRPr lang="en-US" sz="1800" dirty="0"/>
          </a:p>
          <a:p>
            <a:r>
              <a:rPr lang="en-US" sz="1800" dirty="0"/>
              <a:t>show </a:t>
            </a:r>
            <a:r>
              <a:rPr lang="en-US" sz="1800" dirty="0" err="1"/>
              <a:t>ip</a:t>
            </a:r>
            <a:r>
              <a:rPr lang="en-US" sz="1800" dirty="0"/>
              <a:t> </a:t>
            </a:r>
            <a:r>
              <a:rPr lang="en-US" sz="1800" dirty="0" err="1"/>
              <a:t>ips</a:t>
            </a:r>
            <a:r>
              <a:rPr lang="en-US" sz="1800" dirty="0"/>
              <a:t> all</a:t>
            </a:r>
          </a:p>
          <a:p>
            <a:r>
              <a:rPr lang="en-US" sz="1800" dirty="0"/>
              <a:t>show </a:t>
            </a:r>
            <a:r>
              <a:rPr lang="en-US" sz="1800" dirty="0" err="1"/>
              <a:t>ip</a:t>
            </a:r>
            <a:r>
              <a:rPr lang="en-US" sz="1800" dirty="0"/>
              <a:t> </a:t>
            </a:r>
            <a:r>
              <a:rPr lang="en-US" sz="1800" dirty="0" err="1"/>
              <a:t>ips</a:t>
            </a:r>
            <a:r>
              <a:rPr lang="en-US" sz="1800" dirty="0"/>
              <a:t> configuration</a:t>
            </a:r>
          </a:p>
          <a:p>
            <a:r>
              <a:rPr lang="en-US" sz="1800" dirty="0"/>
              <a:t>show ip </a:t>
            </a:r>
            <a:r>
              <a:rPr lang="en-US" sz="1800" dirty="0" err="1"/>
              <a:t>ips</a:t>
            </a:r>
            <a:r>
              <a:rPr lang="en-US" sz="1800" dirty="0"/>
              <a:t> interfaces</a:t>
            </a:r>
          </a:p>
          <a:p>
            <a:r>
              <a:rPr lang="en-US" sz="1800" dirty="0"/>
              <a:t>show </a:t>
            </a:r>
            <a:r>
              <a:rPr lang="en-US" sz="1800" dirty="0" err="1"/>
              <a:t>ip</a:t>
            </a:r>
            <a:r>
              <a:rPr lang="en-US" sz="1800" dirty="0"/>
              <a:t> </a:t>
            </a:r>
            <a:r>
              <a:rPr lang="en-US" sz="1800" dirty="0" err="1"/>
              <a:t>ips</a:t>
            </a:r>
            <a:r>
              <a:rPr lang="en-US" sz="1800" dirty="0"/>
              <a:t> signatures</a:t>
            </a:r>
          </a:p>
          <a:p>
            <a:r>
              <a:rPr lang="en-US" sz="1800" dirty="0"/>
              <a:t>show </a:t>
            </a:r>
            <a:r>
              <a:rPr lang="en-US" sz="1800" dirty="0" err="1"/>
              <a:t>ip</a:t>
            </a:r>
            <a:r>
              <a:rPr lang="en-US" sz="1800" dirty="0"/>
              <a:t> </a:t>
            </a:r>
            <a:r>
              <a:rPr lang="en-US" sz="1800" dirty="0" err="1"/>
              <a:t>ips</a:t>
            </a:r>
            <a:r>
              <a:rPr lang="en-US" sz="1800" dirty="0"/>
              <a:t> statistics</a:t>
            </a:r>
          </a:p>
          <a:p>
            <a:pPr marL="0" indent="0">
              <a:buNone/>
            </a:pPr>
            <a:r>
              <a:rPr lang="en-US" sz="2000" b="1" dirty="0"/>
              <a:t>Clear </a:t>
            </a:r>
            <a:r>
              <a:rPr lang="en-US" sz="2000" dirty="0"/>
              <a:t>commands to disable IPS:</a:t>
            </a:r>
          </a:p>
          <a:p>
            <a:r>
              <a:rPr lang="en-US" sz="1800" dirty="0"/>
              <a:t>clear </a:t>
            </a:r>
            <a:r>
              <a:rPr lang="en-US" sz="1800" dirty="0" err="1"/>
              <a:t>ip</a:t>
            </a:r>
            <a:r>
              <a:rPr lang="en-US" sz="1800" dirty="0"/>
              <a:t> </a:t>
            </a:r>
            <a:r>
              <a:rPr lang="en-US" sz="1800" dirty="0" err="1"/>
              <a:t>ips</a:t>
            </a:r>
            <a:r>
              <a:rPr lang="en-US" sz="1800" dirty="0"/>
              <a:t> configuration</a:t>
            </a:r>
          </a:p>
          <a:p>
            <a:r>
              <a:rPr lang="en-US" sz="1800" dirty="0"/>
              <a:t>clear </a:t>
            </a:r>
            <a:r>
              <a:rPr lang="en-US" sz="1800" dirty="0" err="1"/>
              <a:t>ip</a:t>
            </a:r>
            <a:r>
              <a:rPr lang="en-US" sz="1800" dirty="0"/>
              <a:t> </a:t>
            </a:r>
            <a:r>
              <a:rPr lang="en-US" sz="1800" dirty="0" err="1"/>
              <a:t>ips</a:t>
            </a:r>
            <a:r>
              <a:rPr lang="en-US" sz="1800" dirty="0"/>
              <a:t> statistics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789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Report IPS Alerts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933" y="2783755"/>
            <a:ext cx="8604137" cy="129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12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753703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Enable SDEE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78" y="1673413"/>
            <a:ext cx="8391447" cy="43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361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PT" sz="66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pt-PT" sz="6600" dirty="0">
                <a:solidFill>
                  <a:schemeClr val="tx2"/>
                </a:solidFill>
              </a:rPr>
              <a:t>DÚVIDAS ?!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970691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23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1267</Words>
  <Application>Microsoft Office PowerPoint</Application>
  <PresentationFormat>Ecrã Panorâmico</PresentationFormat>
  <Paragraphs>290</Paragraphs>
  <Slides>66</Slides>
  <Notes>51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66</vt:i4>
      </vt:variant>
    </vt:vector>
  </HeadingPairs>
  <TitlesOfParts>
    <vt:vector size="72" baseType="lpstr">
      <vt:lpstr>Arial</vt:lpstr>
      <vt:lpstr>Calibri</vt:lpstr>
      <vt:lpstr>Calibri Light</vt:lpstr>
      <vt:lpstr>Ciscolight</vt:lpstr>
      <vt:lpstr>Tema do Office</vt:lpstr>
      <vt:lpstr>Office Theme</vt:lpstr>
      <vt:lpstr>Apresentação do PowerPoint</vt:lpstr>
      <vt:lpstr> IDS and IPS Characteristics</vt:lpstr>
      <vt:lpstr>Zero-Day Attacks</vt:lpstr>
      <vt:lpstr>Monitor for Attacks</vt:lpstr>
      <vt:lpstr>Detect and Stop Attacks</vt:lpstr>
      <vt:lpstr>Similarities Between IDS and IPS</vt:lpstr>
      <vt:lpstr>Advantages and Disadvantages of IDS and IPS</vt:lpstr>
      <vt:lpstr> Network-Based IPS Implementations</vt:lpstr>
      <vt:lpstr>Host-Based and Network-Based IPS</vt:lpstr>
      <vt:lpstr>Network-Based IPS Sensors</vt:lpstr>
      <vt:lpstr>Choose an IPS Solution</vt:lpstr>
      <vt:lpstr>IPS Advantages and Disadvantages</vt:lpstr>
      <vt:lpstr>Modes of Deployment</vt:lpstr>
      <vt:lpstr> Cisco Switched Port Analyzer</vt:lpstr>
      <vt:lpstr>Port Mirroring</vt:lpstr>
      <vt:lpstr>Cisco SPAN</vt:lpstr>
      <vt:lpstr>Configuring Cisco SPAN Using Intrusion Detection</vt:lpstr>
      <vt:lpstr> IPS Signatures</vt:lpstr>
      <vt:lpstr> IPS Signature Characteristics</vt:lpstr>
      <vt:lpstr>Signature Attributes</vt:lpstr>
      <vt:lpstr>Signature Types</vt:lpstr>
      <vt:lpstr>Signature File</vt:lpstr>
      <vt:lpstr>Signature Micro-Engines</vt:lpstr>
      <vt:lpstr>Download a Signature File</vt:lpstr>
      <vt:lpstr> IPS Signature Alarms</vt:lpstr>
      <vt:lpstr>Signature Alarm</vt:lpstr>
      <vt:lpstr>Pattern-Based Detection</vt:lpstr>
      <vt:lpstr>Anomaly-Based Detection</vt:lpstr>
      <vt:lpstr>Policy-Based and Honey Pot-Based Detection</vt:lpstr>
      <vt:lpstr>Benefits of the Cisco IOS IPS Solution</vt:lpstr>
      <vt:lpstr>Alarm Triggering Mechanisms</vt:lpstr>
      <vt:lpstr> IPS Signature Actions</vt:lpstr>
      <vt:lpstr>Signature Actions</vt:lpstr>
      <vt:lpstr>Manage Generated Alerts</vt:lpstr>
      <vt:lpstr>Log Activities for Later Analysis</vt:lpstr>
      <vt:lpstr>Deny the Activity</vt:lpstr>
      <vt:lpstr>Reset, Block, and Allow Traffic</vt:lpstr>
      <vt:lpstr> Manage and Monitor IPS</vt:lpstr>
      <vt:lpstr>Monitor Activity</vt:lpstr>
      <vt:lpstr>Monitoring Considerations</vt:lpstr>
      <vt:lpstr>Secure Device Event Exchange</vt:lpstr>
      <vt:lpstr>IPS Configuration Best Practices</vt:lpstr>
      <vt:lpstr> IPS Global Correlation</vt:lpstr>
      <vt:lpstr>Cisco Global Correlation</vt:lpstr>
      <vt:lpstr>Cisco SensorBase Network</vt:lpstr>
      <vt:lpstr>Cisco Security Intelligence Operation</vt:lpstr>
      <vt:lpstr>Reputations, Blacklists, and Traffic Filters</vt:lpstr>
      <vt:lpstr>Reputations, Blacklists, and Traffic Filters</vt:lpstr>
      <vt:lpstr> Implement IPS</vt:lpstr>
      <vt:lpstr> Configure Cisco IOS IPS with CLI</vt:lpstr>
      <vt:lpstr>Implement IOS IPS</vt:lpstr>
      <vt:lpstr>Download the IOS IPS Files</vt:lpstr>
      <vt:lpstr>IPS Crypto Key</vt:lpstr>
      <vt:lpstr>Enable IOS IPS</vt:lpstr>
      <vt:lpstr>Enable IOS IPS</vt:lpstr>
      <vt:lpstr>Load the IPS Signature Package in RAM</vt:lpstr>
      <vt:lpstr>Load the IPS Signature Package in RAM</vt:lpstr>
      <vt:lpstr>Retire and Unretire Signatures</vt:lpstr>
      <vt:lpstr> Modifying Cisco IOS IPS Signatures</vt:lpstr>
      <vt:lpstr>Change Signature Actions</vt:lpstr>
      <vt:lpstr> Verify and Monitor IPS</vt:lpstr>
      <vt:lpstr>Verify IOS IPS</vt:lpstr>
      <vt:lpstr>Report IPS Alerts</vt:lpstr>
      <vt:lpstr>Enable SDEE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Cátia Gouveia</dc:creator>
  <cp:lastModifiedBy> </cp:lastModifiedBy>
  <cp:revision>4</cp:revision>
  <dcterms:created xsi:type="dcterms:W3CDTF">2017-07-26T09:43:35Z</dcterms:created>
  <dcterms:modified xsi:type="dcterms:W3CDTF">2018-11-11T13:52:30Z</dcterms:modified>
</cp:coreProperties>
</file>